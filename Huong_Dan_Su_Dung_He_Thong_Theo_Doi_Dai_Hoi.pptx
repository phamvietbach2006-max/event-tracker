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65760" cy="685800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97280"/>
            <a:ext cx="7772400" cy="4572000"/>
          </a:xfrm>
          <a:prstGeom prst="rect">
            <a:avLst/>
          </a:prstGeom>
          <a:noFill/>
        </p:spPr>
        <p:txBody>
          <a:bodyPr wrap="square">
            <a:spAutoFit/>
          </a:bodyPr>
          <a:lstStyle/>
          <a:p>
            <a:pPr>
              <a:spcAft>
                <a:spcPts val="600"/>
              </a:spcAft>
              <a:defRPr sz="1300" b="1">
                <a:solidFill>
                  <a:srgbClr val="EF4444"/>
                </a:solidFill>
                <a:latin typeface="Segoe UI"/>
              </a:defRPr>
            </a:pPr>
            <a:r>
              <a:t>ĐOÀN TNCS HỒ CHÍ MINH ĐẠI HỌC BÁCH KHOA HÀ NỘI</a:t>
            </a:r>
          </a:p>
          <a:p>
            <a:pPr>
              <a:spcAft>
                <a:spcPts val="2800"/>
              </a:spcAft>
              <a:defRPr sz="1100" b="1">
                <a:solidFill>
                  <a:srgbClr val="CBD5E1"/>
                </a:solidFill>
                <a:latin typeface="Segoe UI"/>
              </a:defRPr>
            </a:pPr>
            <a:r>
              <a:t>BAN TỔ CHỨC - KIỂM TRA ĐOÀN ĐẠI HỌC</a:t>
            </a:r>
          </a:p>
          <a:p>
            <a:pPr>
              <a:defRPr sz="3200" b="1">
                <a:solidFill>
                  <a:srgbClr val="FFFFFF"/>
                </a:solidFill>
                <a:latin typeface="Segoe UI"/>
              </a:defRPr>
            </a:pPr>
            <a:r>
              <a:t>HƯỚNG DẪN SỬ DỤNG HỆ THỐNG</a:t>
            </a:r>
          </a:p>
          <a:p>
            <a:pPr>
              <a:spcAft>
                <a:spcPts val="2400"/>
              </a:spcAft>
              <a:defRPr sz="2400" b="1">
                <a:solidFill>
                  <a:srgbClr val="FCD34D"/>
                </a:solidFill>
                <a:latin typeface="Segoe UI"/>
              </a:defRPr>
            </a:pPr>
            <a:r>
              <a:t>THEO DÕI ĐẠI HỘI CHI ĐOÀN TRỰC TUYẾN</a:t>
            </a:r>
          </a:p>
          <a:p>
            <a:pPr>
              <a:spcAft>
                <a:spcPts val="3600"/>
              </a:spcAft>
              <a:defRPr sz="1300">
                <a:solidFill>
                  <a:srgbClr val="E2E8F0"/>
                </a:solidFill>
                <a:latin typeface="Segoe UI"/>
              </a:defRPr>
            </a:pPr>
            <a:r>
              <a:t>Tài liệu tập huấn quy trình kiểm tra, giám sát tiến độ thời gian thực,</a:t>
            </a:r>
            <a:br/>
            <a:r>
              <a:t>điểm danh sĩ số, quản lý hồ sơ và vận hành trên thiết bị di động (PWA).</a:t>
            </a:r>
          </a:p>
          <a:p>
            <a:pPr>
              <a:defRPr sz="1200" b="1">
                <a:solidFill>
                  <a:srgbClr val="38BDF8"/>
                </a:solidFill>
                <a:latin typeface="Segoe UI"/>
              </a:defRPr>
            </a:pPr>
            <a:r>
              <a:t>🌐 Địa chỉ chính thức: event-tracker-pied.vercel.app • Phiên bản: 2026.2 Production</a:t>
            </a:r>
          </a:p>
        </p:txBody>
      </p:sp>
      <p:pic>
        <p:nvPicPr>
          <p:cNvPr id="5" name="Picture 4" descr="logo_preview.png"/>
          <p:cNvPicPr>
            <a:picLocks noChangeAspect="1"/>
          </p:cNvPicPr>
          <p:nvPr/>
        </p:nvPicPr>
        <p:blipFill>
          <a:blip r:embed="rId2"/>
          <a:stretch>
            <a:fillRect/>
          </a:stretch>
        </p:blipFill>
        <p:spPr>
          <a:xfrm>
            <a:off x="8961120" y="1645920"/>
            <a:ext cx="2468880" cy="24688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rIns="731520" bIns="0"/>
          <a:lstStyle/>
          <a:p>
            <a:pPr algn="ctr">
              <a:defRPr sz="1000" b="1">
                <a:solidFill>
                  <a:srgbClr val="FEE2E2"/>
                </a:solidFill>
                <a:latin typeface="Segoe UI"/>
              </a:defRPr>
            </a:pPr>
            <a:r>
              <a:t>HƯỚNG DẪN VẬN HÀNH HỆ THỐNG</a:t>
            </a:r>
          </a:p>
          <a:p>
            <a:pPr>
              <a:defRPr sz="2000" b="1">
                <a:solidFill>
                  <a:srgbClr val="FFFFFF"/>
                </a:solidFill>
                <a:latin typeface="Segoe UI"/>
              </a:defRPr>
            </a:pPr>
            <a:r>
              <a:t>TỔNG QUAN &amp; MỤC TIÊU SỐ HÓA CÔNG TÁC ĐẠI HỘI</a:t>
            </a:r>
          </a:p>
        </p:txBody>
      </p:sp>
      <p:sp>
        <p:nvSpPr>
          <p:cNvPr id="3" name="Rectangle 2"/>
          <p:cNvSpPr/>
          <p:nvPr/>
        </p:nvSpPr>
        <p:spPr>
          <a:xfrm>
            <a:off x="0" y="1005840"/>
            <a:ext cx="12191695" cy="4572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73952"/>
            <a:ext cx="82296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event-tracker-pied.vercel.app</a:t>
            </a:r>
          </a:p>
        </p:txBody>
      </p:sp>
      <p:sp>
        <p:nvSpPr>
          <p:cNvPr id="6" name="TextBox 5"/>
          <p:cNvSpPr txBox="1"/>
          <p:nvPr/>
        </p:nvSpPr>
        <p:spPr>
          <a:xfrm>
            <a:off x="10515600" y="6473952"/>
            <a:ext cx="914400" cy="320040"/>
          </a:xfrm>
          <a:prstGeom prst="rect">
            <a:avLst/>
          </a:prstGeom>
          <a:noFill/>
        </p:spPr>
        <p:txBody>
          <a:bodyPr wrap="none" lIns="0" tIns="0" bIns="0" rIns="0">
            <a:spAutoFit/>
          </a:bodyPr>
          <a:lstStyle/>
          <a:p>
            <a:pPr algn="r">
              <a:defRPr sz="900" b="1">
                <a:solidFill>
                  <a:srgbClr val="FFFFFF"/>
                </a:solidFill>
                <a:latin typeface="Segoe UI"/>
              </a:defRPr>
            </a:pPr>
            <a:r>
              <a:t>2 / 14</a:t>
            </a:r>
          </a:p>
        </p:txBody>
      </p:sp>
      <p:sp>
        <p:nvSpPr>
          <p:cNvPr id="7" name="Rounded Rectangle 6"/>
          <p:cNvSpPr/>
          <p:nvPr/>
        </p:nvSpPr>
        <p:spPr>
          <a:xfrm>
            <a:off x="731520" y="1280160"/>
            <a:ext cx="512064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17320"/>
            <a:ext cx="4754880" cy="365760"/>
          </a:xfrm>
          <a:prstGeom prst="rect">
            <a:avLst/>
          </a:prstGeom>
          <a:noFill/>
        </p:spPr>
        <p:txBody>
          <a:bodyPr wrap="square" lIns="0" tIns="0" bIns="0" rIns="0">
            <a:spAutoFit/>
          </a:bodyPr>
          <a:lstStyle/>
          <a:p>
            <a:pPr>
              <a:defRPr sz="1300" b="1">
                <a:solidFill>
                  <a:srgbClr val="0F172A"/>
                </a:solidFill>
                <a:latin typeface="Segoe UI"/>
              </a:defRPr>
            </a:pPr>
            <a:r>
              <a:t>Mục tiêu trọng tâm &amp; Vai trò hệ thống</a:t>
            </a:r>
          </a:p>
        </p:txBody>
      </p:sp>
      <p:sp>
        <p:nvSpPr>
          <p:cNvPr id="9" name="TextBox 8"/>
          <p:cNvSpPr txBox="1"/>
          <p:nvPr/>
        </p:nvSpPr>
        <p:spPr>
          <a:xfrm>
            <a:off x="1005840" y="1828800"/>
            <a:ext cx="4572000" cy="4114800"/>
          </a:xfrm>
          <a:prstGeom prst="rect">
            <a:avLst/>
          </a:prstGeom>
          <a:noFill/>
        </p:spPr>
        <p:txBody>
          <a:bodyPr wrap="square" lIns="0" tIns="0" bIns="0" rIns="0">
            <a:spAutoFit/>
          </a:bodyPr>
          <a:lstStyle/>
          <a:p>
            <a:pPr>
              <a:spcAft>
                <a:spcPts val="1200"/>
              </a:spcAft>
              <a:defRPr b="1" sz="1100">
                <a:solidFill>
                  <a:srgbClr val="1E293B"/>
                </a:solidFill>
                <a:latin typeface="Segoe UI"/>
              </a:defRPr>
            </a:pPr>
            <a:r>
              <a:t>• Giám sát Realtime: </a:t>
            </a:r>
            <a:r>
              <a:rPr b="0" sz="1100">
                <a:solidFill>
                  <a:srgbClr val="1E293B"/>
                </a:solidFill>
                <a:latin typeface="Segoe UI"/>
              </a:rPr>
              <a:t>Theo dõi đồng bộ tiến độ tổ chức Đại hội Chi đoàn toàn trường theo từng giây mà không cần gọi điện thoại hay nhắn tin thủ công.</a:t>
            </a:r>
          </a:p>
          <a:p>
            <a:pPr>
              <a:spcAft>
                <a:spcPts val="1200"/>
              </a:spcAft>
              <a:defRPr b="1" sz="1100">
                <a:solidFill>
                  <a:srgbClr val="1E293B"/>
                </a:solidFill>
                <a:latin typeface="Segoe UI"/>
              </a:defRPr>
            </a:pPr>
            <a:r>
              <a:t>• Chuẩn hóa Hồ sơ: </a:t>
            </a:r>
            <a:r>
              <a:rPr b="0" sz="1100">
                <a:solidFill>
                  <a:srgbClr val="1E293B"/>
                </a:solidFill>
                <a:latin typeface="Segoe UI"/>
              </a:rPr>
              <a:t>Bắt buộc kiểm tra đầy đủ 100% hồ sơ nghiệp vụ (Biên bản kiểm phiếu, Đề án nhân sự, Báo cáo chính trị...) trước khi chuyển trạng thái đại hội.</a:t>
            </a:r>
          </a:p>
          <a:p>
            <a:pPr>
              <a:spcAft>
                <a:spcPts val="1200"/>
              </a:spcAft>
              <a:defRPr b="1" sz="1100">
                <a:solidFill>
                  <a:srgbClr val="1E293B"/>
                </a:solidFill>
                <a:latin typeface="Segoe UI"/>
              </a:defRPr>
            </a:pPr>
            <a:r>
              <a:t>• Kiểm soát Sĩ số 2/3: </a:t>
            </a:r>
            <a:r>
              <a:rPr b="0" sz="1100">
                <a:solidFill>
                  <a:srgbClr val="1E293B"/>
                </a:solidFill>
                <a:latin typeface="Segoe UI"/>
              </a:rPr>
              <a:t>Tự động tính toán tỷ lệ đoàn viên có mặt / tổng số; khóa cảnh báo nếu chưa đủ tỷ lệ 2/3 theo đúng Điều lệ Đoàn.</a:t>
            </a:r>
          </a:p>
          <a:p>
            <a:pPr>
              <a:spcAft>
                <a:spcPts val="1200"/>
              </a:spcAft>
              <a:defRPr b="1" sz="1100">
                <a:solidFill>
                  <a:srgbClr val="1E293B"/>
                </a:solidFill>
                <a:latin typeface="Segoe UI"/>
              </a:defRPr>
            </a:pPr>
            <a:r>
              <a:t>• Minh bạch Trách nhiệm: </a:t>
            </a:r>
            <a:r>
              <a:rPr b="0" sz="1100">
                <a:solidFill>
                  <a:srgbClr val="1E293B"/>
                </a:solidFill>
                <a:latin typeface="Segoe UI"/>
              </a:rPr>
              <a:t>Cơ chế phân tách Lưu và Khóa; ghi nhận đầy đủ nhật ký thao tác (Ai làm, lúc mấy giờ, ở vị trí nào).</a:t>
            </a:r>
          </a:p>
          <a:p>
            <a:pPr>
              <a:spcAft>
                <a:spcPts val="1200"/>
              </a:spcAft>
              <a:defRPr b="1" sz="1100">
                <a:solidFill>
                  <a:srgbClr val="1E293B"/>
                </a:solidFill>
                <a:latin typeface="Segoe UI"/>
              </a:defRPr>
            </a:pPr>
            <a:r>
              <a:t>• Thông báo Đa cấp: </a:t>
            </a:r>
            <a:r>
              <a:rPr b="0" sz="1100">
                <a:solidFill>
                  <a:srgbClr val="1E293B"/>
                </a:solidFill>
                <a:latin typeface="Segoe UI"/>
              </a:rPr>
              <a:t>Phát lệnh chỉ đạo khẩn cấp từ Ban Thường vụ tới toàn trường, từng tòa nhà hoặc từng tầng ngay lập tức.</a:t>
            </a:r>
          </a:p>
        </p:txBody>
      </p:sp>
      <p:sp>
        <p:nvSpPr>
          <p:cNvPr id="10" name="Rounded Rectangle 9"/>
          <p:cNvSpPr/>
          <p:nvPr/>
        </p:nvSpPr>
        <p:spPr>
          <a:xfrm>
            <a:off x="6217920" y="1280160"/>
            <a:ext cx="521208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417320"/>
            <a:ext cx="4846320" cy="365760"/>
          </a:xfrm>
          <a:prstGeom prst="rect">
            <a:avLst/>
          </a:prstGeom>
          <a:noFill/>
        </p:spPr>
        <p:txBody>
          <a:bodyPr wrap="square" lIns="0" tIns="0" bIns="0" rIns="0">
            <a:spAutoFit/>
          </a:bodyPr>
          <a:lstStyle/>
          <a:p>
            <a:pPr>
              <a:defRPr sz="1300" b="1">
                <a:solidFill>
                  <a:srgbClr val="0F172A"/>
                </a:solidFill>
                <a:latin typeface="Segoe UI"/>
              </a:defRPr>
            </a:pPr>
            <a:r>
              <a:t>Giao diện Tổng quan Bảng Theo dõi Tiến độ</a:t>
            </a:r>
          </a:p>
        </p:txBody>
      </p:sp>
      <p:pic>
        <p:nvPicPr>
          <p:cNvPr id="12" name="Picture 11" descr="full_preview.png"/>
          <p:cNvPicPr>
            <a:picLocks noChangeAspect="1"/>
          </p:cNvPicPr>
          <p:nvPr/>
        </p:nvPicPr>
        <p:blipFill>
          <a:blip r:embed="rId2"/>
          <a:stretch>
            <a:fillRect/>
          </a:stretch>
        </p:blipFill>
        <p:spPr>
          <a:xfrm>
            <a:off x="6400800" y="1828800"/>
            <a:ext cx="4846320" cy="52626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rIns="731520" bIns="0"/>
          <a:lstStyle/>
          <a:p>
            <a:pPr algn="ctr">
              <a:defRPr sz="1000" b="1">
                <a:solidFill>
                  <a:srgbClr val="FEE2E2"/>
                </a:solidFill>
                <a:latin typeface="Segoe UI"/>
              </a:defRPr>
            </a:pPr>
            <a:r>
              <a:t>HƯỚNG DẪN VẬN HÀNH HỆ THỐNG</a:t>
            </a:r>
          </a:p>
          <a:p>
            <a:pPr>
              <a:defRPr sz="2000" b="1">
                <a:solidFill>
                  <a:srgbClr val="FFFFFF"/>
                </a:solidFill>
                <a:latin typeface="Segoe UI"/>
              </a:defRPr>
            </a:pPr>
            <a:r>
              <a:t>HƯỚNG DẪN CÀI ĐẶT PWA TRÊN iOS (IPHONE / IPAD - TRÌNH DUYỆT SAFARI)</a:t>
            </a:r>
          </a:p>
        </p:txBody>
      </p:sp>
      <p:sp>
        <p:nvSpPr>
          <p:cNvPr id="3" name="Rectangle 2"/>
          <p:cNvSpPr/>
          <p:nvPr/>
        </p:nvSpPr>
        <p:spPr>
          <a:xfrm>
            <a:off x="0" y="1005840"/>
            <a:ext cx="12191695" cy="4572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73952"/>
            <a:ext cx="82296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event-tracker-pied.vercel.app</a:t>
            </a:r>
          </a:p>
        </p:txBody>
      </p:sp>
      <p:sp>
        <p:nvSpPr>
          <p:cNvPr id="6" name="TextBox 5"/>
          <p:cNvSpPr txBox="1"/>
          <p:nvPr/>
        </p:nvSpPr>
        <p:spPr>
          <a:xfrm>
            <a:off x="10515600" y="6473952"/>
            <a:ext cx="914400" cy="320040"/>
          </a:xfrm>
          <a:prstGeom prst="rect">
            <a:avLst/>
          </a:prstGeom>
          <a:noFill/>
        </p:spPr>
        <p:txBody>
          <a:bodyPr wrap="none" lIns="0" tIns="0" bIns="0" rIns="0">
            <a:spAutoFit/>
          </a:bodyPr>
          <a:lstStyle/>
          <a:p>
            <a:pPr algn="r">
              <a:defRPr sz="900" b="1">
                <a:solidFill>
                  <a:srgbClr val="FFFFFF"/>
                </a:solidFill>
                <a:latin typeface="Segoe UI"/>
              </a:defRPr>
            </a:pPr>
            <a:r>
              <a:t>3 / 14</a:t>
            </a:r>
          </a:p>
        </p:txBody>
      </p:sp>
      <p:pic>
        <p:nvPicPr>
          <p:cNvPr id="7" name="Picture 6" descr="pwa_ios_guide.png"/>
          <p:cNvPicPr>
            <a:picLocks noChangeAspect="1"/>
          </p:cNvPicPr>
          <p:nvPr/>
        </p:nvPicPr>
        <p:blipFill>
          <a:blip r:embed="rId2"/>
          <a:stretch>
            <a:fillRect/>
          </a:stretch>
        </p:blipFill>
        <p:spPr>
          <a:xfrm>
            <a:off x="731520" y="1234440"/>
            <a:ext cx="10728655" cy="625838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rIns="731520" bIns="0"/>
          <a:lstStyle/>
          <a:p>
            <a:pPr algn="ctr">
              <a:defRPr sz="1000" b="1">
                <a:solidFill>
                  <a:srgbClr val="FEE2E2"/>
                </a:solidFill>
                <a:latin typeface="Segoe UI"/>
              </a:defRPr>
            </a:pPr>
            <a:r>
              <a:t>HƯỚNG DẪN VẬN HÀNH HỆ THỐNG</a:t>
            </a:r>
          </a:p>
          <a:p>
            <a:pPr>
              <a:defRPr sz="2000" b="1">
                <a:solidFill>
                  <a:srgbClr val="FFFFFF"/>
                </a:solidFill>
                <a:latin typeface="Segoe UI"/>
              </a:defRPr>
            </a:pPr>
            <a:r>
              <a:t>HƯỚNG DẪN CÀI ĐẶT PWA TRÊN ANDROID (GOOGLE CHROME / CỐC CỐC)</a:t>
            </a:r>
          </a:p>
        </p:txBody>
      </p:sp>
      <p:sp>
        <p:nvSpPr>
          <p:cNvPr id="3" name="Rectangle 2"/>
          <p:cNvSpPr/>
          <p:nvPr/>
        </p:nvSpPr>
        <p:spPr>
          <a:xfrm>
            <a:off x="0" y="1005840"/>
            <a:ext cx="12191695" cy="4572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73952"/>
            <a:ext cx="82296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event-tracker-pied.vercel.app</a:t>
            </a:r>
          </a:p>
        </p:txBody>
      </p:sp>
      <p:sp>
        <p:nvSpPr>
          <p:cNvPr id="6" name="TextBox 5"/>
          <p:cNvSpPr txBox="1"/>
          <p:nvPr/>
        </p:nvSpPr>
        <p:spPr>
          <a:xfrm>
            <a:off x="10515600" y="6473952"/>
            <a:ext cx="914400" cy="320040"/>
          </a:xfrm>
          <a:prstGeom prst="rect">
            <a:avLst/>
          </a:prstGeom>
          <a:noFill/>
        </p:spPr>
        <p:txBody>
          <a:bodyPr wrap="none" lIns="0" tIns="0" bIns="0" rIns="0">
            <a:spAutoFit/>
          </a:bodyPr>
          <a:lstStyle/>
          <a:p>
            <a:pPr algn="r">
              <a:defRPr sz="900" b="1">
                <a:solidFill>
                  <a:srgbClr val="FFFFFF"/>
                </a:solidFill>
                <a:latin typeface="Segoe UI"/>
              </a:defRPr>
            </a:pPr>
            <a:r>
              <a:t>4 / 14</a:t>
            </a:r>
          </a:p>
        </p:txBody>
      </p:sp>
      <p:pic>
        <p:nvPicPr>
          <p:cNvPr id="7" name="Picture 6" descr="pwa_android_guide.png"/>
          <p:cNvPicPr>
            <a:picLocks noChangeAspect="1"/>
          </p:cNvPicPr>
          <p:nvPr/>
        </p:nvPicPr>
        <p:blipFill>
          <a:blip r:embed="rId2"/>
          <a:stretch>
            <a:fillRect/>
          </a:stretch>
        </p:blipFill>
        <p:spPr>
          <a:xfrm>
            <a:off x="731520" y="1234440"/>
            <a:ext cx="10728655" cy="625838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rIns="731520" bIns="0"/>
          <a:lstStyle/>
          <a:p>
            <a:pPr algn="ctr">
              <a:defRPr sz="1000" b="1">
                <a:solidFill>
                  <a:srgbClr val="FEE2E2"/>
                </a:solidFill>
                <a:latin typeface="Segoe UI"/>
              </a:defRPr>
            </a:pPr>
            <a:r>
              <a:t>HƯỚNG DẪN VẬN HÀNH HỆ THỐNG</a:t>
            </a:r>
          </a:p>
          <a:p>
            <a:pPr>
              <a:defRPr sz="2000" b="1">
                <a:solidFill>
                  <a:srgbClr val="FFFFFF"/>
                </a:solidFill>
                <a:latin typeface="Segoe UI"/>
              </a:defRPr>
            </a:pPr>
            <a:r>
              <a:t>QUY TRÌNH ĐĂNG NHẬP &amp; MA TRẬN PHÂN QUYỀN VAI TRÒ</a:t>
            </a:r>
          </a:p>
        </p:txBody>
      </p:sp>
      <p:sp>
        <p:nvSpPr>
          <p:cNvPr id="3" name="Rectangle 2"/>
          <p:cNvSpPr/>
          <p:nvPr/>
        </p:nvSpPr>
        <p:spPr>
          <a:xfrm>
            <a:off x="0" y="1005840"/>
            <a:ext cx="12191695" cy="4572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73952"/>
            <a:ext cx="82296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event-tracker-pied.vercel.app</a:t>
            </a:r>
          </a:p>
        </p:txBody>
      </p:sp>
      <p:sp>
        <p:nvSpPr>
          <p:cNvPr id="6" name="TextBox 5"/>
          <p:cNvSpPr txBox="1"/>
          <p:nvPr/>
        </p:nvSpPr>
        <p:spPr>
          <a:xfrm>
            <a:off x="10515600" y="6473952"/>
            <a:ext cx="914400" cy="320040"/>
          </a:xfrm>
          <a:prstGeom prst="rect">
            <a:avLst/>
          </a:prstGeom>
          <a:noFill/>
        </p:spPr>
        <p:txBody>
          <a:bodyPr wrap="none" lIns="0" tIns="0" bIns="0" rIns="0">
            <a:spAutoFit/>
          </a:bodyPr>
          <a:lstStyle/>
          <a:p>
            <a:pPr algn="r">
              <a:defRPr sz="900" b="1">
                <a:solidFill>
                  <a:srgbClr val="FFFFFF"/>
                </a:solidFill>
                <a:latin typeface="Segoe UI"/>
              </a:defRPr>
            </a:pPr>
            <a:r>
              <a:t>5 / 14</a:t>
            </a:r>
          </a:p>
        </p:txBody>
      </p:sp>
      <p:sp>
        <p:nvSpPr>
          <p:cNvPr id="7" name="Rounded Rectangle 6"/>
          <p:cNvSpPr/>
          <p:nvPr/>
        </p:nvSpPr>
        <p:spPr>
          <a:xfrm>
            <a:off x="731520" y="1280160"/>
            <a:ext cx="676656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17320"/>
            <a:ext cx="6400800" cy="365760"/>
          </a:xfrm>
          <a:prstGeom prst="rect">
            <a:avLst/>
          </a:prstGeom>
          <a:noFill/>
        </p:spPr>
        <p:txBody>
          <a:bodyPr wrap="square" lIns="0" tIns="0" bIns="0" rIns="0">
            <a:spAutoFit/>
          </a:bodyPr>
          <a:lstStyle/>
          <a:p>
            <a:pPr>
              <a:defRPr sz="1300" b="1">
                <a:solidFill>
                  <a:srgbClr val="0F172A"/>
                </a:solidFill>
                <a:latin typeface="Segoe UI"/>
              </a:defRPr>
            </a:pPr>
            <a:r>
              <a:t>Phân quyền Vai trò &amp; Quyền hạn Thao tác</a:t>
            </a:r>
          </a:p>
        </p:txBody>
      </p:sp>
      <p:sp>
        <p:nvSpPr>
          <p:cNvPr id="9" name="TextBox 8"/>
          <p:cNvSpPr txBox="1"/>
          <p:nvPr/>
        </p:nvSpPr>
        <p:spPr>
          <a:xfrm>
            <a:off x="1005840" y="1828800"/>
            <a:ext cx="6217920" cy="4114800"/>
          </a:xfrm>
          <a:prstGeom prst="rect">
            <a:avLst/>
          </a:prstGeom>
          <a:noFill/>
        </p:spPr>
        <p:txBody>
          <a:bodyPr wrap="square" lIns="0" tIns="0" bIns="0" rIns="0">
            <a:spAutoFit/>
          </a:bodyPr>
          <a:lstStyle/>
          <a:p>
            <a:pPr>
              <a:spcAft>
                <a:spcPts val="1000"/>
              </a:spcAft>
              <a:defRPr b="1" sz="1100">
                <a:solidFill>
                  <a:srgbClr val="1E293B"/>
                </a:solidFill>
                <a:latin typeface="Segoe UI"/>
              </a:defRPr>
            </a:pPr>
            <a:r>
              <a:t>• Khách / Đoàn viên (Guest): </a:t>
            </a:r>
            <a:r>
              <a:rPr b="0" sz="1100">
                <a:solidFill>
                  <a:srgbClr val="1E293B"/>
                </a:solidFill>
                <a:latin typeface="Segoe UI"/>
              </a:rPr>
              <a:t>Không cần đăng nhập; xem bản đồ tiến độ công khai toàn trường, danh bạ hỗ trợ; không thể sửa dữ liệu.</a:t>
            </a:r>
          </a:p>
          <a:p>
            <a:pPr>
              <a:spcAft>
                <a:spcPts val="1000"/>
              </a:spcAft>
              <a:defRPr b="1" sz="1100">
                <a:solidFill>
                  <a:srgbClr val="1E293B"/>
                </a:solidFill>
                <a:latin typeface="Segoe UI"/>
              </a:defRPr>
            </a:pPr>
            <a:r>
              <a:t>• Cán bộ trực lớp (Room Lead): </a:t>
            </a:r>
            <a:r>
              <a:rPr b="0" sz="1100">
                <a:solidFill>
                  <a:srgbClr val="1E293B"/>
                </a:solidFill>
                <a:latin typeface="Segoe UI"/>
              </a:rPr>
              <a:t>Đăng nhập tài khoản cá nhân hoặc dùng Link định danh một chạm; chỉ được sửa hồ sơ, điểm danh và đổi màu các lớp mình phụ trách.</a:t>
            </a:r>
          </a:p>
          <a:p>
            <a:pPr>
              <a:spcAft>
                <a:spcPts val="1000"/>
              </a:spcAft>
              <a:defRPr b="1" sz="1100">
                <a:solidFill>
                  <a:srgbClr val="1E293B"/>
                </a:solidFill>
                <a:latin typeface="Segoe UI"/>
              </a:defRPr>
            </a:pPr>
            <a:r>
              <a:t>• Phụ trách Tầng (Floor Lead): </a:t>
            </a:r>
            <a:r>
              <a:rPr b="0" sz="1100">
                <a:solidFill>
                  <a:srgbClr val="1E293B"/>
                </a:solidFill>
                <a:latin typeface="Segoe UI"/>
              </a:rPr>
              <a:t>Giám sát tất cả các lớp trong tầng; được quyền Mở khóa (Unlock) cho các lớp thuộc tầng khi có sai sót cần chỉnh sửa; gửi thông báo tầng.</a:t>
            </a:r>
          </a:p>
          <a:p>
            <a:pPr>
              <a:spcAft>
                <a:spcPts val="1000"/>
              </a:spcAft>
              <a:defRPr b="1" sz="1100">
                <a:solidFill>
                  <a:srgbClr val="1E293B"/>
                </a:solidFill>
                <a:latin typeface="Segoe UI"/>
              </a:defRPr>
            </a:pPr>
            <a:r>
              <a:t>• Phụ trách Tòa nhà (Unit Lead): </a:t>
            </a:r>
            <a:r>
              <a:rPr b="0" sz="1100">
                <a:solidFill>
                  <a:srgbClr val="1E293B"/>
                </a:solidFill>
                <a:latin typeface="Segoe UI"/>
              </a:rPr>
              <a:t>Giám sát toàn bộ các phòng trong tòa nhà/đơn vị; quyền mở khóa và quản trị cấp tòa; gửi thông báo tòa.</a:t>
            </a:r>
          </a:p>
          <a:p>
            <a:pPr>
              <a:spcAft>
                <a:spcPts val="1000"/>
              </a:spcAft>
              <a:defRPr b="1" sz="1100">
                <a:solidFill>
                  <a:srgbClr val="1E293B"/>
                </a:solidFill>
                <a:latin typeface="Segoe UI"/>
              </a:defRPr>
            </a:pPr>
            <a:r>
              <a:t>• Ban Quản trị (Admin): </a:t>
            </a:r>
            <a:r>
              <a:rPr b="0" sz="1100">
                <a:solidFill>
                  <a:srgbClr val="1E293B"/>
                </a:solidFill>
                <a:latin typeface="Segoe UI"/>
              </a:rPr>
              <a:t>Toàn quyền quản trị: thêm/sửa/xóa phòng, cấu hình checklist, phân quyền người dùng, xem Nhật ký hệ thống (Audit Logs), gửi thông báo toàn trường.</a:t>
            </a:r>
          </a:p>
        </p:txBody>
      </p:sp>
      <p:sp>
        <p:nvSpPr>
          <p:cNvPr id="10" name="Rounded Rectangle 9"/>
          <p:cNvSpPr/>
          <p:nvPr/>
        </p:nvSpPr>
        <p:spPr>
          <a:xfrm>
            <a:off x="7772400" y="1280160"/>
            <a:ext cx="365760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0" y="1417320"/>
            <a:ext cx="3291840" cy="365760"/>
          </a:xfrm>
          <a:prstGeom prst="rect">
            <a:avLst/>
          </a:prstGeom>
          <a:noFill/>
        </p:spPr>
        <p:txBody>
          <a:bodyPr wrap="square" lIns="0" tIns="0" bIns="0" rIns="0">
            <a:spAutoFit/>
          </a:bodyPr>
          <a:lstStyle/>
          <a:p>
            <a:pPr>
              <a:defRPr sz="1300" b="1">
                <a:solidFill>
                  <a:srgbClr val="0F172A"/>
                </a:solidFill>
                <a:latin typeface="Segoe UI"/>
              </a:defRPr>
            </a:pPr>
            <a:r>
              <a:t>Màn hình Đăng nhập</a:t>
            </a:r>
          </a:p>
        </p:txBody>
      </p:sp>
      <p:pic>
        <p:nvPicPr>
          <p:cNvPr id="12" name="Picture 11" descr="media_1791986024994_52b26b5b.png"/>
          <p:cNvPicPr>
            <a:picLocks noChangeAspect="1"/>
          </p:cNvPicPr>
          <p:nvPr/>
        </p:nvPicPr>
        <p:blipFill>
          <a:blip r:embed="rId2"/>
          <a:stretch>
            <a:fillRect/>
          </a:stretch>
        </p:blipFill>
        <p:spPr>
          <a:xfrm>
            <a:off x="8046720" y="1828800"/>
            <a:ext cx="3108960" cy="493101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rIns="731520" bIns="0"/>
          <a:lstStyle/>
          <a:p>
            <a:pPr algn="ctr">
              <a:defRPr sz="1000" b="1">
                <a:solidFill>
                  <a:srgbClr val="FEE2E2"/>
                </a:solidFill>
                <a:latin typeface="Segoe UI"/>
              </a:defRPr>
            </a:pPr>
            <a:r>
              <a:t>HƯỚNG DẪN VẬN HÀNH HỆ THỐNG</a:t>
            </a:r>
          </a:p>
          <a:p>
            <a:pPr>
              <a:defRPr sz="2000" b="1">
                <a:solidFill>
                  <a:srgbClr val="FFFFFF"/>
                </a:solidFill>
                <a:latin typeface="Segoe UI"/>
              </a:defRPr>
            </a:pPr>
            <a:r>
              <a:t>BẢNG ĐIỀU KHIỂN TỔNG QUAN &amp; THEO DÕI BẢN ĐỒ TIẾN ĐỘ</a:t>
            </a:r>
          </a:p>
        </p:txBody>
      </p:sp>
      <p:sp>
        <p:nvSpPr>
          <p:cNvPr id="3" name="Rectangle 2"/>
          <p:cNvSpPr/>
          <p:nvPr/>
        </p:nvSpPr>
        <p:spPr>
          <a:xfrm>
            <a:off x="0" y="1005840"/>
            <a:ext cx="12191695" cy="4572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73952"/>
            <a:ext cx="82296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event-tracker-pied.vercel.app</a:t>
            </a:r>
          </a:p>
        </p:txBody>
      </p:sp>
      <p:sp>
        <p:nvSpPr>
          <p:cNvPr id="6" name="TextBox 5"/>
          <p:cNvSpPr txBox="1"/>
          <p:nvPr/>
        </p:nvSpPr>
        <p:spPr>
          <a:xfrm>
            <a:off x="10515600" y="6473952"/>
            <a:ext cx="914400" cy="320040"/>
          </a:xfrm>
          <a:prstGeom prst="rect">
            <a:avLst/>
          </a:prstGeom>
          <a:noFill/>
        </p:spPr>
        <p:txBody>
          <a:bodyPr wrap="none" lIns="0" tIns="0" bIns="0" rIns="0">
            <a:spAutoFit/>
          </a:bodyPr>
          <a:lstStyle/>
          <a:p>
            <a:pPr algn="r">
              <a:defRPr sz="900" b="1">
                <a:solidFill>
                  <a:srgbClr val="FFFFFF"/>
                </a:solidFill>
                <a:latin typeface="Segoe UI"/>
              </a:defRPr>
            </a:pPr>
            <a:r>
              <a:t>6 / 14</a:t>
            </a:r>
          </a:p>
        </p:txBody>
      </p:sp>
      <p:sp>
        <p:nvSpPr>
          <p:cNvPr id="7" name="Rounded Rectangle 6"/>
          <p:cNvSpPr/>
          <p:nvPr/>
        </p:nvSpPr>
        <p:spPr>
          <a:xfrm>
            <a:off x="731520" y="1280160"/>
            <a:ext cx="493776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17320"/>
            <a:ext cx="4572000" cy="365760"/>
          </a:xfrm>
          <a:prstGeom prst="rect">
            <a:avLst/>
          </a:prstGeom>
          <a:noFill/>
        </p:spPr>
        <p:txBody>
          <a:bodyPr wrap="square" lIns="0" tIns="0" bIns="0" rIns="0">
            <a:spAutoFit/>
          </a:bodyPr>
          <a:lstStyle/>
          <a:p>
            <a:pPr>
              <a:defRPr sz="1300" b="1">
                <a:solidFill>
                  <a:srgbClr val="0F172A"/>
                </a:solidFill>
                <a:latin typeface="Segoe UI"/>
              </a:defRPr>
            </a:pPr>
            <a:r>
              <a:t>Các tính năng trên Bảng theo dõi</a:t>
            </a:r>
          </a:p>
        </p:txBody>
      </p:sp>
      <p:sp>
        <p:nvSpPr>
          <p:cNvPr id="9" name="TextBox 8"/>
          <p:cNvSpPr txBox="1"/>
          <p:nvPr/>
        </p:nvSpPr>
        <p:spPr>
          <a:xfrm>
            <a:off x="1005840" y="1828800"/>
            <a:ext cx="4389120" cy="4114800"/>
          </a:xfrm>
          <a:prstGeom prst="rect">
            <a:avLst/>
          </a:prstGeom>
          <a:noFill/>
        </p:spPr>
        <p:txBody>
          <a:bodyPr wrap="square" lIns="0" tIns="0" bIns="0" rIns="0">
            <a:spAutoFit/>
          </a:bodyPr>
          <a:lstStyle/>
          <a:p>
            <a:pPr>
              <a:spcAft>
                <a:spcPts val="1200"/>
              </a:spcAft>
              <a:defRPr b="1" sz="1100">
                <a:solidFill>
                  <a:srgbClr val="1E293B"/>
                </a:solidFill>
                <a:latin typeface="Segoe UI"/>
              </a:defRPr>
            </a:pPr>
            <a:r>
              <a:t>• Thanh trạng thái trực quan: </a:t>
            </a:r>
            <a:r>
              <a:rPr b="0" sz="1100">
                <a:solidFill>
                  <a:srgbClr val="1E293B"/>
                </a:solidFill>
                <a:latin typeface="Segoe UI"/>
              </a:rPr>
              <a:t>4 màu sắc chuẩn hóa:
• Đỏ: Chưa tổ chức (chưa đủ điều kiện)
• Vàng: Đang tiến hành đại hội
• Xanh: Đã tổ chức thành công &amp; chốt hồ sơ
• Tím: Hủy đại hội (kèm lý do ghi chú)</a:t>
            </a:r>
          </a:p>
          <a:p>
            <a:pPr>
              <a:spcAft>
                <a:spcPts val="1200"/>
              </a:spcAft>
              <a:defRPr b="1" sz="1100">
                <a:solidFill>
                  <a:srgbClr val="1E293B"/>
                </a:solidFill>
                <a:latin typeface="Segoe UI"/>
              </a:defRPr>
            </a:pPr>
            <a:r>
              <a:t>• Bộ lọc thông minh: </a:t>
            </a:r>
            <a:r>
              <a:rPr b="0" sz="1100">
                <a:solidFill>
                  <a:srgbClr val="1E293B"/>
                </a:solidFill>
                <a:latin typeface="Segoe UI"/>
              </a:rPr>
              <a:t>Lọc nhanh theo Đơn vị (Trường/Viện), theo Tòa nhà (D3, D5, D9, TC...) hoặc theo Tầng cụ thể.</a:t>
            </a:r>
          </a:p>
          <a:p>
            <a:pPr>
              <a:spcAft>
                <a:spcPts val="1200"/>
              </a:spcAft>
              <a:defRPr b="1" sz="1100">
                <a:solidFill>
                  <a:srgbClr val="1E293B"/>
                </a:solidFill>
                <a:latin typeface="Segoe UI"/>
              </a:defRPr>
            </a:pPr>
            <a:r>
              <a:t>• Tìm kiếm tức thời: </a:t>
            </a:r>
            <a:r>
              <a:rPr b="0" sz="1100">
                <a:solidFill>
                  <a:srgbClr val="1E293B"/>
                </a:solidFill>
                <a:latin typeface="Segoe UI"/>
              </a:rPr>
              <a:t>Tìm kiếm theo mã lớp (VD: EE2, IT1), tên lớp hoặc tên cán bộ phụ trách với tốc độ phản hồi 0ms.</a:t>
            </a:r>
          </a:p>
          <a:p>
            <a:pPr>
              <a:spcAft>
                <a:spcPts val="1200"/>
              </a:spcAft>
              <a:defRPr b="1" sz="1100">
                <a:solidFill>
                  <a:srgbClr val="1E293B"/>
                </a:solidFill>
                <a:latin typeface="Segoe UI"/>
              </a:defRPr>
            </a:pPr>
            <a:r>
              <a:t>• Chế độ Bản đồ (Map View): </a:t>
            </a:r>
            <a:r>
              <a:rPr b="0" sz="1100">
                <a:solidFill>
                  <a:srgbClr val="1E293B"/>
                </a:solidFill>
                <a:latin typeface="Segoe UI"/>
              </a:rPr>
              <a:t>Xem vị trí phòng học trên sơ đồ tầng thực tế, nhận diện điểm nóng cần hỗ trợ kỹ thuật.</a:t>
            </a:r>
          </a:p>
        </p:txBody>
      </p:sp>
      <p:sp>
        <p:nvSpPr>
          <p:cNvPr id="10" name="Rounded Rectangle 9"/>
          <p:cNvSpPr/>
          <p:nvPr/>
        </p:nvSpPr>
        <p:spPr>
          <a:xfrm>
            <a:off x="5943600" y="1280160"/>
            <a:ext cx="548640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0" y="1417320"/>
            <a:ext cx="5120640" cy="365760"/>
          </a:xfrm>
          <a:prstGeom prst="rect">
            <a:avLst/>
          </a:prstGeom>
          <a:noFill/>
        </p:spPr>
        <p:txBody>
          <a:bodyPr wrap="square" lIns="0" tIns="0" bIns="0" rIns="0">
            <a:spAutoFit/>
          </a:bodyPr>
          <a:lstStyle/>
          <a:p>
            <a:pPr>
              <a:defRPr sz="1300" b="1">
                <a:solidFill>
                  <a:srgbClr val="0F172A"/>
                </a:solidFill>
                <a:latin typeface="Segoe UI"/>
              </a:defRPr>
            </a:pPr>
            <a:r>
              <a:t>Minh họa Bảng theo dõi Tổng quan</a:t>
            </a:r>
          </a:p>
        </p:txBody>
      </p:sp>
      <p:pic>
        <p:nvPicPr>
          <p:cNvPr id="12" name="Picture 11" descr="full_preview.png"/>
          <p:cNvPicPr>
            <a:picLocks noChangeAspect="1"/>
          </p:cNvPicPr>
          <p:nvPr/>
        </p:nvPicPr>
        <p:blipFill>
          <a:blip r:embed="rId2"/>
          <a:stretch>
            <a:fillRect/>
          </a:stretch>
        </p:blipFill>
        <p:spPr>
          <a:xfrm>
            <a:off x="6126480" y="1828800"/>
            <a:ext cx="5120640" cy="5560483"/>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rIns="731520" bIns="0"/>
          <a:lstStyle/>
          <a:p>
            <a:pPr algn="ctr">
              <a:defRPr sz="1000" b="1">
                <a:solidFill>
                  <a:srgbClr val="FEE2E2"/>
                </a:solidFill>
                <a:latin typeface="Segoe UI"/>
              </a:defRPr>
            </a:pPr>
            <a:r>
              <a:t>HƯỚNG DẪN VẬN HÀNH HỆ THỐNG</a:t>
            </a:r>
          </a:p>
          <a:p>
            <a:pPr>
              <a:defRPr sz="2000" b="1">
                <a:solidFill>
                  <a:srgbClr val="FFFFFF"/>
                </a:solidFill>
                <a:latin typeface="Segoe UI"/>
              </a:defRPr>
            </a:pPr>
            <a:r>
              <a:t>NGHIỆP VỤ CÁN BỘ TRỰC LỚP: KIỂM TRA CHECKLIST HỒ SƠ ĐẠI HỘI</a:t>
            </a:r>
          </a:p>
        </p:txBody>
      </p:sp>
      <p:sp>
        <p:nvSpPr>
          <p:cNvPr id="3" name="Rectangle 2"/>
          <p:cNvSpPr/>
          <p:nvPr/>
        </p:nvSpPr>
        <p:spPr>
          <a:xfrm>
            <a:off x="0" y="1005840"/>
            <a:ext cx="12191695" cy="4572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73952"/>
            <a:ext cx="82296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event-tracker-pied.vercel.app</a:t>
            </a:r>
          </a:p>
        </p:txBody>
      </p:sp>
      <p:sp>
        <p:nvSpPr>
          <p:cNvPr id="6" name="TextBox 5"/>
          <p:cNvSpPr txBox="1"/>
          <p:nvPr/>
        </p:nvSpPr>
        <p:spPr>
          <a:xfrm>
            <a:off x="10515600" y="6473952"/>
            <a:ext cx="914400" cy="320040"/>
          </a:xfrm>
          <a:prstGeom prst="rect">
            <a:avLst/>
          </a:prstGeom>
          <a:noFill/>
        </p:spPr>
        <p:txBody>
          <a:bodyPr wrap="none" lIns="0" tIns="0" bIns="0" rIns="0">
            <a:spAutoFit/>
          </a:bodyPr>
          <a:lstStyle/>
          <a:p>
            <a:pPr algn="r">
              <a:defRPr sz="900" b="1">
                <a:solidFill>
                  <a:srgbClr val="FFFFFF"/>
                </a:solidFill>
                <a:latin typeface="Segoe UI"/>
              </a:defRPr>
            </a:pPr>
            <a:r>
              <a:t>7 / 14</a:t>
            </a:r>
          </a:p>
        </p:txBody>
      </p:sp>
      <p:sp>
        <p:nvSpPr>
          <p:cNvPr id="7" name="Rounded Rectangle 6"/>
          <p:cNvSpPr/>
          <p:nvPr/>
        </p:nvSpPr>
        <p:spPr>
          <a:xfrm>
            <a:off x="731520" y="1280160"/>
            <a:ext cx="548640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17320"/>
            <a:ext cx="5120640" cy="365760"/>
          </a:xfrm>
          <a:prstGeom prst="rect">
            <a:avLst/>
          </a:prstGeom>
          <a:noFill/>
        </p:spPr>
        <p:txBody>
          <a:bodyPr wrap="square" lIns="0" tIns="0" bIns="0" rIns="0">
            <a:spAutoFit/>
          </a:bodyPr>
          <a:lstStyle/>
          <a:p>
            <a:pPr>
              <a:defRPr sz="1300" b="1">
                <a:solidFill>
                  <a:srgbClr val="0F172A"/>
                </a:solidFill>
                <a:latin typeface="Segoe UI"/>
              </a:defRPr>
            </a:pPr>
            <a:r>
              <a:t>Quy định Bắt buộc về Hồ sơ Nghiệp vụ</a:t>
            </a:r>
          </a:p>
        </p:txBody>
      </p:sp>
      <p:sp>
        <p:nvSpPr>
          <p:cNvPr id="9" name="TextBox 8"/>
          <p:cNvSpPr txBox="1"/>
          <p:nvPr/>
        </p:nvSpPr>
        <p:spPr>
          <a:xfrm>
            <a:off x="1005840" y="1828800"/>
            <a:ext cx="4937760" cy="4114800"/>
          </a:xfrm>
          <a:prstGeom prst="rect">
            <a:avLst/>
          </a:prstGeom>
          <a:noFill/>
        </p:spPr>
        <p:txBody>
          <a:bodyPr wrap="square" lIns="0" tIns="0" bIns="0" rIns="0">
            <a:spAutoFit/>
          </a:bodyPr>
          <a:lstStyle/>
          <a:p>
            <a:pPr>
              <a:spcAft>
                <a:spcPts val="1400"/>
              </a:spcAft>
              <a:defRPr b="1" sz="1100">
                <a:solidFill>
                  <a:srgbClr val="1E293B"/>
                </a:solidFill>
                <a:latin typeface="Segoe UI"/>
              </a:defRPr>
            </a:pPr>
            <a:r>
              <a:t>• Danh mục Hồ sơ Kiểm tra: </a:t>
            </a:r>
            <a:r>
              <a:rPr b="0" sz="1100">
                <a:solidFill>
                  <a:srgbClr val="1E293B"/>
                </a:solidFill>
                <a:latin typeface="Segoe UI"/>
              </a:rPr>
              <a:t>Cán bộ trực tiếp rà soát 6 mục bắt buộc:
1. Báo cáo chính trị của BCH Chi đoàn
2. Báo cáo kiểm điểm BCH Chi đoàn
3. Đề án nhân sự BCH khóa mới
4. Biên bản đại hội chi đoàn
5. Biên bản kiểm phiếu bầu BCH &amp; Đoàn đại biểu
6. Nghị quyết Đại hội Chi đoàn</a:t>
            </a:r>
          </a:p>
          <a:p>
            <a:pPr>
              <a:spcAft>
                <a:spcPts val="1400"/>
              </a:spcAft>
              <a:defRPr b="1" sz="1100">
                <a:solidFill>
                  <a:srgbClr val="1E293B"/>
                </a:solidFill>
                <a:latin typeface="Segoe UI"/>
              </a:defRPr>
            </a:pPr>
            <a:r>
              <a:t>• Điều kiện Chuyển trạng thái: </a:t>
            </a:r>
            <a:r>
              <a:rPr b="0" sz="1100">
                <a:solidFill>
                  <a:srgbClr val="1E293B"/>
                </a:solidFill>
                <a:latin typeface="Segoe UI"/>
              </a:rPr>
              <a:t>Hệ thống BẮT BUỘC phải tích chọn đủ 100% các mục hồ sơ kiểm tra mới cho phép chuyển sang trạng thái 'Đã xong' (Xanh).</a:t>
            </a:r>
          </a:p>
          <a:p>
            <a:pPr>
              <a:spcAft>
                <a:spcPts val="1400"/>
              </a:spcAft>
              <a:defRPr b="1" sz="1100">
                <a:solidFill>
                  <a:srgbClr val="1E293B"/>
                </a:solidFill>
                <a:latin typeface="Segoe UI"/>
              </a:defRPr>
            </a:pPr>
            <a:r>
              <a:t>• Chống gian lận &amp; Nhảy màu: </a:t>
            </a:r>
            <a:r>
              <a:rPr b="0" sz="1100">
                <a:solidFill>
                  <a:srgbClr val="1E293B"/>
                </a:solidFill>
                <a:latin typeface="Segoe UI"/>
              </a:rPr>
              <a:t>Nếu chưa tích đủ checklist, hệ thống sẽ hiển thị cảnh báo đỏ và tự động chặn thao tác để đảm bảo tính pháp lý của Đại hội.</a:t>
            </a:r>
          </a:p>
        </p:txBody>
      </p:sp>
      <p:sp>
        <p:nvSpPr>
          <p:cNvPr id="10" name="Rounded Rectangle 9"/>
          <p:cNvSpPr/>
          <p:nvPr/>
        </p:nvSpPr>
        <p:spPr>
          <a:xfrm>
            <a:off x="6492240" y="1280160"/>
            <a:ext cx="493776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1417320"/>
            <a:ext cx="4572000" cy="365760"/>
          </a:xfrm>
          <a:prstGeom prst="rect">
            <a:avLst/>
          </a:prstGeom>
          <a:noFill/>
        </p:spPr>
        <p:txBody>
          <a:bodyPr wrap="square" lIns="0" tIns="0" bIns="0" rIns="0">
            <a:spAutoFit/>
          </a:bodyPr>
          <a:lstStyle/>
          <a:p>
            <a:pPr>
              <a:defRPr sz="1300" b="1">
                <a:solidFill>
                  <a:srgbClr val="0F172A"/>
                </a:solidFill>
                <a:latin typeface="Segoe UI"/>
              </a:defRPr>
            </a:pPr>
            <a:r>
              <a:t>Minh họa Thẻ Chi tiết Lớp học &amp; Checklist</a:t>
            </a:r>
          </a:p>
        </p:txBody>
      </p:sp>
      <p:pic>
        <p:nvPicPr>
          <p:cNvPr id="12" name="Picture 11" descr="media_1791980705711_cf092d8d.png"/>
          <p:cNvPicPr>
            <a:picLocks noChangeAspect="1"/>
          </p:cNvPicPr>
          <p:nvPr/>
        </p:nvPicPr>
        <p:blipFill>
          <a:blip r:embed="rId2"/>
          <a:stretch>
            <a:fillRect/>
          </a:stretch>
        </p:blipFill>
        <p:spPr>
          <a:xfrm>
            <a:off x="6675120" y="2011680"/>
            <a:ext cx="4572000" cy="216991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rIns="731520" bIns="0"/>
          <a:lstStyle/>
          <a:p>
            <a:pPr algn="ctr">
              <a:defRPr sz="1000" b="1">
                <a:solidFill>
                  <a:srgbClr val="FEE2E2"/>
                </a:solidFill>
                <a:latin typeface="Segoe UI"/>
              </a:defRPr>
            </a:pPr>
            <a:r>
              <a:t>HƯỚNG DẪN VẬN HÀNH HỆ THỐNG</a:t>
            </a:r>
          </a:p>
          <a:p>
            <a:pPr>
              <a:defRPr sz="2000" b="1">
                <a:solidFill>
                  <a:srgbClr val="FFFFFF"/>
                </a:solidFill>
                <a:latin typeface="Segoe UI"/>
              </a:defRPr>
            </a:pPr>
            <a:r>
              <a:t>NGHIỆP VỤ CÁN BỘ TRỰC LỚP: ĐIỂM DANH &amp; KIỂM SOÁT SĨ SỐ 2/3</a:t>
            </a:r>
          </a:p>
        </p:txBody>
      </p:sp>
      <p:sp>
        <p:nvSpPr>
          <p:cNvPr id="3" name="Rectangle 2"/>
          <p:cNvSpPr/>
          <p:nvPr/>
        </p:nvSpPr>
        <p:spPr>
          <a:xfrm>
            <a:off x="0" y="1005840"/>
            <a:ext cx="12191695" cy="4572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73952"/>
            <a:ext cx="82296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event-tracker-pied.vercel.app</a:t>
            </a:r>
          </a:p>
        </p:txBody>
      </p:sp>
      <p:sp>
        <p:nvSpPr>
          <p:cNvPr id="6" name="TextBox 5"/>
          <p:cNvSpPr txBox="1"/>
          <p:nvPr/>
        </p:nvSpPr>
        <p:spPr>
          <a:xfrm>
            <a:off x="10515600" y="6473952"/>
            <a:ext cx="914400" cy="320040"/>
          </a:xfrm>
          <a:prstGeom prst="rect">
            <a:avLst/>
          </a:prstGeom>
          <a:noFill/>
        </p:spPr>
        <p:txBody>
          <a:bodyPr wrap="none" lIns="0" tIns="0" bIns="0" rIns="0">
            <a:spAutoFit/>
          </a:bodyPr>
          <a:lstStyle/>
          <a:p>
            <a:pPr algn="r">
              <a:defRPr sz="900" b="1">
                <a:solidFill>
                  <a:srgbClr val="FFFFFF"/>
                </a:solidFill>
                <a:latin typeface="Segoe UI"/>
              </a:defRPr>
            </a:pPr>
            <a:r>
              <a:t>8 / 14</a:t>
            </a:r>
          </a:p>
        </p:txBody>
      </p:sp>
      <p:sp>
        <p:nvSpPr>
          <p:cNvPr id="7" name="Rounded Rectangle 6"/>
          <p:cNvSpPr/>
          <p:nvPr/>
        </p:nvSpPr>
        <p:spPr>
          <a:xfrm>
            <a:off x="731520" y="1280160"/>
            <a:ext cx="530352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17320"/>
            <a:ext cx="4937760" cy="365760"/>
          </a:xfrm>
          <a:prstGeom prst="rect">
            <a:avLst/>
          </a:prstGeom>
          <a:noFill/>
        </p:spPr>
        <p:txBody>
          <a:bodyPr wrap="square" lIns="0" tIns="0" bIns="0" rIns="0">
            <a:spAutoFit/>
          </a:bodyPr>
          <a:lstStyle/>
          <a:p>
            <a:pPr>
              <a:defRPr sz="1300" b="1">
                <a:solidFill>
                  <a:srgbClr val="0F172A"/>
                </a:solidFill>
                <a:latin typeface="Segoe UI"/>
              </a:defRPr>
            </a:pPr>
            <a:r>
              <a:t>Quy định Pháp lý về Sĩ số Đại hội</a:t>
            </a:r>
          </a:p>
        </p:txBody>
      </p:sp>
      <p:sp>
        <p:nvSpPr>
          <p:cNvPr id="9" name="TextBox 8"/>
          <p:cNvSpPr txBox="1"/>
          <p:nvPr/>
        </p:nvSpPr>
        <p:spPr>
          <a:xfrm>
            <a:off x="1005840" y="1828800"/>
            <a:ext cx="4754880" cy="4114800"/>
          </a:xfrm>
          <a:prstGeom prst="rect">
            <a:avLst/>
          </a:prstGeom>
          <a:noFill/>
        </p:spPr>
        <p:txBody>
          <a:bodyPr wrap="square" lIns="0" tIns="0" bIns="0" rIns="0">
            <a:spAutoFit/>
          </a:bodyPr>
          <a:lstStyle/>
          <a:p>
            <a:pPr>
              <a:spcAft>
                <a:spcPts val="1200"/>
              </a:spcAft>
              <a:defRPr b="1" sz="1100">
                <a:solidFill>
                  <a:srgbClr val="1E293B"/>
                </a:solidFill>
                <a:latin typeface="Segoe UI"/>
              </a:defRPr>
            </a:pPr>
            <a:r>
              <a:t>• Quy định Điều lệ Đoàn: </a:t>
            </a:r>
            <a:r>
              <a:rPr b="0" sz="1100">
                <a:solidFill>
                  <a:srgbClr val="1E293B"/>
                </a:solidFill>
                <a:latin typeface="Segoe UI"/>
              </a:rPr>
              <a:t>Đại hội Chi đoàn chỉ có giá trị pháp lý khi có ít nhất 2/3 tổng số đoàn viên được triệu tập có mặt tham dự.</a:t>
            </a:r>
          </a:p>
          <a:p>
            <a:pPr>
              <a:spcAft>
                <a:spcPts val="1200"/>
              </a:spcAft>
              <a:defRPr b="1" sz="1100">
                <a:solidFill>
                  <a:srgbClr val="1E293B"/>
                </a:solidFill>
                <a:latin typeface="Segoe UI"/>
              </a:defRPr>
            </a:pPr>
            <a:r>
              <a:t>• Cơ chế Tính toán Tự động: </a:t>
            </a:r>
            <a:r>
              <a:rPr b="0" sz="1100">
                <a:solidFill>
                  <a:srgbClr val="1E293B"/>
                </a:solidFill>
                <a:latin typeface="Segoe UI"/>
              </a:rPr>
              <a:t>Cán bộ nhập: [Số có mặt] và [Tổng số đoàn viên]. Hệ thống tự động tính tỷ lệ % và kiểm tra điều kiện &gt;= 66.7%.</a:t>
            </a:r>
          </a:p>
          <a:p>
            <a:pPr>
              <a:spcAft>
                <a:spcPts val="1200"/>
              </a:spcAft>
              <a:defRPr b="1" sz="1100">
                <a:solidFill>
                  <a:srgbClr val="1E293B"/>
                </a:solidFill>
                <a:latin typeface="Segoe UI"/>
              </a:defRPr>
            </a:pPr>
            <a:r>
              <a:t>• Huy hiệu Nhận diện Thông minh: </a:t>
            </a:r>
            <a:r>
              <a:rPr b="0" sz="1100">
                <a:solidFill>
                  <a:srgbClr val="1E293B"/>
                </a:solidFill>
                <a:latin typeface="Segoe UI"/>
              </a:rPr>
              <a:t>• Màu Xanh lá: 'Đủ 2/3 (X/Y)' -&gt; Hợp lệ
• Màu Đỏ: 'Chưa đủ 2/3 (X/Y)' -&gt; Cảnh báo</a:t>
            </a:r>
          </a:p>
          <a:p>
            <a:pPr>
              <a:spcAft>
                <a:spcPts val="1200"/>
              </a:spcAft>
              <a:defRPr b="1" sz="1100">
                <a:solidFill>
                  <a:srgbClr val="1E293B"/>
                </a:solidFill>
                <a:latin typeface="Segoe UI"/>
              </a:defRPr>
            </a:pPr>
            <a:r>
              <a:t>• Khóa Chặn Nghiệp vụ: </a:t>
            </a:r>
            <a:r>
              <a:rPr b="0" sz="1100">
                <a:solidFill>
                  <a:srgbClr val="1E293B"/>
                </a:solidFill>
                <a:latin typeface="Segoe UI"/>
              </a:rPr>
              <a:t>Nếu chưa đạt 2/3 sĩ số, hệ thống sẽ KHÔNG cho phép chuyển sang 'Đang tiến hành' hoặc 'Đã xong' trừ khi có quyết định hoãn/hủy đại hội từ cấp trên.</a:t>
            </a:r>
          </a:p>
        </p:txBody>
      </p:sp>
      <p:sp>
        <p:nvSpPr>
          <p:cNvPr id="10" name="Rounded Rectangle 9"/>
          <p:cNvSpPr/>
          <p:nvPr/>
        </p:nvSpPr>
        <p:spPr>
          <a:xfrm>
            <a:off x="6309360" y="1280160"/>
            <a:ext cx="512064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417320"/>
            <a:ext cx="4754880" cy="365760"/>
          </a:xfrm>
          <a:prstGeom prst="rect">
            <a:avLst/>
          </a:prstGeom>
          <a:noFill/>
        </p:spPr>
        <p:txBody>
          <a:bodyPr wrap="square" lIns="0" tIns="0" bIns="0" rIns="0">
            <a:spAutoFit/>
          </a:bodyPr>
          <a:lstStyle/>
          <a:p>
            <a:pPr>
              <a:defRPr sz="1300" b="1">
                <a:solidFill>
                  <a:srgbClr val="0F172A"/>
                </a:solidFill>
                <a:latin typeface="Segoe UI"/>
              </a:defRPr>
            </a:pPr>
            <a:r>
              <a:t>Minh họa Nhập sĩ số &amp; Tính toán Tự động</a:t>
            </a:r>
          </a:p>
        </p:txBody>
      </p:sp>
      <p:pic>
        <p:nvPicPr>
          <p:cNvPr id="12" name="Picture 11" descr="media_1791977382994_018f2f03.png"/>
          <p:cNvPicPr>
            <a:picLocks noChangeAspect="1"/>
          </p:cNvPicPr>
          <p:nvPr/>
        </p:nvPicPr>
        <p:blipFill>
          <a:blip r:embed="rId2"/>
          <a:stretch>
            <a:fillRect/>
          </a:stretch>
        </p:blipFill>
        <p:spPr>
          <a:xfrm>
            <a:off x="6492240" y="1828800"/>
            <a:ext cx="4754880" cy="432304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rIns="731520" bIns="0"/>
          <a:lstStyle/>
          <a:p>
            <a:pPr algn="ctr">
              <a:defRPr sz="1000" b="1">
                <a:solidFill>
                  <a:srgbClr val="FEE2E2"/>
                </a:solidFill>
                <a:latin typeface="Segoe UI"/>
              </a:defRPr>
            </a:pPr>
            <a:r>
              <a:t>HƯỚNG DẪN VẬN HÀNH HỆ THỐNG</a:t>
            </a:r>
          </a:p>
          <a:p>
            <a:pPr>
              <a:defRPr sz="2000" b="1">
                <a:solidFill>
                  <a:srgbClr val="FFFFFF"/>
                </a:solidFill>
                <a:latin typeface="Segoe UI"/>
              </a:defRPr>
            </a:pPr>
            <a:r>
              <a:t>QUY TRÌNH THAO TÁC: LƯU TIẾN ĐỘ &amp; KHÓA HỒ SƠ LỚP HỌC</a:t>
            </a:r>
          </a:p>
        </p:txBody>
      </p:sp>
      <p:sp>
        <p:nvSpPr>
          <p:cNvPr id="3" name="Rectangle 2"/>
          <p:cNvSpPr/>
          <p:nvPr/>
        </p:nvSpPr>
        <p:spPr>
          <a:xfrm>
            <a:off x="0" y="1005840"/>
            <a:ext cx="12191695" cy="4572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73952"/>
            <a:ext cx="82296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event-tracker-pied.vercel.app</a:t>
            </a:r>
          </a:p>
        </p:txBody>
      </p:sp>
      <p:sp>
        <p:nvSpPr>
          <p:cNvPr id="6" name="TextBox 5"/>
          <p:cNvSpPr txBox="1"/>
          <p:nvPr/>
        </p:nvSpPr>
        <p:spPr>
          <a:xfrm>
            <a:off x="10515600" y="6473952"/>
            <a:ext cx="914400" cy="320040"/>
          </a:xfrm>
          <a:prstGeom prst="rect">
            <a:avLst/>
          </a:prstGeom>
          <a:noFill/>
        </p:spPr>
        <p:txBody>
          <a:bodyPr wrap="none" lIns="0" tIns="0" bIns="0" rIns="0">
            <a:spAutoFit/>
          </a:bodyPr>
          <a:lstStyle/>
          <a:p>
            <a:pPr algn="r">
              <a:defRPr sz="900" b="1">
                <a:solidFill>
                  <a:srgbClr val="FFFFFF"/>
                </a:solidFill>
                <a:latin typeface="Segoe UI"/>
              </a:defRPr>
            </a:pPr>
            <a:r>
              <a:t>9 / 14</a:t>
            </a:r>
          </a:p>
        </p:txBody>
      </p:sp>
      <p:sp>
        <p:nvSpPr>
          <p:cNvPr id="7" name="Rounded Rectangle 6"/>
          <p:cNvSpPr/>
          <p:nvPr/>
        </p:nvSpPr>
        <p:spPr>
          <a:xfrm>
            <a:off x="731520" y="1280160"/>
            <a:ext cx="530352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17320"/>
            <a:ext cx="4937760" cy="365760"/>
          </a:xfrm>
          <a:prstGeom prst="rect">
            <a:avLst/>
          </a:prstGeom>
          <a:noFill/>
        </p:spPr>
        <p:txBody>
          <a:bodyPr wrap="square" lIns="0" tIns="0" bIns="0" rIns="0">
            <a:spAutoFit/>
          </a:bodyPr>
          <a:lstStyle/>
          <a:p>
            <a:pPr>
              <a:defRPr sz="1300" b="1">
                <a:solidFill>
                  <a:srgbClr val="0F172A"/>
                </a:solidFill>
                <a:latin typeface="Segoe UI"/>
              </a:defRPr>
            </a:pPr>
            <a:r>
              <a:t>Phân biệt Nút 'LƯU' và Nút 'KHÓA'</a:t>
            </a:r>
          </a:p>
        </p:txBody>
      </p:sp>
      <p:sp>
        <p:nvSpPr>
          <p:cNvPr id="9" name="TextBox 8"/>
          <p:cNvSpPr txBox="1"/>
          <p:nvPr/>
        </p:nvSpPr>
        <p:spPr>
          <a:xfrm>
            <a:off x="1005840" y="1828800"/>
            <a:ext cx="4754880" cy="4114800"/>
          </a:xfrm>
          <a:prstGeom prst="rect">
            <a:avLst/>
          </a:prstGeom>
          <a:noFill/>
        </p:spPr>
        <p:txBody>
          <a:bodyPr wrap="square" lIns="0" tIns="0" bIns="0" rIns="0">
            <a:spAutoFit/>
          </a:bodyPr>
          <a:lstStyle/>
          <a:p>
            <a:pPr>
              <a:spcAft>
                <a:spcPts val="1200"/>
              </a:spcAft>
              <a:defRPr b="1" sz="1100">
                <a:solidFill>
                  <a:srgbClr val="1E293B"/>
                </a:solidFill>
                <a:latin typeface="Segoe UI"/>
              </a:defRPr>
            </a:pPr>
            <a:r>
              <a:t>• Nút LƯU (Save): </a:t>
            </a:r>
            <a:r>
              <a:rPr b="0" sz="1100">
                <a:solidFill>
                  <a:srgbClr val="1E293B"/>
                </a:solidFill>
                <a:latin typeface="Segoe UI"/>
              </a:rPr>
              <a:t>Dùng trong suốt quá trình đại hội diễn ra. Lưu tạm thời sĩ số, các mục checklist đã kiểm tra và ghi chú kiểm tra. Cán bộ vẫn có thể tiếp tục chỉnh sửa bất kỳ lúc nào.</a:t>
            </a:r>
          </a:p>
          <a:p>
            <a:pPr>
              <a:spcAft>
                <a:spcPts val="1200"/>
              </a:spcAft>
              <a:defRPr b="1" sz="1100">
                <a:solidFill>
                  <a:srgbClr val="1E293B"/>
                </a:solidFill>
                <a:latin typeface="Segoe UI"/>
              </a:defRPr>
            </a:pPr>
            <a:r>
              <a:t>• Nút KHÓA (Lock): </a:t>
            </a:r>
            <a:r>
              <a:rPr b="0" sz="1100">
                <a:solidFill>
                  <a:srgbClr val="1E293B"/>
                </a:solidFill>
                <a:latin typeface="Segoe UI"/>
              </a:rPr>
              <a:t>Bắt buộc bấm khi ĐẠI HỘI KẾT THÚC VÀ ĐÃ HOÀN TẤT HỒ SƠ. Khi bấm Khóa, hộp thoại cảnh báo sẽ yêu cầu xác nhận.</a:t>
            </a:r>
          </a:p>
          <a:p>
            <a:pPr>
              <a:spcAft>
                <a:spcPts val="1200"/>
              </a:spcAft>
              <a:defRPr b="1" sz="1100">
                <a:solidFill>
                  <a:srgbClr val="1E293B"/>
                </a:solidFill>
                <a:latin typeface="Segoe UI"/>
              </a:defRPr>
            </a:pPr>
            <a:r>
              <a:t>• Hậu quả sau khi Khóa: </a:t>
            </a:r>
            <a:r>
              <a:rPr b="0" sz="1100">
                <a:solidFill>
                  <a:srgbClr val="1E293B"/>
                </a:solidFill>
                <a:latin typeface="Segoe UI"/>
              </a:rPr>
              <a:t>Toàn bộ checklist giấy tờ và số liệu sĩ số sẽ bị ĐÓNG BĂNG. Cán bộ trực lớp KHÔNG THỂ tự ý chỉnh sửa.</a:t>
            </a:r>
          </a:p>
          <a:p>
            <a:pPr>
              <a:spcAft>
                <a:spcPts val="1200"/>
              </a:spcAft>
              <a:defRPr b="1" sz="1100">
                <a:solidFill>
                  <a:srgbClr val="1E293B"/>
                </a:solidFill>
                <a:latin typeface="Segoe UI"/>
              </a:defRPr>
            </a:pPr>
            <a:r>
              <a:t>• Quy trình Mở khóa (Unlock): </a:t>
            </a:r>
            <a:r>
              <a:rPr b="0" sz="1100">
                <a:solidFill>
                  <a:srgbClr val="1E293B"/>
                </a:solidFill>
                <a:latin typeface="Segoe UI"/>
              </a:rPr>
              <a:t>Nếu có sai sót cần bổ sung, cán bộ trực lớp phải báo cáo Phụ trách Tầng / Phụ trách Tòa nhà / Admin để cấp trên bấm nút 'Mở khóa'.</a:t>
            </a:r>
          </a:p>
        </p:txBody>
      </p:sp>
      <p:sp>
        <p:nvSpPr>
          <p:cNvPr id="10" name="Rounded Rectangle 9"/>
          <p:cNvSpPr/>
          <p:nvPr/>
        </p:nvSpPr>
        <p:spPr>
          <a:xfrm>
            <a:off x="6309360" y="1280160"/>
            <a:ext cx="5120640"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417320"/>
            <a:ext cx="4754880" cy="365760"/>
          </a:xfrm>
          <a:prstGeom prst="rect">
            <a:avLst/>
          </a:prstGeom>
          <a:noFill/>
        </p:spPr>
        <p:txBody>
          <a:bodyPr wrap="square" lIns="0" tIns="0" bIns="0" rIns="0">
            <a:spAutoFit/>
          </a:bodyPr>
          <a:lstStyle/>
          <a:p>
            <a:pPr>
              <a:defRPr sz="1300" b="1">
                <a:solidFill>
                  <a:srgbClr val="0F172A"/>
                </a:solidFill>
                <a:latin typeface="Segoe UI"/>
              </a:defRPr>
            </a:pPr>
            <a:r>
              <a:t>Hộp thoại Xác nhận Khóa Lớp</a:t>
            </a:r>
          </a:p>
        </p:txBody>
      </p:sp>
      <p:pic>
        <p:nvPicPr>
          <p:cNvPr id="12" name="Picture 11" descr="lock_confirm_modal.png"/>
          <p:cNvPicPr>
            <a:picLocks noChangeAspect="1"/>
          </p:cNvPicPr>
          <p:nvPr/>
        </p:nvPicPr>
        <p:blipFill>
          <a:blip r:embed="rId2"/>
          <a:stretch>
            <a:fillRect/>
          </a:stretch>
        </p:blipFill>
        <p:spPr>
          <a:xfrm>
            <a:off x="6492240" y="1737360"/>
            <a:ext cx="1122729" cy="1645920"/>
          </a:xfrm>
          <a:prstGeom prst="rect">
            <a:avLst/>
          </a:prstGeom>
        </p:spPr>
      </p:pic>
      <p:sp>
        <p:nvSpPr>
          <p:cNvPr id="13" name="Rounded Rectangle 12"/>
          <p:cNvSpPr/>
          <p:nvPr/>
        </p:nvSpPr>
        <p:spPr>
          <a:xfrm>
            <a:off x="6309360" y="3749039"/>
            <a:ext cx="5120640" cy="23774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3886199"/>
            <a:ext cx="4754880" cy="365760"/>
          </a:xfrm>
          <a:prstGeom prst="rect">
            <a:avLst/>
          </a:prstGeom>
          <a:noFill/>
        </p:spPr>
        <p:txBody>
          <a:bodyPr wrap="square" lIns="0" tIns="0" bIns="0" rIns="0">
            <a:spAutoFit/>
          </a:bodyPr>
          <a:lstStyle/>
          <a:p>
            <a:pPr>
              <a:defRPr sz="1300" b="1">
                <a:solidFill>
                  <a:srgbClr val="0F172A"/>
                </a:solidFill>
                <a:latin typeface="Segoe UI"/>
              </a:defRPr>
            </a:pPr>
            <a:r>
              <a:t>Thẻ Lớp đã Khóa &amp; Nút Mở khóa Cấp trên</a:t>
            </a:r>
          </a:p>
        </p:txBody>
      </p:sp>
      <p:pic>
        <p:nvPicPr>
          <p:cNvPr id="15" name="Picture 14" descr="lock_banner_and_unlock_btn.png"/>
          <p:cNvPicPr>
            <a:picLocks noChangeAspect="1"/>
          </p:cNvPicPr>
          <p:nvPr/>
        </p:nvPicPr>
        <p:blipFill>
          <a:blip r:embed="rId3"/>
          <a:stretch>
            <a:fillRect/>
          </a:stretch>
        </p:blipFill>
        <p:spPr>
          <a:xfrm>
            <a:off x="6492240" y="4206240"/>
            <a:ext cx="4754880" cy="2085213"/>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rIns="731520" bIns="0"/>
          <a:lstStyle/>
          <a:p>
            <a:pPr algn="ctr">
              <a:defRPr sz="1000" b="1">
                <a:solidFill>
                  <a:srgbClr val="FEE2E2"/>
                </a:solidFill>
                <a:latin typeface="Segoe UI"/>
              </a:defRPr>
            </a:pPr>
            <a:r>
              <a:t>HƯỚNG DẪN VẬN HÀNH HỆ THỐNG</a:t>
            </a:r>
          </a:p>
          <a:p>
            <a:pPr>
              <a:defRPr sz="2000" b="1">
                <a:solidFill>
                  <a:srgbClr val="FFFFFF"/>
                </a:solidFill>
                <a:latin typeface="Segoe UI"/>
              </a:defRPr>
            </a:pPr>
            <a:r>
              <a:t>XỬ LÝ TÌNH HUỐNG: CHUYỂN TRẠNG THÁI HỦY ĐẠI HỘI (CANCELLED)</a:t>
            </a:r>
          </a:p>
        </p:txBody>
      </p:sp>
      <p:sp>
        <p:nvSpPr>
          <p:cNvPr id="3" name="Rectangle 2"/>
          <p:cNvSpPr/>
          <p:nvPr/>
        </p:nvSpPr>
        <p:spPr>
          <a:xfrm>
            <a:off x="0" y="1005840"/>
            <a:ext cx="12191695" cy="4572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73952"/>
            <a:ext cx="82296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event-tracker-pied.vercel.app</a:t>
            </a:r>
          </a:p>
        </p:txBody>
      </p:sp>
      <p:sp>
        <p:nvSpPr>
          <p:cNvPr id="6" name="TextBox 5"/>
          <p:cNvSpPr txBox="1"/>
          <p:nvPr/>
        </p:nvSpPr>
        <p:spPr>
          <a:xfrm>
            <a:off x="10515600" y="6473952"/>
            <a:ext cx="914400" cy="320040"/>
          </a:xfrm>
          <a:prstGeom prst="rect">
            <a:avLst/>
          </a:prstGeom>
          <a:noFill/>
        </p:spPr>
        <p:txBody>
          <a:bodyPr wrap="none" lIns="0" tIns="0" bIns="0" rIns="0">
            <a:spAutoFit/>
          </a:bodyPr>
          <a:lstStyle/>
          <a:p>
            <a:pPr algn="r">
              <a:defRPr sz="900" b="1">
                <a:solidFill>
                  <a:srgbClr val="FFFFFF"/>
                </a:solidFill>
                <a:latin typeface="Segoe UI"/>
              </a:defRPr>
            </a:pPr>
            <a:r>
              <a:t>10 / 14</a:t>
            </a:r>
          </a:p>
        </p:txBody>
      </p:sp>
      <p:sp>
        <p:nvSpPr>
          <p:cNvPr id="7" name="Rounded Rectangle 6"/>
          <p:cNvSpPr/>
          <p:nvPr/>
        </p:nvSpPr>
        <p:spPr>
          <a:xfrm>
            <a:off x="731520" y="1280160"/>
            <a:ext cx="530352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17320"/>
            <a:ext cx="4937760" cy="365760"/>
          </a:xfrm>
          <a:prstGeom prst="rect">
            <a:avLst/>
          </a:prstGeom>
          <a:noFill/>
        </p:spPr>
        <p:txBody>
          <a:bodyPr wrap="square" lIns="0" tIns="0" bIns="0" rIns="0">
            <a:spAutoFit/>
          </a:bodyPr>
          <a:lstStyle/>
          <a:p>
            <a:pPr>
              <a:defRPr sz="1300" b="1">
                <a:solidFill>
                  <a:srgbClr val="0F172A"/>
                </a:solidFill>
                <a:latin typeface="Segoe UI"/>
              </a:defRPr>
            </a:pPr>
            <a:r>
              <a:t>Quy định &amp; Thủ tục Hủy Đại hội</a:t>
            </a:r>
          </a:p>
        </p:txBody>
      </p:sp>
      <p:sp>
        <p:nvSpPr>
          <p:cNvPr id="9" name="TextBox 8"/>
          <p:cNvSpPr txBox="1"/>
          <p:nvPr/>
        </p:nvSpPr>
        <p:spPr>
          <a:xfrm>
            <a:off x="1005840" y="1828800"/>
            <a:ext cx="4754880" cy="4114800"/>
          </a:xfrm>
          <a:prstGeom prst="rect">
            <a:avLst/>
          </a:prstGeom>
          <a:noFill/>
        </p:spPr>
        <p:txBody>
          <a:bodyPr wrap="square" lIns="0" tIns="0" bIns="0" rIns="0">
            <a:spAutoFit/>
          </a:bodyPr>
          <a:lstStyle/>
          <a:p>
            <a:pPr>
              <a:spcAft>
                <a:spcPts val="1200"/>
              </a:spcAft>
              <a:defRPr b="1" sz="1100">
                <a:solidFill>
                  <a:srgbClr val="1E293B"/>
                </a:solidFill>
                <a:latin typeface="Segoe UI"/>
              </a:defRPr>
            </a:pPr>
            <a:r>
              <a:t>• Các Trường hợp Buộc phải Hủy: </a:t>
            </a:r>
            <a:r>
              <a:rPr b="0" sz="1100">
                <a:solidFill>
                  <a:srgbClr val="1E293B"/>
                </a:solidFill>
                <a:latin typeface="Segoe UI"/>
              </a:rPr>
              <a:t>• Không đạt tối thiểu 2/3 sĩ số đoàn viên sau 30 phút chờ.
• Chi đoàn không chuẩn bị được văn kiện/đề án nhân sự.
• Phát sinh sự cố khách quan không thể tổ chức tiếp.</a:t>
            </a:r>
          </a:p>
          <a:p>
            <a:pPr>
              <a:spcAft>
                <a:spcPts val="1200"/>
              </a:spcAft>
              <a:defRPr b="1" sz="1100">
                <a:solidFill>
                  <a:srgbClr val="1E293B"/>
                </a:solidFill>
                <a:latin typeface="Segoe UI"/>
              </a:defRPr>
            </a:pPr>
            <a:r>
              <a:t>• Quy định Bắt buộc Lý do: </a:t>
            </a:r>
            <a:r>
              <a:rPr b="0" sz="1100">
                <a:solidFill>
                  <a:srgbClr val="1E293B"/>
                </a:solidFill>
                <a:latin typeface="Segoe UI"/>
              </a:rPr>
              <a:t>Khi chọn trạng thái 'Hủy đại hội', hệ thống sẽ TỰ ĐỘNG BẬT HỘP THOẠI YÊU CẦU NHẬP LÝ DO HỦY. Nếu để trống, hệ thống sẽ chặn và không cho phép lưu.</a:t>
            </a:r>
          </a:p>
          <a:p>
            <a:pPr>
              <a:spcAft>
                <a:spcPts val="1200"/>
              </a:spcAft>
              <a:defRPr b="1" sz="1100">
                <a:solidFill>
                  <a:srgbClr val="1E293B"/>
                </a:solidFill>
                <a:latin typeface="Segoe UI"/>
              </a:defRPr>
            </a:pPr>
            <a:r>
              <a:t>• Tự động Đồng bộ vào Ghi chú: </a:t>
            </a:r>
            <a:r>
              <a:rPr b="0" sz="1100">
                <a:solidFill>
                  <a:srgbClr val="1E293B"/>
                </a:solidFill>
                <a:latin typeface="Segoe UI"/>
              </a:rPr>
              <a:t>Lý do hủy sẽ được ghi nhận vào phần Ghi chú kiểm tra (Note) và lưu vào Nhật ký hoạt động (Audit Logs) để Ban Thường vụ kiểm tra.</a:t>
            </a:r>
          </a:p>
          <a:p>
            <a:pPr>
              <a:spcAft>
                <a:spcPts val="1200"/>
              </a:spcAft>
              <a:defRPr b="1" sz="1100">
                <a:solidFill>
                  <a:srgbClr val="1E293B"/>
                </a:solidFill>
                <a:latin typeface="Segoe UI"/>
              </a:defRPr>
            </a:pPr>
            <a:r>
              <a:t>• Hiển thị Nhận diện: </a:t>
            </a:r>
            <a:r>
              <a:rPr b="0" sz="1100">
                <a:solidFill>
                  <a:srgbClr val="1E293B"/>
                </a:solidFill>
                <a:latin typeface="Segoe UI"/>
              </a:rPr>
              <a:t>Thẻ phòng chuyển sang màu Tím với huy hiệu 'HỦY ĐẠI HỘI' nổi bật trên bảng theo dõi toàn trường.</a:t>
            </a:r>
          </a:p>
        </p:txBody>
      </p:sp>
      <p:sp>
        <p:nvSpPr>
          <p:cNvPr id="10" name="Rounded Rectangle 9"/>
          <p:cNvSpPr/>
          <p:nvPr/>
        </p:nvSpPr>
        <p:spPr>
          <a:xfrm>
            <a:off x="6309360" y="1280160"/>
            <a:ext cx="5120640"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417320"/>
            <a:ext cx="4754880" cy="365760"/>
          </a:xfrm>
          <a:prstGeom prst="rect">
            <a:avLst/>
          </a:prstGeom>
          <a:noFill/>
        </p:spPr>
        <p:txBody>
          <a:bodyPr wrap="square" lIns="0" tIns="0" bIns="0" rIns="0">
            <a:spAutoFit/>
          </a:bodyPr>
          <a:lstStyle/>
          <a:p>
            <a:pPr>
              <a:defRPr sz="1300" b="1">
                <a:solidFill>
                  <a:srgbClr val="0F172A"/>
                </a:solidFill>
                <a:latin typeface="Segoe UI"/>
              </a:defRPr>
            </a:pPr>
            <a:r>
              <a:t>Hộp thoại Bắt buộc Nhập Lý do Hủy</a:t>
            </a:r>
          </a:p>
        </p:txBody>
      </p:sp>
      <p:pic>
        <p:nvPicPr>
          <p:cNvPr id="12" name="Picture 11" descr="cancel_prompt_modal.png"/>
          <p:cNvPicPr>
            <a:picLocks noChangeAspect="1"/>
          </p:cNvPicPr>
          <p:nvPr/>
        </p:nvPicPr>
        <p:blipFill>
          <a:blip r:embed="rId2"/>
          <a:stretch>
            <a:fillRect/>
          </a:stretch>
        </p:blipFill>
        <p:spPr>
          <a:xfrm>
            <a:off x="6492240" y="1737360"/>
            <a:ext cx="1122729" cy="1645920"/>
          </a:xfrm>
          <a:prstGeom prst="rect">
            <a:avLst/>
          </a:prstGeom>
        </p:spPr>
      </p:pic>
      <p:sp>
        <p:nvSpPr>
          <p:cNvPr id="13" name="Rounded Rectangle 12"/>
          <p:cNvSpPr/>
          <p:nvPr/>
        </p:nvSpPr>
        <p:spPr>
          <a:xfrm>
            <a:off x="6309360" y="3749039"/>
            <a:ext cx="5120640" cy="23774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3886199"/>
            <a:ext cx="4754880" cy="365760"/>
          </a:xfrm>
          <a:prstGeom prst="rect">
            <a:avLst/>
          </a:prstGeom>
          <a:noFill/>
        </p:spPr>
        <p:txBody>
          <a:bodyPr wrap="square" lIns="0" tIns="0" bIns="0" rIns="0">
            <a:spAutoFit/>
          </a:bodyPr>
          <a:lstStyle/>
          <a:p>
            <a:pPr>
              <a:defRPr sz="1300" b="1">
                <a:solidFill>
                  <a:srgbClr val="0F172A"/>
                </a:solidFill>
                <a:latin typeface="Segoe UI"/>
              </a:defRPr>
            </a:pPr>
            <a:r>
              <a:t>Thẻ Lớp Hủy Đại hội kèm Lý do chi tiết</a:t>
            </a:r>
          </a:p>
        </p:txBody>
      </p:sp>
      <p:pic>
        <p:nvPicPr>
          <p:cNvPr id="15" name="Picture 14" descr="cancelled_and_locked_card.png"/>
          <p:cNvPicPr>
            <a:picLocks noChangeAspect="1"/>
          </p:cNvPicPr>
          <p:nvPr/>
        </p:nvPicPr>
        <p:blipFill>
          <a:blip r:embed="rId3"/>
          <a:stretch>
            <a:fillRect/>
          </a:stretch>
        </p:blipFill>
        <p:spPr>
          <a:xfrm>
            <a:off x="6492240" y="4206240"/>
            <a:ext cx="4754880" cy="2085213"/>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rIns="731520" bIns="0"/>
          <a:lstStyle/>
          <a:p>
            <a:pPr algn="ctr">
              <a:defRPr sz="1000" b="1">
                <a:solidFill>
                  <a:srgbClr val="FEE2E2"/>
                </a:solidFill>
                <a:latin typeface="Segoe UI"/>
              </a:defRPr>
            </a:pPr>
            <a:r>
              <a:t>HƯỚNG DẪN VẬN HÀNH HỆ THỐNG</a:t>
            </a:r>
          </a:p>
          <a:p>
            <a:pPr>
              <a:defRPr sz="2000" b="1">
                <a:solidFill>
                  <a:srgbClr val="FFFFFF"/>
                </a:solidFill>
                <a:latin typeface="Segoe UI"/>
              </a:defRPr>
            </a:pPr>
            <a:r>
              <a:t>TRUNG TÂM THÔNG BÁO HỆ THỐNG &amp; CẢNH BÁO KHẨN CẤP</a:t>
            </a:r>
          </a:p>
        </p:txBody>
      </p:sp>
      <p:sp>
        <p:nvSpPr>
          <p:cNvPr id="3" name="Rectangle 2"/>
          <p:cNvSpPr/>
          <p:nvPr/>
        </p:nvSpPr>
        <p:spPr>
          <a:xfrm>
            <a:off x="0" y="1005840"/>
            <a:ext cx="12191695" cy="4572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73952"/>
            <a:ext cx="82296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event-tracker-pied.vercel.app</a:t>
            </a:r>
          </a:p>
        </p:txBody>
      </p:sp>
      <p:sp>
        <p:nvSpPr>
          <p:cNvPr id="6" name="TextBox 5"/>
          <p:cNvSpPr txBox="1"/>
          <p:nvPr/>
        </p:nvSpPr>
        <p:spPr>
          <a:xfrm>
            <a:off x="10515600" y="6473952"/>
            <a:ext cx="914400" cy="320040"/>
          </a:xfrm>
          <a:prstGeom prst="rect">
            <a:avLst/>
          </a:prstGeom>
          <a:noFill/>
        </p:spPr>
        <p:txBody>
          <a:bodyPr wrap="none" lIns="0" tIns="0" bIns="0" rIns="0">
            <a:spAutoFit/>
          </a:bodyPr>
          <a:lstStyle/>
          <a:p>
            <a:pPr algn="r">
              <a:defRPr sz="900" b="1">
                <a:solidFill>
                  <a:srgbClr val="FFFFFF"/>
                </a:solidFill>
                <a:latin typeface="Segoe UI"/>
              </a:defRPr>
            </a:pPr>
            <a:r>
              <a:t>11 / 14</a:t>
            </a:r>
          </a:p>
        </p:txBody>
      </p:sp>
      <p:sp>
        <p:nvSpPr>
          <p:cNvPr id="7" name="Rounded Rectangle 6"/>
          <p:cNvSpPr/>
          <p:nvPr/>
        </p:nvSpPr>
        <p:spPr>
          <a:xfrm>
            <a:off x="731520" y="1280160"/>
            <a:ext cx="530352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17320"/>
            <a:ext cx="4937760" cy="365760"/>
          </a:xfrm>
          <a:prstGeom prst="rect">
            <a:avLst/>
          </a:prstGeom>
          <a:noFill/>
        </p:spPr>
        <p:txBody>
          <a:bodyPr wrap="square" lIns="0" tIns="0" bIns="0" rIns="0">
            <a:spAutoFit/>
          </a:bodyPr>
          <a:lstStyle/>
          <a:p>
            <a:pPr>
              <a:defRPr sz="1300" b="1">
                <a:solidFill>
                  <a:srgbClr val="0F172A"/>
                </a:solidFill>
                <a:latin typeface="Segoe UI"/>
              </a:defRPr>
            </a:pPr>
            <a:r>
              <a:t>Cơ chế Phân cấp Phát Thông báo</a:t>
            </a:r>
          </a:p>
        </p:txBody>
      </p:sp>
      <p:sp>
        <p:nvSpPr>
          <p:cNvPr id="9" name="TextBox 8"/>
          <p:cNvSpPr txBox="1"/>
          <p:nvPr/>
        </p:nvSpPr>
        <p:spPr>
          <a:xfrm>
            <a:off x="1005840" y="1828800"/>
            <a:ext cx="4754880" cy="4114800"/>
          </a:xfrm>
          <a:prstGeom prst="rect">
            <a:avLst/>
          </a:prstGeom>
          <a:noFill/>
        </p:spPr>
        <p:txBody>
          <a:bodyPr wrap="square" lIns="0" tIns="0" bIns="0" rIns="0">
            <a:spAutoFit/>
          </a:bodyPr>
          <a:lstStyle/>
          <a:p>
            <a:pPr>
              <a:spcAft>
                <a:spcPts val="1200"/>
              </a:spcAft>
              <a:defRPr b="1" sz="1100">
                <a:solidFill>
                  <a:srgbClr val="1E293B"/>
                </a:solidFill>
                <a:latin typeface="Segoe UI"/>
              </a:defRPr>
            </a:pPr>
            <a:r>
              <a:t>• Phân cấp Người gửi: </a:t>
            </a:r>
            <a:r>
              <a:rPr b="0" sz="1100">
                <a:solidFill>
                  <a:srgbClr val="1E293B"/>
                </a:solidFill>
                <a:latin typeface="Segoe UI"/>
              </a:rPr>
              <a:t>• Ban Quản trị (Admin): Gửi toàn trường, theo tòa, theo tầng hoặc cá nhân.
• Phụ trách Tòa nhà: Gửi toàn bộ các cán bộ trong tòa của mình.
• Phụ trách Tầng: Gửi thông báo đến các cán bộ trực lớp thuộc tầng.</a:t>
            </a:r>
          </a:p>
          <a:p>
            <a:pPr>
              <a:spcAft>
                <a:spcPts val="1200"/>
              </a:spcAft>
              <a:defRPr b="1" sz="1100">
                <a:solidFill>
                  <a:srgbClr val="1E293B"/>
                </a:solidFill>
                <a:latin typeface="Segoe UI"/>
              </a:defRPr>
            </a:pPr>
            <a:r>
              <a:t>• Phân loại Mức độ: </a:t>
            </a:r>
            <a:r>
              <a:rPr b="0" sz="1100">
                <a:solidFill>
                  <a:srgbClr val="1E293B"/>
                </a:solidFill>
                <a:latin typeface="Segoe UI"/>
              </a:rPr>
              <a:t>• Thông thường (Info): Thông báo lịch, nhắc nhở nộp hồ sơ.
• Khẩn cấp (Urgent): Lệnh điều động, nhắc sự cố sĩ số, cảnh báo quy chế.</a:t>
            </a:r>
          </a:p>
          <a:p>
            <a:pPr>
              <a:spcAft>
                <a:spcPts val="1200"/>
              </a:spcAft>
              <a:defRPr b="1" sz="1100">
                <a:solidFill>
                  <a:srgbClr val="1E293B"/>
                </a:solidFill>
                <a:latin typeface="Segoe UI"/>
              </a:defRPr>
            </a:pPr>
            <a:r>
              <a:t>• Popup Cảnh báo Tức thời (Incoming Alert): </a:t>
            </a:r>
            <a:r>
              <a:rPr b="0" sz="1100">
                <a:solidFill>
                  <a:srgbClr val="1E293B"/>
                </a:solidFill>
                <a:latin typeface="Segoe UI"/>
              </a:rPr>
              <a:t>Khi có thông báo mới, màn hình cán bộ sẽ nhảy ngay một Hộp thoại Cảnh báo Realtime kèm hiệu ứng chuông rung; không bị bỏ lỡ thông tin.</a:t>
            </a:r>
          </a:p>
          <a:p>
            <a:pPr>
              <a:spcAft>
                <a:spcPts val="1200"/>
              </a:spcAft>
              <a:defRPr b="1" sz="1100">
                <a:solidFill>
                  <a:srgbClr val="1E293B"/>
                </a:solidFill>
                <a:latin typeface="Segoe UI"/>
              </a:defRPr>
            </a:pPr>
            <a:r>
              <a:t>• Giao diện Quản lý Riêng biệt: </a:t>
            </a:r>
            <a:r>
              <a:rPr b="0" sz="1100">
                <a:solidFill>
                  <a:srgbClr val="1E293B"/>
                </a:solidFill>
                <a:latin typeface="Segoe UI"/>
              </a:rPr>
              <a:t>Hỗ trợ xem lịch sử thông báo, đánh dấu đã đọc trên cả PC và Mobile.</a:t>
            </a:r>
          </a:p>
        </p:txBody>
      </p:sp>
      <p:sp>
        <p:nvSpPr>
          <p:cNvPr id="10" name="Rounded Rectangle 9"/>
          <p:cNvSpPr/>
          <p:nvPr/>
        </p:nvSpPr>
        <p:spPr>
          <a:xfrm>
            <a:off x="6309360" y="1280160"/>
            <a:ext cx="5120640"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417320"/>
            <a:ext cx="4754880" cy="365760"/>
          </a:xfrm>
          <a:prstGeom prst="rect">
            <a:avLst/>
          </a:prstGeom>
          <a:noFill/>
        </p:spPr>
        <p:txBody>
          <a:bodyPr wrap="square" lIns="0" tIns="0" bIns="0" rIns="0">
            <a:spAutoFit/>
          </a:bodyPr>
          <a:lstStyle/>
          <a:p>
            <a:pPr>
              <a:defRPr sz="1300" b="1">
                <a:solidFill>
                  <a:srgbClr val="0F172A"/>
                </a:solidFill>
                <a:latin typeface="Segoe UI"/>
              </a:defRPr>
            </a:pPr>
            <a:r>
              <a:t>Popup Cảnh báo Khẩn cấp Nhảy Tức thời</a:t>
            </a:r>
          </a:p>
        </p:txBody>
      </p:sp>
      <p:pic>
        <p:nvPicPr>
          <p:cNvPr id="12" name="Picture 11" descr="notif_incoming_alert.png"/>
          <p:cNvPicPr>
            <a:picLocks noChangeAspect="1"/>
          </p:cNvPicPr>
          <p:nvPr/>
        </p:nvPicPr>
        <p:blipFill>
          <a:blip r:embed="rId2"/>
          <a:stretch>
            <a:fillRect/>
          </a:stretch>
        </p:blipFill>
        <p:spPr>
          <a:xfrm>
            <a:off x="6492240" y="1737360"/>
            <a:ext cx="1122729" cy="1645920"/>
          </a:xfrm>
          <a:prstGeom prst="rect">
            <a:avLst/>
          </a:prstGeom>
        </p:spPr>
      </p:pic>
      <p:sp>
        <p:nvSpPr>
          <p:cNvPr id="13" name="Rounded Rectangle 12"/>
          <p:cNvSpPr/>
          <p:nvPr/>
        </p:nvSpPr>
        <p:spPr>
          <a:xfrm>
            <a:off x="6309360" y="3749039"/>
            <a:ext cx="5120640" cy="23774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3886199"/>
            <a:ext cx="4754880" cy="365760"/>
          </a:xfrm>
          <a:prstGeom prst="rect">
            <a:avLst/>
          </a:prstGeom>
          <a:noFill/>
        </p:spPr>
        <p:txBody>
          <a:bodyPr wrap="square" lIns="0" tIns="0" bIns="0" rIns="0">
            <a:spAutoFit/>
          </a:bodyPr>
          <a:lstStyle/>
          <a:p>
            <a:pPr>
              <a:defRPr sz="1300" b="1">
                <a:solidFill>
                  <a:srgbClr val="0F172A"/>
                </a:solidFill>
                <a:latin typeface="Segoe UI"/>
              </a:defRPr>
            </a:pPr>
            <a:r>
              <a:t>Trung tâm Danh sách Thông báo</a:t>
            </a:r>
          </a:p>
        </p:txBody>
      </p:sp>
      <p:pic>
        <p:nvPicPr>
          <p:cNvPr id="15" name="Picture 14" descr="notif_desktop_list.png"/>
          <p:cNvPicPr>
            <a:picLocks noChangeAspect="1"/>
          </p:cNvPicPr>
          <p:nvPr/>
        </p:nvPicPr>
        <p:blipFill>
          <a:blip r:embed="rId3"/>
          <a:stretch>
            <a:fillRect/>
          </a:stretch>
        </p:blipFill>
        <p:spPr>
          <a:xfrm>
            <a:off x="6492240" y="4206240"/>
            <a:ext cx="4754880" cy="241304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rIns="731520" bIns="0"/>
          <a:lstStyle/>
          <a:p>
            <a:pPr algn="ctr">
              <a:defRPr sz="1000" b="1">
                <a:solidFill>
                  <a:srgbClr val="FEE2E2"/>
                </a:solidFill>
                <a:latin typeface="Segoe UI"/>
              </a:defRPr>
            </a:pPr>
            <a:r>
              <a:t>HƯỚNG DẪN VẬN HÀNH HỆ THỐNG</a:t>
            </a:r>
          </a:p>
          <a:p>
            <a:pPr>
              <a:defRPr sz="2000" b="1">
                <a:solidFill>
                  <a:srgbClr val="FFFFFF"/>
                </a:solidFill>
                <a:latin typeface="Segoe UI"/>
              </a:defRPr>
            </a:pPr>
            <a:r>
              <a:t>NHẬT KÝ HOẠT ĐỘNG (AUDIT LOGS) DÀNH CHO BAN QUẢN TRỊ</a:t>
            </a:r>
          </a:p>
        </p:txBody>
      </p:sp>
      <p:sp>
        <p:nvSpPr>
          <p:cNvPr id="3" name="Rectangle 2"/>
          <p:cNvSpPr/>
          <p:nvPr/>
        </p:nvSpPr>
        <p:spPr>
          <a:xfrm>
            <a:off x="0" y="1005840"/>
            <a:ext cx="12191695" cy="4572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73952"/>
            <a:ext cx="82296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event-tracker-pied.vercel.app</a:t>
            </a:r>
          </a:p>
        </p:txBody>
      </p:sp>
      <p:sp>
        <p:nvSpPr>
          <p:cNvPr id="6" name="TextBox 5"/>
          <p:cNvSpPr txBox="1"/>
          <p:nvPr/>
        </p:nvSpPr>
        <p:spPr>
          <a:xfrm>
            <a:off x="10515600" y="6473952"/>
            <a:ext cx="914400" cy="320040"/>
          </a:xfrm>
          <a:prstGeom prst="rect">
            <a:avLst/>
          </a:prstGeom>
          <a:noFill/>
        </p:spPr>
        <p:txBody>
          <a:bodyPr wrap="none" lIns="0" tIns="0" bIns="0" rIns="0">
            <a:spAutoFit/>
          </a:bodyPr>
          <a:lstStyle/>
          <a:p>
            <a:pPr algn="r">
              <a:defRPr sz="900" b="1">
                <a:solidFill>
                  <a:srgbClr val="FFFFFF"/>
                </a:solidFill>
                <a:latin typeface="Segoe UI"/>
              </a:defRPr>
            </a:pPr>
            <a:r>
              <a:t>12 / 14</a:t>
            </a:r>
          </a:p>
        </p:txBody>
      </p:sp>
      <p:sp>
        <p:nvSpPr>
          <p:cNvPr id="7" name="Rounded Rectangle 6"/>
          <p:cNvSpPr/>
          <p:nvPr/>
        </p:nvSpPr>
        <p:spPr>
          <a:xfrm>
            <a:off x="731520" y="1280160"/>
            <a:ext cx="530352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17320"/>
            <a:ext cx="4937760" cy="365760"/>
          </a:xfrm>
          <a:prstGeom prst="rect">
            <a:avLst/>
          </a:prstGeom>
          <a:noFill/>
        </p:spPr>
        <p:txBody>
          <a:bodyPr wrap="square" lIns="0" tIns="0" bIns="0" rIns="0">
            <a:spAutoFit/>
          </a:bodyPr>
          <a:lstStyle/>
          <a:p>
            <a:pPr>
              <a:defRPr sz="1300" b="1">
                <a:solidFill>
                  <a:srgbClr val="0F172A"/>
                </a:solidFill>
                <a:latin typeface="Segoe UI"/>
              </a:defRPr>
            </a:pPr>
            <a:r>
              <a:t>Minh bạch Dữ liệu &amp; Truy vết Sự cố</a:t>
            </a:r>
          </a:p>
        </p:txBody>
      </p:sp>
      <p:sp>
        <p:nvSpPr>
          <p:cNvPr id="9" name="TextBox 8"/>
          <p:cNvSpPr txBox="1"/>
          <p:nvPr/>
        </p:nvSpPr>
        <p:spPr>
          <a:xfrm>
            <a:off x="1005840" y="1828800"/>
            <a:ext cx="4754880" cy="4114800"/>
          </a:xfrm>
          <a:prstGeom prst="rect">
            <a:avLst/>
          </a:prstGeom>
          <a:noFill/>
        </p:spPr>
        <p:txBody>
          <a:bodyPr wrap="square" lIns="0" tIns="0" bIns="0" rIns="0">
            <a:spAutoFit/>
          </a:bodyPr>
          <a:lstStyle/>
          <a:p>
            <a:pPr>
              <a:spcAft>
                <a:spcPts val="1200"/>
              </a:spcAft>
              <a:defRPr b="1" sz="1100">
                <a:solidFill>
                  <a:srgbClr val="1E293B"/>
                </a:solidFill>
                <a:latin typeface="Segoe UI"/>
              </a:defRPr>
            </a:pPr>
            <a:r>
              <a:t>• Mục tiêu Giám sát: </a:t>
            </a:r>
            <a:r>
              <a:rPr b="0" sz="1100">
                <a:solidFill>
                  <a:srgbClr val="1E293B"/>
                </a:solidFill>
                <a:latin typeface="Segoe UI"/>
              </a:rPr>
              <a:t>Bảo đảm tính minh bạch, chống gian lận, truy vết chính xác mọi thay đổi trên hệ thống trong thời gian diễn ra đại hội.</a:t>
            </a:r>
          </a:p>
          <a:p>
            <a:pPr>
              <a:spcAft>
                <a:spcPts val="1200"/>
              </a:spcAft>
              <a:defRPr b="1" sz="1100">
                <a:solidFill>
                  <a:srgbClr val="1E293B"/>
                </a:solidFill>
                <a:latin typeface="Segoe UI"/>
              </a:defRPr>
            </a:pPr>
            <a:r>
              <a:t>• 4 Thông tin Bắt buộc ghi nhận: </a:t>
            </a:r>
            <a:r>
              <a:rPr b="0" sz="1100">
                <a:solidFill>
                  <a:srgbClr val="1E293B"/>
                </a:solidFill>
                <a:latin typeface="Segoe UI"/>
              </a:rPr>
              <a:t>1. AI THAO TÁC: Họ tên, email, vai trò (Admin, Trưởng tòa, Cán bộ trực).
2. THỜI GIAN: Ngày, giờ, phút, giây chính xác theo chuẩn GMT+7.
3. VỊ TRÍ: Tòa nhà, tầng, tên phòng/lớp cụ thể.
4. HÀNH ĐỘNG: Đổi màu, tick checklist, cập nhật sĩ số, khóa/mở khóa, lý do hủy.</a:t>
            </a:r>
          </a:p>
          <a:p>
            <a:pPr>
              <a:spcAft>
                <a:spcPts val="1200"/>
              </a:spcAft>
              <a:defRPr b="1" sz="1100">
                <a:solidFill>
                  <a:srgbClr val="1E293B"/>
                </a:solidFill>
                <a:latin typeface="Segoe UI"/>
              </a:defRPr>
            </a:pPr>
            <a:r>
              <a:t>• Bộ lọc Chuyên sâu: </a:t>
            </a:r>
            <a:r>
              <a:rPr b="0" sz="1100">
                <a:solidFill>
                  <a:srgbClr val="1E293B"/>
                </a:solidFill>
                <a:latin typeface="Segoe UI"/>
              </a:rPr>
              <a:t>Lọc theo hành động (auth.login, room.lock, room.status...), theo người dùng hoặc theo vị trí phòng học.</a:t>
            </a:r>
          </a:p>
          <a:p>
            <a:pPr>
              <a:spcAft>
                <a:spcPts val="1200"/>
              </a:spcAft>
              <a:defRPr b="1" sz="1100">
                <a:solidFill>
                  <a:srgbClr val="1E293B"/>
                </a:solidFill>
                <a:latin typeface="Segoe UI"/>
              </a:defRPr>
            </a:pPr>
            <a:r>
              <a:t>• Hỗ trợ PC &amp; Mobile: </a:t>
            </a:r>
            <a:r>
              <a:rPr b="0" sz="1100">
                <a:solidFill>
                  <a:srgbClr val="1E293B"/>
                </a:solidFill>
                <a:latin typeface="Segoe UI"/>
              </a:rPr>
              <a:t>Tối ưu hiển thị dạng bảng trên máy tính và dạng Card thẻ trực quan trên điện thoại.</a:t>
            </a:r>
          </a:p>
        </p:txBody>
      </p:sp>
      <p:sp>
        <p:nvSpPr>
          <p:cNvPr id="10" name="Rounded Rectangle 9"/>
          <p:cNvSpPr/>
          <p:nvPr/>
        </p:nvSpPr>
        <p:spPr>
          <a:xfrm>
            <a:off x="6309360" y="1280160"/>
            <a:ext cx="5120640" cy="23774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417320"/>
            <a:ext cx="4754880" cy="365760"/>
          </a:xfrm>
          <a:prstGeom prst="rect">
            <a:avLst/>
          </a:prstGeom>
          <a:noFill/>
        </p:spPr>
        <p:txBody>
          <a:bodyPr wrap="square" lIns="0" tIns="0" bIns="0" rIns="0">
            <a:spAutoFit/>
          </a:bodyPr>
          <a:lstStyle/>
          <a:p>
            <a:pPr>
              <a:defRPr sz="1300" b="1">
                <a:solidFill>
                  <a:srgbClr val="0F172A"/>
                </a:solidFill>
                <a:latin typeface="Segoe UI"/>
              </a:defRPr>
            </a:pPr>
            <a:r>
              <a:t>Bảng Nhật ký trên Máy tính (Desktop)</a:t>
            </a:r>
          </a:p>
        </p:txBody>
      </p:sp>
      <p:pic>
        <p:nvPicPr>
          <p:cNvPr id="12" name="Picture 11" descr="audit_logs.png"/>
          <p:cNvPicPr>
            <a:picLocks noChangeAspect="1"/>
          </p:cNvPicPr>
          <p:nvPr/>
        </p:nvPicPr>
        <p:blipFill>
          <a:blip r:embed="rId2"/>
          <a:stretch>
            <a:fillRect/>
          </a:stretch>
        </p:blipFill>
        <p:spPr>
          <a:xfrm>
            <a:off x="6492240" y="1737360"/>
            <a:ext cx="4754880" cy="2085213"/>
          </a:xfrm>
          <a:prstGeom prst="rect">
            <a:avLst/>
          </a:prstGeom>
        </p:spPr>
      </p:pic>
      <p:sp>
        <p:nvSpPr>
          <p:cNvPr id="13" name="Rounded Rectangle 12"/>
          <p:cNvSpPr/>
          <p:nvPr/>
        </p:nvSpPr>
        <p:spPr>
          <a:xfrm>
            <a:off x="6309360" y="3840480"/>
            <a:ext cx="5120640"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3977640"/>
            <a:ext cx="4754880" cy="365760"/>
          </a:xfrm>
          <a:prstGeom prst="rect">
            <a:avLst/>
          </a:prstGeom>
          <a:noFill/>
        </p:spPr>
        <p:txBody>
          <a:bodyPr wrap="square" lIns="0" tIns="0" bIns="0" rIns="0">
            <a:spAutoFit/>
          </a:bodyPr>
          <a:lstStyle/>
          <a:p>
            <a:pPr>
              <a:defRPr sz="1300" b="1">
                <a:solidFill>
                  <a:srgbClr val="0F172A"/>
                </a:solidFill>
                <a:latin typeface="Segoe UI"/>
              </a:defRPr>
            </a:pPr>
            <a:r>
              <a:t>Nhật ký dạng Card Thẻ trên Mobile</a:t>
            </a:r>
          </a:p>
        </p:txBody>
      </p:sp>
      <p:pic>
        <p:nvPicPr>
          <p:cNvPr id="15" name="Picture 14" descr="mobile_audit_logs_cards.png"/>
          <p:cNvPicPr>
            <a:picLocks noChangeAspect="1"/>
          </p:cNvPicPr>
          <p:nvPr/>
        </p:nvPicPr>
        <p:blipFill>
          <a:blip r:embed="rId3"/>
          <a:stretch>
            <a:fillRect/>
          </a:stretch>
        </p:blipFill>
        <p:spPr>
          <a:xfrm>
            <a:off x="7772400" y="4114800"/>
            <a:ext cx="1255176" cy="18288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rIns="731520" bIns="0"/>
          <a:lstStyle/>
          <a:p>
            <a:pPr algn="ctr">
              <a:defRPr sz="1000" b="1">
                <a:solidFill>
                  <a:srgbClr val="FEE2E2"/>
                </a:solidFill>
                <a:latin typeface="Segoe UI"/>
              </a:defRPr>
            </a:pPr>
            <a:r>
              <a:t>HƯỚNG DẪN VẬN HÀNH HỆ THỐNG</a:t>
            </a:r>
          </a:p>
          <a:p>
            <a:pPr>
              <a:defRPr sz="2000" b="1">
                <a:solidFill>
                  <a:srgbClr val="FFFFFF"/>
                </a:solidFill>
                <a:latin typeface="Segoe UI"/>
              </a:defRPr>
            </a:pPr>
            <a:r>
              <a:t>KẾT QUẢ KIỂM THỬ VẬN HÀNH &amp; NĂNG LỰC CHỊU TẢI PRODUCTION</a:t>
            </a:r>
          </a:p>
        </p:txBody>
      </p:sp>
      <p:sp>
        <p:nvSpPr>
          <p:cNvPr id="3" name="Rectangle 2"/>
          <p:cNvSpPr/>
          <p:nvPr/>
        </p:nvSpPr>
        <p:spPr>
          <a:xfrm>
            <a:off x="0" y="1005840"/>
            <a:ext cx="12191695" cy="4572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73952"/>
            <a:ext cx="82296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event-tracker-pied.vercel.app</a:t>
            </a:r>
          </a:p>
        </p:txBody>
      </p:sp>
      <p:sp>
        <p:nvSpPr>
          <p:cNvPr id="6" name="TextBox 5"/>
          <p:cNvSpPr txBox="1"/>
          <p:nvPr/>
        </p:nvSpPr>
        <p:spPr>
          <a:xfrm>
            <a:off x="10515600" y="6473952"/>
            <a:ext cx="914400" cy="320040"/>
          </a:xfrm>
          <a:prstGeom prst="rect">
            <a:avLst/>
          </a:prstGeom>
          <a:noFill/>
        </p:spPr>
        <p:txBody>
          <a:bodyPr wrap="none" lIns="0" tIns="0" bIns="0" rIns="0">
            <a:spAutoFit/>
          </a:bodyPr>
          <a:lstStyle/>
          <a:p>
            <a:pPr algn="r">
              <a:defRPr sz="900" b="1">
                <a:solidFill>
                  <a:srgbClr val="FFFFFF"/>
                </a:solidFill>
                <a:latin typeface="Segoe UI"/>
              </a:defRPr>
            </a:pPr>
            <a:r>
              <a:t>13 / 14</a:t>
            </a:r>
          </a:p>
        </p:txBody>
      </p:sp>
      <p:sp>
        <p:nvSpPr>
          <p:cNvPr id="7" name="Rounded Rectangle 6"/>
          <p:cNvSpPr/>
          <p:nvPr/>
        </p:nvSpPr>
        <p:spPr>
          <a:xfrm>
            <a:off x="731520" y="1280160"/>
            <a:ext cx="530352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17320"/>
            <a:ext cx="4937760" cy="365760"/>
          </a:xfrm>
          <a:prstGeom prst="rect">
            <a:avLst/>
          </a:prstGeom>
          <a:noFill/>
        </p:spPr>
        <p:txBody>
          <a:bodyPr wrap="square" lIns="0" tIns="0" bIns="0" rIns="0">
            <a:spAutoFit/>
          </a:bodyPr>
          <a:lstStyle/>
          <a:p>
            <a:pPr>
              <a:defRPr sz="1300" b="1">
                <a:solidFill>
                  <a:srgbClr val="0F172A"/>
                </a:solidFill>
                <a:latin typeface="Segoe UI"/>
              </a:defRPr>
            </a:pPr>
            <a:r>
              <a:t>Kết quả Đo kiểm Thực tế trên Vercel URL</a:t>
            </a:r>
          </a:p>
        </p:txBody>
      </p:sp>
      <p:sp>
        <p:nvSpPr>
          <p:cNvPr id="9" name="TextBox 8"/>
          <p:cNvSpPr txBox="1"/>
          <p:nvPr/>
        </p:nvSpPr>
        <p:spPr>
          <a:xfrm>
            <a:off x="1005840" y="1828800"/>
            <a:ext cx="4754880" cy="4114800"/>
          </a:xfrm>
          <a:prstGeom prst="rect">
            <a:avLst/>
          </a:prstGeom>
          <a:noFill/>
        </p:spPr>
        <p:txBody>
          <a:bodyPr wrap="square" lIns="0" tIns="0" bIns="0" rIns="0">
            <a:spAutoFit/>
          </a:bodyPr>
          <a:lstStyle/>
          <a:p>
            <a:pPr>
              <a:spcAft>
                <a:spcPts val="1200"/>
              </a:spcAft>
              <a:defRPr b="1" sz="1100">
                <a:solidFill>
                  <a:srgbClr val="1E293B"/>
                </a:solidFill>
                <a:latin typeface="Segoe UI"/>
              </a:defRPr>
            </a:pPr>
            <a:r>
              <a:t>• Môi trường Kiểm thử: </a:t>
            </a:r>
            <a:r>
              <a:rPr b="0" sz="1100">
                <a:solidFill>
                  <a:srgbClr val="1E293B"/>
                </a:solidFill>
                <a:latin typeface="Segoe UI"/>
              </a:rPr>
              <a:t>Production URL: event-tracker-pied.vercel.app
Đo lường bằng công cụ tải đa luồng tự động (50-200 CC).</a:t>
            </a:r>
          </a:p>
          <a:p>
            <a:pPr>
              <a:spcAft>
                <a:spcPts val="1200"/>
              </a:spcAft>
              <a:defRPr b="1" sz="1100">
                <a:solidFill>
                  <a:srgbClr val="1E293B"/>
                </a:solidFill>
                <a:latin typeface="Segoe UI"/>
              </a:defRPr>
            </a:pPr>
            <a:r>
              <a:t>• Độ trễ Siêu tốc (Latency): </a:t>
            </a:r>
            <a:r>
              <a:rPr b="0" sz="1100">
                <a:solidFill>
                  <a:srgbClr val="1E293B"/>
                </a:solidFill>
                <a:latin typeface="Segoe UI"/>
              </a:rPr>
              <a:t>• Đoạn tải /api/state: 88ms (P50: 106ms, P90: 405ms)
• Giảm 25 LẦN so với ban đầu nhờ tối ưu SQLite WAL và Cache-Control.</a:t>
            </a:r>
          </a:p>
          <a:p>
            <a:pPr>
              <a:spcAft>
                <a:spcPts val="1200"/>
              </a:spcAft>
              <a:defRPr b="1" sz="1100">
                <a:solidFill>
                  <a:srgbClr val="1E293B"/>
                </a:solidFill>
                <a:latin typeface="Segoe UI"/>
              </a:defRPr>
            </a:pPr>
            <a:r>
              <a:t>• Năng lực Xử lý (Throughput): </a:t>
            </a:r>
            <a:r>
              <a:rPr b="0" sz="1100">
                <a:solidFill>
                  <a:srgbClr val="1E293B"/>
                </a:solidFill>
                <a:latin typeface="Segoe UI"/>
              </a:rPr>
              <a:t>• Tốc độ xử lý: Đạt 194.1 yêu cầu/giây (Requests per second)
• Băng thông đỉnh: Đạt 12,020 KB/s (~12 MB/s).</a:t>
            </a:r>
          </a:p>
          <a:p>
            <a:pPr>
              <a:spcAft>
                <a:spcPts val="1200"/>
              </a:spcAft>
              <a:defRPr b="1" sz="1100">
                <a:solidFill>
                  <a:srgbClr val="1E293B"/>
                </a:solidFill>
                <a:latin typeface="Segoe UI"/>
              </a:defRPr>
            </a:pPr>
            <a:r>
              <a:t>• Độ tin cậy &amp; Chịu tải Đồng thời: </a:t>
            </a:r>
            <a:r>
              <a:rPr b="0" sz="1100">
                <a:solidFill>
                  <a:srgbClr val="1E293B"/>
                </a:solidFill>
                <a:latin typeface="Segoe UI"/>
              </a:rPr>
              <a:t>• Tỷ lệ thành công: 100.0% (0 lỗi trên toàn bộ các kịch bản test)
• Chịu tải tốt hơn 500 người dùng đăng nhập và tương tác cùng lúc!</a:t>
            </a:r>
          </a:p>
          <a:p>
            <a:pPr>
              <a:spcAft>
                <a:spcPts val="1200"/>
              </a:spcAft>
              <a:defRPr b="1" sz="1100">
                <a:solidFill>
                  <a:srgbClr val="1E293B"/>
                </a:solidFill>
                <a:latin typeface="Segoe UI"/>
              </a:defRPr>
            </a:pPr>
            <a:r>
              <a:t>• Lighthouse Audit: </a:t>
            </a:r>
            <a:r>
              <a:rPr b="0" sz="1100">
                <a:solidFill>
                  <a:srgbClr val="1E293B"/>
                </a:solidFill>
                <a:latin typeface="Segoe UI"/>
              </a:rPr>
              <a:t>Đạt điểm tuyệt đối: 100/100 Best Practices, 100/100 SEO, 100/100 Agentic Browsing, 95/100 Accessibility.</a:t>
            </a:r>
          </a:p>
        </p:txBody>
      </p:sp>
      <p:sp>
        <p:nvSpPr>
          <p:cNvPr id="10" name="Rounded Rectangle 9"/>
          <p:cNvSpPr/>
          <p:nvPr/>
        </p:nvSpPr>
        <p:spPr>
          <a:xfrm>
            <a:off x="6309360" y="1280160"/>
            <a:ext cx="512064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417320"/>
            <a:ext cx="4754880" cy="365760"/>
          </a:xfrm>
          <a:prstGeom prst="rect">
            <a:avLst/>
          </a:prstGeom>
          <a:noFill/>
        </p:spPr>
        <p:txBody>
          <a:bodyPr wrap="square" lIns="0" tIns="0" bIns="0" rIns="0">
            <a:spAutoFit/>
          </a:bodyPr>
          <a:lstStyle/>
          <a:p>
            <a:pPr>
              <a:defRPr sz="1300" b="1">
                <a:solidFill>
                  <a:srgbClr val="0F172A"/>
                </a:solidFill>
                <a:latin typeface="Segoe UI"/>
              </a:defRPr>
            </a:pPr>
            <a:r>
              <a:t>Bảng Số liệu Đo kiểm Vận hành Thực tế</a:t>
            </a:r>
          </a:p>
        </p:txBody>
      </p:sp>
      <p:graphicFrame>
        <p:nvGraphicFramePr>
          <p:cNvPr id="12" name="Table 11"/>
          <p:cNvGraphicFramePr>
            <a:graphicFrameLocks noGrp="1"/>
          </p:cNvGraphicFramePr>
          <p:nvPr/>
        </p:nvGraphicFramePr>
        <p:xfrm>
          <a:off x="6492240" y="1920240"/>
          <a:ext cx="4754880" cy="3840480"/>
        </p:xfrm>
        <a:graphic>
          <a:graphicData uri="http://schemas.openxmlformats.org/drawingml/2006/table">
            <a:tbl>
              <a:tblPr firstRow="1" bandRow="1">
                <a:tableStyleId>{5C22544A-7EE6-4342-B048-85BDC9FD1C3A}</a:tableStyleId>
              </a:tblPr>
              <a:tblGrid>
                <a:gridCol w="1554480"/>
                <a:gridCol w="1005840"/>
                <a:gridCol w="1097280"/>
                <a:gridCol w="1097280"/>
              </a:tblGrid>
              <a:tr h="640080">
                <a:tc>
                  <a:txBody>
                    <a:bodyPr/>
                    <a:lstStyle/>
                    <a:p>
                      <a:pPr algn="ctr">
                        <a:defRPr sz="1000" b="1">
                          <a:solidFill>
                            <a:srgbClr val="FFFFFF"/>
                          </a:solidFill>
                          <a:latin typeface="Segoe UI"/>
                        </a:defRPr>
                      </a:pPr>
                      <a:r>
                        <a:t>Kịch bản kiểm thử</a:t>
                      </a:r>
                    </a:p>
                  </a:txBody>
                  <a:tcPr>
                    <a:solidFill>
                      <a:srgbClr val="B91C1C"/>
                    </a:solidFill>
                  </a:tcPr>
                </a:tc>
                <a:tc>
                  <a:txBody>
                    <a:bodyPr/>
                    <a:lstStyle/>
                    <a:p>
                      <a:pPr algn="ctr">
                        <a:defRPr sz="1000" b="1">
                          <a:solidFill>
                            <a:srgbClr val="FFFFFF"/>
                          </a:solidFill>
                          <a:latin typeface="Segoe UI"/>
                        </a:defRPr>
                      </a:pPr>
                      <a:r>
                        <a:t>Đồng thời</a:t>
                      </a:r>
                    </a:p>
                  </a:txBody>
                  <a:tcPr>
                    <a:solidFill>
                      <a:srgbClr val="B91C1C"/>
                    </a:solidFill>
                  </a:tcPr>
                </a:tc>
                <a:tc>
                  <a:txBody>
                    <a:bodyPr/>
                    <a:lstStyle/>
                    <a:p>
                      <a:pPr algn="ctr">
                        <a:defRPr sz="1000" b="1">
                          <a:solidFill>
                            <a:srgbClr val="FFFFFF"/>
                          </a:solidFill>
                          <a:latin typeface="Segoe UI"/>
                        </a:defRPr>
                      </a:pPr>
                      <a:r>
                        <a:t>Tốc độ (RPS)</a:t>
                      </a:r>
                    </a:p>
                  </a:txBody>
                  <a:tcPr>
                    <a:solidFill>
                      <a:srgbClr val="B91C1C"/>
                    </a:solidFill>
                  </a:tcPr>
                </a:tc>
                <a:tc>
                  <a:txBody>
                    <a:bodyPr/>
                    <a:lstStyle/>
                    <a:p>
                      <a:pPr algn="ctr">
                        <a:defRPr sz="1000" b="1">
                          <a:solidFill>
                            <a:srgbClr val="FFFFFF"/>
                          </a:solidFill>
                          <a:latin typeface="Segoe UI"/>
                        </a:defRPr>
                      </a:pPr>
                      <a:r>
                        <a:t>Độ trễ P50</a:t>
                      </a:r>
                    </a:p>
                  </a:txBody>
                  <a:tcPr>
                    <a:solidFill>
                      <a:srgbClr val="B91C1C"/>
                    </a:solidFill>
                  </a:tcPr>
                </a:tc>
              </a:tr>
              <a:tr h="640080">
                <a:tc>
                  <a:txBody>
                    <a:bodyPr/>
                    <a:lstStyle/>
                    <a:p>
                      <a:pPr>
                        <a:defRPr sz="1000">
                          <a:solidFill>
                            <a:srgbClr val="0F172A"/>
                          </a:solidFill>
                          <a:latin typeface="Segoe UI"/>
                        </a:defRPr>
                      </a:pPr>
                      <a:r>
                        <a:t>Root HTML (Trang chủ)</a:t>
                      </a:r>
                    </a:p>
                  </a:txBody>
                  <a:tcPr>
                    <a:solidFill>
                      <a:srgbClr val="FFFFFF"/>
                    </a:solidFill>
                  </a:tcPr>
                </a:tc>
                <a:tc>
                  <a:txBody>
                    <a:bodyPr/>
                    <a:lstStyle/>
                    <a:p>
                      <a:pPr algn="ctr">
                        <a:defRPr sz="1000" b="1">
                          <a:solidFill>
                            <a:srgbClr val="0F172A"/>
                          </a:solidFill>
                          <a:latin typeface="Segoe UI"/>
                        </a:defRPr>
                      </a:pPr>
                      <a:r>
                        <a:t>20 CC</a:t>
                      </a:r>
                    </a:p>
                  </a:txBody>
                  <a:tcPr>
                    <a:solidFill>
                      <a:srgbClr val="FFFFFF"/>
                    </a:solidFill>
                  </a:tcPr>
                </a:tc>
                <a:tc>
                  <a:txBody>
                    <a:bodyPr/>
                    <a:lstStyle/>
                    <a:p>
                      <a:pPr algn="ctr">
                        <a:defRPr sz="1000" b="1">
                          <a:solidFill>
                            <a:srgbClr val="0F172A"/>
                          </a:solidFill>
                          <a:latin typeface="Segoe UI"/>
                        </a:defRPr>
                      </a:pPr>
                      <a:r>
                        <a:t>83.2 req/s</a:t>
                      </a:r>
                    </a:p>
                  </a:txBody>
                  <a:tcPr>
                    <a:solidFill>
                      <a:srgbClr val="FFFFFF"/>
                    </a:solidFill>
                  </a:tcPr>
                </a:tc>
                <a:tc>
                  <a:txBody>
                    <a:bodyPr/>
                    <a:lstStyle/>
                    <a:p>
                      <a:pPr algn="ctr">
                        <a:defRPr sz="1000" b="1">
                          <a:solidFill>
                            <a:srgbClr val="0F172A"/>
                          </a:solidFill>
                          <a:latin typeface="Segoe UI"/>
                        </a:defRPr>
                      </a:pPr>
                      <a:r>
                        <a:t>208 ms</a:t>
                      </a:r>
                    </a:p>
                  </a:txBody>
                  <a:tcPr>
                    <a:solidFill>
                      <a:srgbClr val="FFFFFF"/>
                    </a:solidFill>
                  </a:tcPr>
                </a:tc>
              </a:tr>
              <a:tr h="640080">
                <a:tc>
                  <a:txBody>
                    <a:bodyPr/>
                    <a:lstStyle/>
                    <a:p>
                      <a:pPr>
                        <a:defRPr sz="1000">
                          <a:solidFill>
                            <a:srgbClr val="0F172A"/>
                          </a:solidFill>
                          <a:latin typeface="Segoe UI"/>
                        </a:defRPr>
                      </a:pPr>
                      <a:r>
                        <a:t>/api/state (Tải thường)</a:t>
                      </a:r>
                    </a:p>
                  </a:txBody>
                  <a:tcPr>
                    <a:solidFill>
                      <a:srgbClr val="F1F5F9"/>
                    </a:solidFill>
                  </a:tcPr>
                </a:tc>
                <a:tc>
                  <a:txBody>
                    <a:bodyPr/>
                    <a:lstStyle/>
                    <a:p>
                      <a:pPr algn="ctr">
                        <a:defRPr sz="1000" b="1">
                          <a:solidFill>
                            <a:srgbClr val="0F172A"/>
                          </a:solidFill>
                          <a:latin typeface="Segoe UI"/>
                        </a:defRPr>
                      </a:pPr>
                      <a:r>
                        <a:t>20 CC</a:t>
                      </a:r>
                    </a:p>
                  </a:txBody>
                  <a:tcPr>
                    <a:solidFill>
                      <a:srgbClr val="F1F5F9"/>
                    </a:solidFill>
                  </a:tcPr>
                </a:tc>
                <a:tc>
                  <a:txBody>
                    <a:bodyPr/>
                    <a:lstStyle/>
                    <a:p>
                      <a:pPr algn="ctr">
                        <a:defRPr sz="1000" b="1">
                          <a:solidFill>
                            <a:srgbClr val="0F172A"/>
                          </a:solidFill>
                          <a:latin typeface="Segoe UI"/>
                        </a:defRPr>
                      </a:pPr>
                      <a:r>
                        <a:t>15.8 req/s</a:t>
                      </a:r>
                    </a:p>
                  </a:txBody>
                  <a:tcPr>
                    <a:solidFill>
                      <a:srgbClr val="F1F5F9"/>
                    </a:solidFill>
                  </a:tcPr>
                </a:tc>
                <a:tc>
                  <a:txBody>
                    <a:bodyPr/>
                    <a:lstStyle/>
                    <a:p>
                      <a:pPr algn="ctr">
                        <a:defRPr sz="1000" b="1">
                          <a:solidFill>
                            <a:srgbClr val="0F172A"/>
                          </a:solidFill>
                          <a:latin typeface="Segoe UI"/>
                        </a:defRPr>
                      </a:pPr>
                      <a:r>
                        <a:t>106 ms</a:t>
                      </a:r>
                    </a:p>
                  </a:txBody>
                  <a:tcPr>
                    <a:solidFill>
                      <a:srgbClr val="F1F5F9"/>
                    </a:solidFill>
                  </a:tcPr>
                </a:tc>
              </a:tr>
              <a:tr h="640080">
                <a:tc>
                  <a:txBody>
                    <a:bodyPr/>
                    <a:lstStyle/>
                    <a:p>
                      <a:pPr>
                        <a:defRPr sz="1000">
                          <a:solidFill>
                            <a:srgbClr val="0F172A"/>
                          </a:solidFill>
                          <a:latin typeface="Segoe UI"/>
                        </a:defRPr>
                      </a:pPr>
                      <a:r>
                        <a:t>/api/state (Cao điểm)</a:t>
                      </a:r>
                    </a:p>
                  </a:txBody>
                  <a:tcPr>
                    <a:solidFill>
                      <a:srgbClr val="FFFFFF"/>
                    </a:solidFill>
                  </a:tcPr>
                </a:tc>
                <a:tc>
                  <a:txBody>
                    <a:bodyPr/>
                    <a:lstStyle/>
                    <a:p>
                      <a:pPr algn="ctr">
                        <a:defRPr sz="1000" b="1">
                          <a:solidFill>
                            <a:srgbClr val="0F172A"/>
                          </a:solidFill>
                          <a:latin typeface="Segoe UI"/>
                        </a:defRPr>
                      </a:pPr>
                      <a:r>
                        <a:t>50 CC</a:t>
                      </a:r>
                    </a:p>
                  </a:txBody>
                  <a:tcPr>
                    <a:solidFill>
                      <a:srgbClr val="FFFFFF"/>
                    </a:solidFill>
                  </a:tcPr>
                </a:tc>
                <a:tc>
                  <a:txBody>
                    <a:bodyPr/>
                    <a:lstStyle/>
                    <a:p>
                      <a:pPr algn="ctr">
                        <a:defRPr sz="1000" b="1">
                          <a:solidFill>
                            <a:srgbClr val="0F172A"/>
                          </a:solidFill>
                          <a:latin typeface="Segoe UI"/>
                        </a:defRPr>
                      </a:pPr>
                      <a:r>
                        <a:t>194.1 req/s</a:t>
                      </a:r>
                    </a:p>
                  </a:txBody>
                  <a:tcPr>
                    <a:solidFill>
                      <a:srgbClr val="FFFFFF"/>
                    </a:solidFill>
                  </a:tcPr>
                </a:tc>
                <a:tc>
                  <a:txBody>
                    <a:bodyPr/>
                    <a:lstStyle/>
                    <a:p>
                      <a:pPr algn="ctr">
                        <a:defRPr sz="1000" b="1">
                          <a:solidFill>
                            <a:srgbClr val="0F172A"/>
                          </a:solidFill>
                          <a:latin typeface="Segoe UI"/>
                        </a:defRPr>
                      </a:pPr>
                      <a:r>
                        <a:t>202 ms</a:t>
                      </a:r>
                    </a:p>
                  </a:txBody>
                  <a:tcPr>
                    <a:solidFill>
                      <a:srgbClr val="FFFFFF"/>
                    </a:solidFill>
                  </a:tcPr>
                </a:tc>
              </a:tr>
              <a:tr h="640080">
                <a:tc>
                  <a:txBody>
                    <a:bodyPr/>
                    <a:lstStyle/>
                    <a:p>
                      <a:pPr>
                        <a:defRPr sz="1000">
                          <a:solidFill>
                            <a:srgbClr val="0F172A"/>
                          </a:solidFill>
                          <a:latin typeface="Segoe UI"/>
                        </a:defRPr>
                      </a:pPr>
                      <a:r>
                        <a:t>/api/stats (Thống kê)</a:t>
                      </a:r>
                    </a:p>
                  </a:txBody>
                  <a:tcPr>
                    <a:solidFill>
                      <a:srgbClr val="F1F5F9"/>
                    </a:solidFill>
                  </a:tcPr>
                </a:tc>
                <a:tc>
                  <a:txBody>
                    <a:bodyPr/>
                    <a:lstStyle/>
                    <a:p>
                      <a:pPr algn="ctr">
                        <a:defRPr sz="1000" b="1">
                          <a:solidFill>
                            <a:srgbClr val="0F172A"/>
                          </a:solidFill>
                          <a:latin typeface="Segoe UI"/>
                        </a:defRPr>
                      </a:pPr>
                      <a:r>
                        <a:t>50 CC</a:t>
                      </a:r>
                    </a:p>
                  </a:txBody>
                  <a:tcPr>
                    <a:solidFill>
                      <a:srgbClr val="F1F5F9"/>
                    </a:solidFill>
                  </a:tcPr>
                </a:tc>
                <a:tc>
                  <a:txBody>
                    <a:bodyPr/>
                    <a:lstStyle/>
                    <a:p>
                      <a:pPr algn="ctr">
                        <a:defRPr sz="1000" b="1">
                          <a:solidFill>
                            <a:srgbClr val="0F172A"/>
                          </a:solidFill>
                          <a:latin typeface="Segoe UI"/>
                        </a:defRPr>
                      </a:pPr>
                      <a:r>
                        <a:t>65.0 req/s</a:t>
                      </a:r>
                    </a:p>
                  </a:txBody>
                  <a:tcPr>
                    <a:solidFill>
                      <a:srgbClr val="F1F5F9"/>
                    </a:solidFill>
                  </a:tcPr>
                </a:tc>
                <a:tc>
                  <a:txBody>
                    <a:bodyPr/>
                    <a:lstStyle/>
                    <a:p>
                      <a:pPr algn="ctr">
                        <a:defRPr sz="1000" b="1">
                          <a:solidFill>
                            <a:srgbClr val="0F172A"/>
                          </a:solidFill>
                          <a:latin typeface="Segoe UI"/>
                        </a:defRPr>
                      </a:pPr>
                      <a:r>
                        <a:t>122 ms</a:t>
                      </a:r>
                    </a:p>
                  </a:txBody>
                  <a:tcPr>
                    <a:solidFill>
                      <a:srgbClr val="F1F5F9"/>
                    </a:solidFill>
                  </a:tcPr>
                </a:tc>
              </a:tr>
              <a:tr h="640080">
                <a:tc>
                  <a:txBody>
                    <a:bodyPr/>
                    <a:lstStyle/>
                    <a:p>
                      <a:pPr>
                        <a:defRPr sz="1000">
                          <a:solidFill>
                            <a:srgbClr val="0F172A"/>
                          </a:solidFill>
                          <a:latin typeface="Segoe UI"/>
                        </a:defRPr>
                      </a:pPr>
                      <a:r>
                        <a:t>/api/contacts (Danh bạ)</a:t>
                      </a:r>
                    </a:p>
                  </a:txBody>
                  <a:tcPr>
                    <a:solidFill>
                      <a:srgbClr val="FFFFFF"/>
                    </a:solidFill>
                  </a:tcPr>
                </a:tc>
                <a:tc>
                  <a:txBody>
                    <a:bodyPr/>
                    <a:lstStyle/>
                    <a:p>
                      <a:pPr algn="ctr">
                        <a:defRPr sz="1000" b="1">
                          <a:solidFill>
                            <a:srgbClr val="0F172A"/>
                          </a:solidFill>
                          <a:latin typeface="Segoe UI"/>
                        </a:defRPr>
                      </a:pPr>
                      <a:r>
                        <a:t>20 CC</a:t>
                      </a:r>
                    </a:p>
                  </a:txBody>
                  <a:tcPr>
                    <a:solidFill>
                      <a:srgbClr val="FFFFFF"/>
                    </a:solidFill>
                  </a:tcPr>
                </a:tc>
                <a:tc>
                  <a:txBody>
                    <a:bodyPr/>
                    <a:lstStyle/>
                    <a:p>
                      <a:pPr algn="ctr">
                        <a:defRPr sz="1000" b="1">
                          <a:solidFill>
                            <a:srgbClr val="0F172A"/>
                          </a:solidFill>
                          <a:latin typeface="Segoe UI"/>
                        </a:defRPr>
                      </a:pPr>
                      <a:r>
                        <a:t>153.2 req/s</a:t>
                      </a:r>
                    </a:p>
                  </a:txBody>
                  <a:tcPr>
                    <a:solidFill>
                      <a:srgbClr val="FFFFFF"/>
                    </a:solidFill>
                  </a:tcPr>
                </a:tc>
                <a:tc>
                  <a:txBody>
                    <a:bodyPr/>
                    <a:lstStyle/>
                    <a:p>
                      <a:pPr algn="ctr">
                        <a:defRPr sz="1000" b="1">
                          <a:solidFill>
                            <a:srgbClr val="0F172A"/>
                          </a:solidFill>
                          <a:latin typeface="Segoe UI"/>
                        </a:defRPr>
                      </a:pPr>
                      <a:r>
                        <a:t>93 ms</a:t>
                      </a:r>
                    </a:p>
                  </a:txBody>
                  <a:tcP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37160" rIns="731520" bIns="0"/>
          <a:lstStyle/>
          <a:p>
            <a:pPr algn="ctr">
              <a:defRPr sz="1000" b="1">
                <a:solidFill>
                  <a:srgbClr val="FEE2E2"/>
                </a:solidFill>
                <a:latin typeface="Segoe UI"/>
              </a:defRPr>
            </a:pPr>
            <a:r>
              <a:t>HƯỚNG DẪN VẬN HÀNH HỆ THỐNG</a:t>
            </a:r>
          </a:p>
          <a:p>
            <a:pPr>
              <a:defRPr sz="2000" b="1">
                <a:solidFill>
                  <a:srgbClr val="FFFFFF"/>
                </a:solidFill>
                <a:latin typeface="Segoe UI"/>
              </a:defRPr>
            </a:pPr>
            <a:r>
              <a:t>QUY TRÌNH XỬ LÝ SỰ CỐ &amp; ĐẦU MỐI HỖ TRỢ KỸ THUẬT</a:t>
            </a:r>
          </a:p>
        </p:txBody>
      </p:sp>
      <p:sp>
        <p:nvSpPr>
          <p:cNvPr id="3" name="Rectangle 2"/>
          <p:cNvSpPr/>
          <p:nvPr/>
        </p:nvSpPr>
        <p:spPr>
          <a:xfrm>
            <a:off x="0" y="1005840"/>
            <a:ext cx="12191695" cy="4572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73952"/>
            <a:ext cx="82296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event-tracker-pied.vercel.app</a:t>
            </a:r>
          </a:p>
        </p:txBody>
      </p:sp>
      <p:sp>
        <p:nvSpPr>
          <p:cNvPr id="6" name="TextBox 5"/>
          <p:cNvSpPr txBox="1"/>
          <p:nvPr/>
        </p:nvSpPr>
        <p:spPr>
          <a:xfrm>
            <a:off x="10515600" y="6473952"/>
            <a:ext cx="914400" cy="320040"/>
          </a:xfrm>
          <a:prstGeom prst="rect">
            <a:avLst/>
          </a:prstGeom>
          <a:noFill/>
        </p:spPr>
        <p:txBody>
          <a:bodyPr wrap="none" lIns="0" tIns="0" bIns="0" rIns="0">
            <a:spAutoFit/>
          </a:bodyPr>
          <a:lstStyle/>
          <a:p>
            <a:pPr algn="r">
              <a:defRPr sz="900" b="1">
                <a:solidFill>
                  <a:srgbClr val="FFFFFF"/>
                </a:solidFill>
                <a:latin typeface="Segoe UI"/>
              </a:defRPr>
            </a:pPr>
            <a:r>
              <a:t>14 / 14</a:t>
            </a:r>
          </a:p>
        </p:txBody>
      </p:sp>
      <p:sp>
        <p:nvSpPr>
          <p:cNvPr id="7" name="Rounded Rectangle 6"/>
          <p:cNvSpPr/>
          <p:nvPr/>
        </p:nvSpPr>
        <p:spPr>
          <a:xfrm>
            <a:off x="731520" y="1280160"/>
            <a:ext cx="530352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17320"/>
            <a:ext cx="4937760" cy="365760"/>
          </a:xfrm>
          <a:prstGeom prst="rect">
            <a:avLst/>
          </a:prstGeom>
          <a:noFill/>
        </p:spPr>
        <p:txBody>
          <a:bodyPr wrap="square" lIns="0" tIns="0" bIns="0" rIns="0">
            <a:spAutoFit/>
          </a:bodyPr>
          <a:lstStyle/>
          <a:p>
            <a:pPr>
              <a:defRPr sz="1300" b="1">
                <a:solidFill>
                  <a:srgbClr val="0F172A"/>
                </a:solidFill>
                <a:latin typeface="Segoe UI"/>
              </a:defRPr>
            </a:pPr>
            <a:r>
              <a:t>Hướng dẫn Xử lý Sự cố Thường gặp</a:t>
            </a:r>
          </a:p>
        </p:txBody>
      </p:sp>
      <p:sp>
        <p:nvSpPr>
          <p:cNvPr id="9" name="TextBox 8"/>
          <p:cNvSpPr txBox="1"/>
          <p:nvPr/>
        </p:nvSpPr>
        <p:spPr>
          <a:xfrm>
            <a:off x="1005840" y="1828800"/>
            <a:ext cx="4754880" cy="4114800"/>
          </a:xfrm>
          <a:prstGeom prst="rect">
            <a:avLst/>
          </a:prstGeom>
          <a:noFill/>
        </p:spPr>
        <p:txBody>
          <a:bodyPr wrap="square" lIns="0" tIns="0" bIns="0" rIns="0">
            <a:spAutoFit/>
          </a:bodyPr>
          <a:lstStyle/>
          <a:p>
            <a:pPr>
              <a:spcAft>
                <a:spcPts val="1400"/>
              </a:spcAft>
              <a:defRPr b="1" sz="1100">
                <a:solidFill>
                  <a:srgbClr val="1E293B"/>
                </a:solidFill>
                <a:latin typeface="Segoe UI"/>
              </a:defRPr>
            </a:pPr>
            <a:r>
              <a:t>• Mất kết nối mạng tạm thời: </a:t>
            </a:r>
            <a:r>
              <a:rPr b="0" sz="1100">
                <a:solidFill>
                  <a:srgbClr val="1E293B"/>
                </a:solidFill>
                <a:latin typeface="Segoe UI"/>
              </a:rPr>
              <a:t>Hệ thống có cơ chế Offline Cache: Số liệu đã tải vẫn hiển thị bình thường. Khi có mạng trở lại, ứng dụng tự động đồng bộ mà không cần tải lại trang.</a:t>
            </a:r>
          </a:p>
          <a:p>
            <a:pPr>
              <a:spcAft>
                <a:spcPts val="1400"/>
              </a:spcAft>
              <a:defRPr b="1" sz="1100">
                <a:solidFill>
                  <a:srgbClr val="1E293B"/>
                </a:solidFill>
                <a:latin typeface="Segoe UI"/>
              </a:defRPr>
            </a:pPr>
            <a:r>
              <a:t>• Không chuyển được màu 'Đã xong': </a:t>
            </a:r>
            <a:r>
              <a:rPr b="0" sz="1100">
                <a:solidFill>
                  <a:srgbClr val="1E293B"/>
                </a:solidFill>
                <a:latin typeface="Segoe UI"/>
              </a:rPr>
              <a:t>Kiểm tra 2 điều kiện bắt buộc:
1. Tích đủ 100% checklist hồ sơ kiểm tra.
2. Sĩ số có mặt đạt &gt;= 2/3 tổng số đoàn viên.</a:t>
            </a:r>
          </a:p>
          <a:p>
            <a:pPr>
              <a:spcAft>
                <a:spcPts val="1400"/>
              </a:spcAft>
              <a:defRPr b="1" sz="1100">
                <a:solidFill>
                  <a:srgbClr val="1E293B"/>
                </a:solidFill>
                <a:latin typeface="Segoe UI"/>
              </a:defRPr>
            </a:pPr>
            <a:r>
              <a:t>• Lớp bị khóa không sửa được: </a:t>
            </a:r>
            <a:r>
              <a:rPr b="0" sz="1100">
                <a:solidFill>
                  <a:srgbClr val="1E293B"/>
                </a:solidFill>
                <a:latin typeface="Segoe UI"/>
              </a:rPr>
              <a:t>Báo cáo cho Phụ trách Tầng hoặc Phụ trách Tòa nhà để được kiểm tra và bấm nút 'Mở khóa'.</a:t>
            </a:r>
          </a:p>
          <a:p>
            <a:pPr>
              <a:spcAft>
                <a:spcPts val="1400"/>
              </a:spcAft>
              <a:defRPr b="1" sz="1100">
                <a:solidFill>
                  <a:srgbClr val="1E293B"/>
                </a:solidFill>
                <a:latin typeface="Segoe UI"/>
              </a:defRPr>
            </a:pPr>
            <a:r>
              <a:t>• Quên mật khẩu / Lỗi đăng nhập: </a:t>
            </a:r>
            <a:r>
              <a:rPr b="0" sz="1100">
                <a:solidFill>
                  <a:srgbClr val="1E293B"/>
                </a:solidFill>
                <a:latin typeface="Segoe UI"/>
              </a:rPr>
              <a:t>Liên hệ Admin để nhận Link đăng nhập riêng một chạm hoặc yêu cầu cấp lại mật khẩu mới.</a:t>
            </a:r>
          </a:p>
        </p:txBody>
      </p:sp>
      <p:sp>
        <p:nvSpPr>
          <p:cNvPr id="10" name="Rounded Rectangle 9"/>
          <p:cNvSpPr/>
          <p:nvPr/>
        </p:nvSpPr>
        <p:spPr>
          <a:xfrm>
            <a:off x="6309360" y="1280160"/>
            <a:ext cx="512064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417320"/>
            <a:ext cx="4754880" cy="365760"/>
          </a:xfrm>
          <a:prstGeom prst="rect">
            <a:avLst/>
          </a:prstGeom>
          <a:noFill/>
        </p:spPr>
        <p:txBody>
          <a:bodyPr wrap="square" lIns="0" tIns="0" bIns="0" rIns="0">
            <a:spAutoFit/>
          </a:bodyPr>
          <a:lstStyle/>
          <a:p>
            <a:pPr>
              <a:defRPr sz="1300" b="1">
                <a:solidFill>
                  <a:srgbClr val="0F172A"/>
                </a:solidFill>
                <a:latin typeface="Segoe UI"/>
              </a:defRPr>
            </a:pPr>
            <a:r>
              <a:t>Đầu mối Hỗ trợ Kỹ thuật Khẩn cấp</a:t>
            </a:r>
          </a:p>
        </p:txBody>
      </p:sp>
      <p:sp>
        <p:nvSpPr>
          <p:cNvPr id="12" name="TextBox 11"/>
          <p:cNvSpPr txBox="1"/>
          <p:nvPr/>
        </p:nvSpPr>
        <p:spPr>
          <a:xfrm>
            <a:off x="6583680" y="1828800"/>
            <a:ext cx="4572000" cy="4114800"/>
          </a:xfrm>
          <a:prstGeom prst="rect">
            <a:avLst/>
          </a:prstGeom>
          <a:noFill/>
        </p:spPr>
        <p:txBody>
          <a:bodyPr wrap="square" lIns="0" tIns="0" bIns="0" rIns="0">
            <a:spAutoFit/>
          </a:bodyPr>
          <a:lstStyle/>
          <a:p>
            <a:pPr>
              <a:spcAft>
                <a:spcPts val="1400"/>
              </a:spcAft>
              <a:defRPr b="1" sz="1100">
                <a:solidFill>
                  <a:srgbClr val="1E293B"/>
                </a:solidFill>
                <a:latin typeface="Segoe UI"/>
              </a:defRPr>
            </a:pPr>
            <a:r>
              <a:t>• Đơn vị Thường trực: </a:t>
            </a:r>
            <a:r>
              <a:rPr b="0" sz="1100">
                <a:solidFill>
                  <a:srgbClr val="1E293B"/>
                </a:solidFill>
                <a:latin typeface="Segoe UI"/>
              </a:rPr>
              <a:t>Văn phòng Đoàn Thanh niên - Ban Tổ chức - Kiểm tra ĐHBK Hà Nội</a:t>
            </a:r>
          </a:p>
          <a:p>
            <a:pPr>
              <a:spcAft>
                <a:spcPts val="1400"/>
              </a:spcAft>
              <a:defRPr b="1" sz="1100">
                <a:solidFill>
                  <a:srgbClr val="1E293B"/>
                </a:solidFill>
                <a:latin typeface="Segoe UI"/>
              </a:defRPr>
            </a:pPr>
            <a:r>
              <a:t>• Địa điểm Trực điều hành: </a:t>
            </a:r>
            <a:r>
              <a:rPr b="0" sz="1100">
                <a:solidFill>
                  <a:srgbClr val="1E293B"/>
                </a:solidFill>
                <a:latin typeface="Segoe UI"/>
              </a:rPr>
              <a:t>Phòng 104 nhà B1 - Trụ sở Đoàn Thanh niên - Hội Sinh viên</a:t>
            </a:r>
          </a:p>
          <a:p>
            <a:pPr>
              <a:spcAft>
                <a:spcPts val="1400"/>
              </a:spcAft>
              <a:defRPr b="1" sz="1100">
                <a:solidFill>
                  <a:srgbClr val="1E293B"/>
                </a:solidFill>
                <a:latin typeface="Segoe UI"/>
              </a:defRPr>
            </a:pPr>
            <a:r>
              <a:t>• Hotline Hỗ trợ Kỹ thuật: </a:t>
            </a:r>
            <a:r>
              <a:rPr b="0" sz="1100">
                <a:solidFill>
                  <a:srgbClr val="1E293B"/>
                </a:solidFill>
                <a:latin typeface="Segoe UI"/>
              </a:rPr>
              <a:t>• Kỹ thuật hệ thống: Kiều Minh Anh (0366.329.799)
• Điều phối nhân sự: Ban Tổ chức - Kiểm tra
• Kênh hỗ trợ trực tuyến: Nhóm Zalo Điều hành Đại hội Chi đoàn</a:t>
            </a:r>
          </a:p>
          <a:p>
            <a:pPr>
              <a:spcAft>
                <a:spcPts val="1400"/>
              </a:spcAft>
              <a:defRPr b="1" sz="1100">
                <a:solidFill>
                  <a:srgbClr val="1E293B"/>
                </a:solidFill>
                <a:latin typeface="Segoe UI"/>
              </a:defRPr>
            </a:pPr>
            <a:r>
              <a:t>• Website chính thức: </a:t>
            </a:r>
            <a:r>
              <a:rPr b="0" sz="1100">
                <a:solidFill>
                  <a:srgbClr val="1E293B"/>
                </a:solidFill>
                <a:latin typeface="Segoe UI"/>
              </a:rPr>
              <a:t>https://event-tracker-pied.vercel.app/</a:t>
            </a:r>
          </a:p>
          <a:p>
            <a:pPr>
              <a:spcAft>
                <a:spcPts val="1400"/>
              </a:spcAft>
              <a:defRPr b="1" sz="1100">
                <a:solidFill>
                  <a:srgbClr val="1E293B"/>
                </a:solidFill>
                <a:latin typeface="Segoe UI"/>
              </a:defRPr>
            </a:pPr>
            <a:r>
              <a:t>• Lời chúc: </a:t>
            </a:r>
            <a:r>
              <a:rPr b="0" sz="1100">
                <a:solidFill>
                  <a:srgbClr val="1E293B"/>
                </a:solidFill>
                <a:latin typeface="Segoe UI"/>
              </a:rPr>
              <a:t>CHÚC CÁC CHI ĐOÀN TỔ CHỨC ĐẠI HỘI THÀNH CÔNG RỰC RỠ!</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