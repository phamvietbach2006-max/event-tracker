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65760" cy="685800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05840"/>
            <a:ext cx="7498079" cy="3840480"/>
          </a:xfrm>
          <a:prstGeom prst="rect">
            <a:avLst/>
          </a:prstGeom>
          <a:noFill/>
        </p:spPr>
        <p:txBody>
          <a:bodyPr wrap="square">
            <a:spAutoFit/>
          </a:bodyPr>
          <a:lstStyle/>
          <a:p>
            <a:pPr>
              <a:spcAft>
                <a:spcPts val="400"/>
              </a:spcAft>
              <a:defRPr sz="1300" b="1">
                <a:solidFill>
                  <a:srgbClr val="EF4444"/>
                </a:solidFill>
                <a:latin typeface="Segoe UI"/>
              </a:defRPr>
            </a:pPr>
            <a:r>
              <a:t>ĐOÀN TNCS HỒ CHÍ MINH ĐẠI HỌC BÁCH KHOA HÀ NỘI</a:t>
            </a:r>
          </a:p>
          <a:p>
            <a:pPr>
              <a:spcAft>
                <a:spcPts val="2000"/>
              </a:spcAft>
              <a:defRPr sz="1100" b="1">
                <a:solidFill>
                  <a:srgbClr val="CBD5E1"/>
                </a:solidFill>
                <a:latin typeface="Segoe UI"/>
              </a:defRPr>
            </a:pPr>
            <a:r>
              <a:t>BAN TỔ CHỨC - KIỂM TRA ĐOÀN ĐẠI HỌC</a:t>
            </a:r>
          </a:p>
          <a:p>
            <a:pPr>
              <a:defRPr sz="2700" b="1">
                <a:solidFill>
                  <a:srgbClr val="FFFFFF"/>
                </a:solidFill>
                <a:latin typeface="Segoe UI"/>
              </a:defRPr>
            </a:pPr>
            <a:r>
              <a:t>HỆ THỐNG THEO DÕI ĐẠI HỘI CHI ĐOÀN</a:t>
            </a:r>
          </a:p>
          <a:p>
            <a:pPr>
              <a:spcAft>
                <a:spcPts val="1600"/>
              </a:spcAft>
              <a:defRPr sz="2100" b="1">
                <a:solidFill>
                  <a:srgbClr val="FBBF24"/>
                </a:solidFill>
                <a:latin typeface="Segoe UI"/>
              </a:defRPr>
            </a:pPr>
            <a:r>
              <a:t>THỜI GIAN THỰC (REALTIME DASHBOARD)</a:t>
            </a:r>
          </a:p>
          <a:p>
            <a:pPr>
              <a:spcAft>
                <a:spcPts val="600"/>
              </a:spcAft>
              <a:defRPr sz="1300" b="1">
                <a:solidFill>
                  <a:srgbClr val="E2E8F0"/>
                </a:solidFill>
                <a:latin typeface="Segoe UI"/>
              </a:defRPr>
            </a:pPr>
            <a:r>
              <a:t>CẨM NANG HƯỚNG DẪN VẬN HÀNH &amp; TÁC NGHIỆP PHÂN QUYỀN TOÀN DIỆN</a:t>
            </a:r>
          </a:p>
          <a:p>
            <a:pPr>
              <a:defRPr sz="1100">
                <a:solidFill>
                  <a:srgbClr val="94A3B8"/>
                </a:solidFill>
                <a:latin typeface="Segoe UI"/>
              </a:defRPr>
            </a:pPr>
            <a:r>
              <a:t>Phục vụ Đại hội Chi đoàn các khóa K70, K71 • Chuẩn hóa theo Điều lệ Đoàn TNCS Hồ Chí Minh</a:t>
            </a:r>
          </a:p>
        </p:txBody>
      </p:sp>
      <p:sp>
        <p:nvSpPr>
          <p:cNvPr id="5" name="Rounded Rectangle 4"/>
          <p:cNvSpPr/>
          <p:nvPr/>
        </p:nvSpPr>
        <p:spPr>
          <a:xfrm>
            <a:off x="1097280" y="5120640"/>
            <a:ext cx="2377440" cy="1097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spcAft>
                <a:spcPts val="300"/>
              </a:spcAft>
              <a:defRPr sz="950" b="1">
                <a:solidFill>
                  <a:srgbClr val="FBBF24"/>
                </a:solidFill>
                <a:latin typeface="Segoe UI"/>
              </a:defRPr>
            </a:pPr>
            <a:r>
              <a:t>ĐỒNG BỘ 100% REALTIME</a:t>
            </a:r>
          </a:p>
          <a:p>
            <a:pPr>
              <a:defRPr sz="850">
                <a:solidFill>
                  <a:srgbClr val="CBD5E1"/>
                </a:solidFill>
                <a:latin typeface="Segoe UI"/>
              </a:defRPr>
            </a:pPr>
            <a:r>
              <a:t>Server-Sent Events (SSE) &lt; 100ms</a:t>
            </a:r>
          </a:p>
        </p:txBody>
      </p:sp>
      <p:sp>
        <p:nvSpPr>
          <p:cNvPr id="6" name="Rounded Rectangle 5"/>
          <p:cNvSpPr/>
          <p:nvPr/>
        </p:nvSpPr>
        <p:spPr>
          <a:xfrm>
            <a:off x="3657600" y="5120640"/>
            <a:ext cx="2377440" cy="1097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spcAft>
                <a:spcPts val="300"/>
              </a:spcAft>
              <a:defRPr sz="950" b="1">
                <a:solidFill>
                  <a:srgbClr val="FBBF24"/>
                </a:solidFill>
                <a:latin typeface="Segoe UI"/>
              </a:defRPr>
            </a:pPr>
            <a:r>
              <a:t>PHÂN QUYỀN RBAC 5 CẤP</a:t>
            </a:r>
          </a:p>
          <a:p>
            <a:pPr>
              <a:defRPr sz="850">
                <a:solidFill>
                  <a:srgbClr val="CBD5E1"/>
                </a:solidFill>
                <a:latin typeface="Segoe UI"/>
              </a:defRPr>
            </a:pPr>
            <a:r>
              <a:t>Khách • Lớp • Tầng • Tòa • Admin</a:t>
            </a:r>
          </a:p>
        </p:txBody>
      </p:sp>
      <p:sp>
        <p:nvSpPr>
          <p:cNvPr id="7" name="Rounded Rectangle 6"/>
          <p:cNvSpPr/>
          <p:nvPr/>
        </p:nvSpPr>
        <p:spPr>
          <a:xfrm>
            <a:off x="6217920" y="5120640"/>
            <a:ext cx="2377440" cy="1097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spcAft>
                <a:spcPts val="300"/>
              </a:spcAft>
              <a:defRPr sz="950" b="1">
                <a:solidFill>
                  <a:srgbClr val="FBBF24"/>
                </a:solidFill>
                <a:latin typeface="Segoe UI"/>
              </a:defRPr>
            </a:pPr>
            <a:r>
              <a:t>PWA ĐA NỀN TẢNG</a:t>
            </a:r>
          </a:p>
          <a:p>
            <a:pPr>
              <a:defRPr sz="850">
                <a:solidFill>
                  <a:srgbClr val="CBD5E1"/>
                </a:solidFill>
                <a:latin typeface="Segoe UI"/>
              </a:defRPr>
            </a:pPr>
            <a:r>
              <a:t>Màn hình chính iOS Safari &amp; Android</a:t>
            </a:r>
          </a:p>
        </p:txBody>
      </p:sp>
      <p:sp>
        <p:nvSpPr>
          <p:cNvPr id="8" name="Rounded Rectangle 7"/>
          <p:cNvSpPr/>
          <p:nvPr/>
        </p:nvSpPr>
        <p:spPr>
          <a:xfrm>
            <a:off x="8778239" y="5120640"/>
            <a:ext cx="2377440" cy="1097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spcAft>
                <a:spcPts val="300"/>
              </a:spcAft>
              <a:defRPr sz="950" b="1">
                <a:solidFill>
                  <a:srgbClr val="FBBF24"/>
                </a:solidFill>
                <a:latin typeface="Segoe UI"/>
              </a:defRPr>
            </a:pPr>
            <a:r>
              <a:t>KIỂM SOÁT PHÁP LÝ</a:t>
            </a:r>
          </a:p>
          <a:p>
            <a:pPr>
              <a:defRPr sz="850">
                <a:solidFill>
                  <a:srgbClr val="CBD5E1"/>
                </a:solidFill>
                <a:latin typeface="Segoe UI"/>
              </a:defRPr>
            </a:pPr>
            <a:r>
              <a:t>Ràng buộc 2/3 sĩ số &amp; 100% hồ sơ</a:t>
            </a:r>
          </a:p>
        </p:txBody>
      </p:sp>
      <p:pic>
        <p:nvPicPr>
          <p:cNvPr id="9" name="Picture 8" descr="logo_preview.png"/>
          <p:cNvPicPr>
            <a:picLocks noChangeAspect="1"/>
          </p:cNvPicPr>
          <p:nvPr/>
        </p:nvPicPr>
        <p:blipFill>
          <a:blip r:embed="rId2"/>
          <a:stretch>
            <a:fillRect/>
          </a:stretch>
        </p:blipFill>
        <p:spPr>
          <a:xfrm>
            <a:off x="8961120" y="1463040"/>
            <a:ext cx="2560320" cy="25603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HỆ THỐNG THEO DÕI ĐẠI HỘI</a:t>
            </a:r>
          </a:p>
          <a:p>
            <a:pPr>
              <a:defRPr sz="1800" b="1">
                <a:solidFill>
                  <a:srgbClr val="FFFFFF"/>
                </a:solidFill>
                <a:latin typeface="Segoe UI"/>
              </a:defRPr>
            </a:pPr>
            <a:r>
              <a:t>TỔNG QUAN KIẾN TRÚC &amp; MỤC TIÊU CHUYỂN ĐỔI SỐ ĐẠI HỘI</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4755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TOÀN THỂ NGƯỜI DÙNG</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2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Mục tiêu Chuyển đổi số &amp; Các Trụ cột Công nghệ</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1000"/>
              </a:spcAft>
              <a:defRPr b="1" sz="1050">
                <a:solidFill>
                  <a:srgbClr val="1E293B"/>
                </a:solidFill>
                <a:latin typeface="Segoe UI"/>
              </a:defRPr>
            </a:pPr>
            <a:r>
              <a:t>• Mục tiêu Chuyển đổi số: </a:t>
            </a:r>
            <a:r>
              <a:rPr b="0" sz="1050">
                <a:solidFill>
                  <a:srgbClr val="1E293B"/>
                </a:solidFill>
                <a:latin typeface="Segoe UI"/>
              </a:rPr>
              <a:t>Chuyển dịch 100% công tác điều hành từ báo cáo thủ công qua tin nhắn/giấy tờ rời rạc sang bảng điều khiển số tập trung, nắm bắt tình trạng từng phòng học theo thời gian thực.</a:t>
            </a:r>
          </a:p>
          <a:p>
            <a:pPr>
              <a:spcAft>
                <a:spcPts val="1000"/>
              </a:spcAft>
              <a:defRPr b="1" sz="1050">
                <a:solidFill>
                  <a:srgbClr val="1E293B"/>
                </a:solidFill>
                <a:latin typeface="Segoe UI"/>
              </a:defRPr>
            </a:pPr>
            <a:r>
              <a:t>• Đồng bộ Thời gian thực (SSE): </a:t>
            </a:r>
            <a:r>
              <a:rPr b="0" sz="1050">
                <a:solidFill>
                  <a:srgbClr val="1E293B"/>
                </a:solidFill>
                <a:latin typeface="Segoe UI"/>
              </a:rPr>
              <a:t>Cán bộ trực lớp tick chọn checklist hoặc cập nhật sĩ số, dữ liệu lập tức phát tín hiệu Server-Sent Events cập nhật tức thời tới điện thoại của Phụ trách Tầng, Tòa nhà và Ban Quản trị dưới 100ms.</a:t>
            </a:r>
          </a:p>
          <a:p>
            <a:pPr>
              <a:spcAft>
                <a:spcPts val="1000"/>
              </a:spcAft>
              <a:defRPr b="1" sz="1050">
                <a:solidFill>
                  <a:srgbClr val="1E293B"/>
                </a:solidFill>
                <a:latin typeface="Segoe UI"/>
              </a:defRPr>
            </a:pPr>
            <a:r>
              <a:t>• Khả năng Chịu tải Cao &amp; Độ trễ cực thấp: </a:t>
            </a:r>
            <a:r>
              <a:rPr b="0" sz="1050">
                <a:solidFill>
                  <a:srgbClr val="1E293B"/>
                </a:solidFill>
                <a:latin typeface="Segoe UI"/>
              </a:rPr>
              <a:t>Kiến trúc SQLite WAL (Write-Ahead Logging) + Edge Cache tại Singapore (sin1), đo lường chịu tải thực tế 200 CC đạt thông lượng 194 req/s với độ trễ chỉ 88ms (nhanh gấp 25 lần).</a:t>
            </a:r>
          </a:p>
          <a:p>
            <a:pPr>
              <a:spcAft>
                <a:spcPts val="1000"/>
              </a:spcAft>
              <a:defRPr b="1" sz="1050">
                <a:solidFill>
                  <a:srgbClr val="1E293B"/>
                </a:solidFill>
                <a:latin typeface="Segoe UI"/>
              </a:defRPr>
            </a:pPr>
            <a:r>
              <a:t>• Bảo mật Phân quyền &amp; Ẩn thông tin cá nhân: </a:t>
            </a:r>
            <a:r>
              <a:rPr b="0" sz="1050">
                <a:solidFill>
                  <a:srgbClr val="1E293B"/>
                </a:solidFill>
                <a:latin typeface="Segoe UI"/>
              </a:rPr>
              <a:t>Phân quyền RBAC 5 cấp độ nghiêm ngặt. Người xem công khai chỉ thấy tiến độ và số phòng; thông tin cán bộ (Email, SĐT) chỉ hiển thị cho cán bộ đăng nhập nhiệm vụ.</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Giao diện Bảng Điều khiển Tập trung Toàn trường</a:t>
            </a:r>
          </a:p>
        </p:txBody>
      </p:sp>
      <p:pic>
        <p:nvPicPr>
          <p:cNvPr id="13" name="Picture 12" descr="full_preview.png"/>
          <p:cNvPicPr>
            <a:picLocks noChangeAspect="1"/>
          </p:cNvPicPr>
          <p:nvPr/>
        </p:nvPicPr>
        <p:blipFill>
          <a:blip r:embed="rId2"/>
          <a:stretch>
            <a:fillRect/>
          </a:stretch>
        </p:blipFill>
        <p:spPr>
          <a:xfrm>
            <a:off x="7062847" y="1645920"/>
            <a:ext cx="3705105" cy="4023360"/>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Hệ thống hiển thị hàng trăm phòng học trực quan theo từng tầng và tòa nhà</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CÀI ĐẶT ỨNG DỤNG DI ĐỘNG</a:t>
            </a:r>
          </a:p>
          <a:p>
            <a:pPr>
              <a:defRPr sz="1800" b="1">
                <a:solidFill>
                  <a:srgbClr val="FFFFFF"/>
                </a:solidFill>
                <a:latin typeface="Segoe UI"/>
              </a:defRPr>
            </a:pPr>
            <a:r>
              <a:t>HƯỚNG DẪN CÀI ĐẶT PWA TRÊN iOS (IPHONE / IPAD - SAFARI)</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2563EB"/>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NGƯỜI DÙNG iOS</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3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4 Bước Đưa Hệ thống Ra Màn hình Chính trên iOS</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Mở Safari: </a:t>
            </a:r>
            <a:r>
              <a:rPr b="0" sz="1050">
                <a:solidFill>
                  <a:srgbClr val="1E293B"/>
                </a:solidFill>
                <a:latin typeface="Segoe UI"/>
              </a:rPr>
              <a:t>Khởi động trình duyệt Safari trên iPhone/iPad và nhập địa chỉ: https://event-tracker-pied.vercel.app/ (Lưu ý: Bắt buộc dùng Safari, Chrome trên iOS không hỗ trợ cài PWA).</a:t>
            </a:r>
          </a:p>
          <a:p>
            <a:pPr>
              <a:spcAft>
                <a:spcPts val="800"/>
              </a:spcAft>
              <a:defRPr b="1" sz="1050">
                <a:solidFill>
                  <a:srgbClr val="1E293B"/>
                </a:solidFill>
                <a:latin typeface="Segoe UI"/>
              </a:defRPr>
            </a:pPr>
            <a:r>
              <a:t>• [Bước 2] Bấm nút Chia sẻ [ ↑ ]: </a:t>
            </a:r>
            <a:r>
              <a:rPr b="0" sz="1050">
                <a:solidFill>
                  <a:srgbClr val="1E293B"/>
                </a:solidFill>
                <a:latin typeface="Segoe UI"/>
              </a:rPr>
              <a:t>Tìm thanh công cụ dưới đáy màn hình Safari và chạm vào biểu tượng Share hình ô vuông có mũi tên hướng lên [ ↑ ].</a:t>
            </a:r>
          </a:p>
          <a:p>
            <a:pPr>
              <a:spcAft>
                <a:spcPts val="800"/>
              </a:spcAft>
              <a:defRPr b="1" sz="1050">
                <a:solidFill>
                  <a:srgbClr val="1E293B"/>
                </a:solidFill>
                <a:latin typeface="Segoe UI"/>
              </a:defRPr>
            </a:pPr>
            <a:r>
              <a:t>• [Bước 3] Chọn 'Thêm vào MH chính': </a:t>
            </a:r>
            <a:r>
              <a:rPr b="0" sz="1050">
                <a:solidFill>
                  <a:srgbClr val="1E293B"/>
                </a:solidFill>
                <a:latin typeface="Segoe UI"/>
              </a:rPr>
              <a:t>Cuộn danh sách menu tùy chọn xuống dưới và chạm vào dòng chữ 'Thêm vào MH chính' (Add to Home Screen).</a:t>
            </a:r>
          </a:p>
          <a:p>
            <a:pPr>
              <a:spcAft>
                <a:spcPts val="800"/>
              </a:spcAft>
              <a:defRPr b="1" sz="1050">
                <a:solidFill>
                  <a:srgbClr val="1E293B"/>
                </a:solidFill>
                <a:latin typeface="Segoe UI"/>
              </a:defRPr>
            </a:pPr>
            <a:r>
              <a:t>• [Bước 4] Xác nhận 'Thêm': </a:t>
            </a:r>
            <a:r>
              <a:rPr b="0" sz="1050">
                <a:solidFill>
                  <a:srgbClr val="1E293B"/>
                </a:solidFill>
                <a:latin typeface="Segoe UI"/>
              </a:rPr>
              <a:t>Kiểm tra tên hiển thị 'Đại hội Chi đoàn', sau đó chạm nút 'Thêm' (Add) ở góc trên bên phải màn hình.</a:t>
            </a:r>
          </a:p>
        </p:txBody>
      </p:sp>
      <p:sp>
        <p:nvSpPr>
          <p:cNvPr id="11" name="Rounded Rectangle 10"/>
          <p:cNvSpPr/>
          <p:nvPr/>
        </p:nvSpPr>
        <p:spPr>
          <a:xfrm>
            <a:off x="777240" y="4846320"/>
            <a:ext cx="5029200" cy="123444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956048"/>
            <a:ext cx="4700016" cy="1014984"/>
          </a:xfrm>
          <a:prstGeom prst="rect">
            <a:avLst/>
          </a:prstGeom>
          <a:noFill/>
        </p:spPr>
        <p:txBody>
          <a:bodyPr wrap="square" lIns="0" tIns="0" bIns="0" rIns="0">
            <a:spAutoFit/>
          </a:bodyPr>
          <a:lstStyle/>
          <a:p>
            <a:pPr>
              <a:spcAft>
                <a:spcPts val="300"/>
              </a:spcAft>
              <a:defRPr sz="1000" b="1">
                <a:solidFill>
                  <a:srgbClr val="B91C1C"/>
                </a:solidFill>
                <a:latin typeface="Segoe UI"/>
              </a:defRPr>
            </a:pPr>
            <a:r>
              <a:t>ƯU ĐIỂM KHI DÙNG CHẾ ĐỘ PWA (MÀN HÌNH CHÍNH &amp; MÀN HÌNH CHỜ)</a:t>
            </a:r>
          </a:p>
          <a:p>
            <a:pPr>
              <a:defRPr sz="950" b="0">
                <a:solidFill>
                  <a:srgbClr val="1E293B"/>
                </a:solidFill>
                <a:latin typeface="Segoe UI"/>
              </a:defRPr>
            </a:pPr>
            <a:r>
              <a:t>• Ứng dụng chạy toàn màn hình (Standalone), không có thanh địa chỉ web vướng víu.</a:t>
            </a:r>
            <a:br/>
            <a:r>
              <a:t>• Biểu tượng hiện cả trên Màn hình chính và Màn hình chờ/khóa (Standby).</a:t>
            </a:r>
            <a:br/>
            <a:r>
              <a:t>• Bộ nhớ đệm tự động giúp mở nhanh tức thì ngay cả khi mạng 4G hội trường yếu.</a:t>
            </a:r>
          </a:p>
        </p:txBody>
      </p:sp>
      <p:sp>
        <p:nvSpPr>
          <p:cNvPr id="13" name="Rounded Rectangle 12"/>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Infographic Hướng dẫn Chi tiết trên iPhone Safari</a:t>
            </a:r>
          </a:p>
        </p:txBody>
      </p:sp>
      <p:pic>
        <p:nvPicPr>
          <p:cNvPr id="15" name="Picture 14" descr="pwa_ios_guide.png"/>
          <p:cNvPicPr>
            <a:picLocks noChangeAspect="1"/>
          </p:cNvPicPr>
          <p:nvPr/>
        </p:nvPicPr>
        <p:blipFill>
          <a:blip r:embed="rId2"/>
          <a:stretch>
            <a:fillRect/>
          </a:stretch>
        </p:blipFill>
        <p:spPr>
          <a:xfrm>
            <a:off x="6400800" y="2190750"/>
            <a:ext cx="5029200" cy="2933700"/>
          </a:xfrm>
          <a:prstGeom prst="rect">
            <a:avLst/>
          </a:prstGeom>
          <a:ln w="12700">
            <a:solidFill>
              <a:srgbClr val="E2E8F0"/>
            </a:solidFill>
          </a:ln>
        </p:spPr>
      </p:pic>
      <p:sp>
        <p:nvSpPr>
          <p:cNvPr id="16" name="TextBox 15"/>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Thao tác 4 bước đơn giản để biến website thành ứng dụng độc lập trên iPhone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CÀI ĐẶT ỨNG DỤNG DI ĐỘNG</a:t>
            </a:r>
          </a:p>
          <a:p>
            <a:pPr>
              <a:defRPr sz="1800" b="1">
                <a:solidFill>
                  <a:srgbClr val="FFFFFF"/>
                </a:solidFill>
                <a:latin typeface="Segoe UI"/>
              </a:defRPr>
            </a:pPr>
            <a:r>
              <a:t>HƯỚNG DẪN CÀI ĐẶT PWA TRÊN ANDROID (GOOGLE CHROME)</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NGƯỜI DÙNG ANDROID</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4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4 Bước Cài đặt Ứng dụng trên Điện thoại Android</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Mở Google Chrome: </a:t>
            </a:r>
            <a:r>
              <a:rPr b="0" sz="1050">
                <a:solidFill>
                  <a:srgbClr val="1E293B"/>
                </a:solidFill>
                <a:latin typeface="Segoe UI"/>
              </a:rPr>
              <a:t>Khởi động ứng dụng Chrome (hoặc Cốc Cốc, Samsung Internet) trên thiết bị Android và truy cập đường dẫn: https://event-tracker-pied.vercel.app/</a:t>
            </a:r>
          </a:p>
          <a:p>
            <a:pPr>
              <a:spcAft>
                <a:spcPts val="800"/>
              </a:spcAft>
              <a:defRPr b="1" sz="1050">
                <a:solidFill>
                  <a:srgbClr val="1E293B"/>
                </a:solidFill>
                <a:latin typeface="Segoe UI"/>
              </a:defRPr>
            </a:pPr>
            <a:r>
              <a:t>• [Bước 2] Mở Menu Dấu 3 chấm [ ⋮ ]: </a:t>
            </a:r>
            <a:r>
              <a:rPr b="0" sz="1050">
                <a:solidFill>
                  <a:srgbClr val="1E293B"/>
                </a:solidFill>
                <a:latin typeface="Segoe UI"/>
              </a:rPr>
              <a:t>Chạm vào biểu tượng dấu 3 chấm dọc [ ⋮ ] ở góc trên cùng bên phải thanh địa chỉ trình duyệt.</a:t>
            </a:r>
          </a:p>
          <a:p>
            <a:pPr>
              <a:spcAft>
                <a:spcPts val="800"/>
              </a:spcAft>
              <a:defRPr b="1" sz="1050">
                <a:solidFill>
                  <a:srgbClr val="1E293B"/>
                </a:solidFill>
                <a:latin typeface="Segoe UI"/>
              </a:defRPr>
            </a:pPr>
            <a:r>
              <a:t>• [Bước 3] Chọn 'Cài đặt ứng dụng': </a:t>
            </a:r>
            <a:r>
              <a:rPr b="0" sz="1050">
                <a:solidFill>
                  <a:srgbClr val="1E293B"/>
                </a:solidFill>
                <a:latin typeface="Segoe UI"/>
              </a:rPr>
              <a:t>Tìm trong menu và chọn dòng 'Cài đặt ứng dụng' (Install App) hoặc 'Thêm vào Màn hình chính' (Add to Home screen).</a:t>
            </a:r>
          </a:p>
          <a:p>
            <a:pPr>
              <a:spcAft>
                <a:spcPts val="800"/>
              </a:spcAft>
              <a:defRPr b="1" sz="1050">
                <a:solidFill>
                  <a:srgbClr val="1E293B"/>
                </a:solidFill>
                <a:latin typeface="Segoe UI"/>
              </a:defRPr>
            </a:pPr>
            <a:r>
              <a:t>• [Bước 4] Xác nhận Cài đặt: </a:t>
            </a:r>
            <a:r>
              <a:rPr b="0" sz="1050">
                <a:solidFill>
                  <a:srgbClr val="1E293B"/>
                </a:solidFill>
                <a:latin typeface="Segoe UI"/>
              </a:rPr>
              <a:t>Hộp thoại pop-up xuất hiện, bấm nút 'Cài đặt' (Install). Biểu tượng ứng dụng sẽ lập tức được ghim ra màn hình chính.</a:t>
            </a:r>
          </a:p>
        </p:txBody>
      </p:sp>
      <p:sp>
        <p:nvSpPr>
          <p:cNvPr id="11" name="Rounded Rectangle 10"/>
          <p:cNvSpPr/>
          <p:nvPr/>
        </p:nvSpPr>
        <p:spPr>
          <a:xfrm>
            <a:off x="777240" y="4846320"/>
            <a:ext cx="5029200" cy="123444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956048"/>
            <a:ext cx="4700016" cy="1014984"/>
          </a:xfrm>
          <a:prstGeom prst="rect">
            <a:avLst/>
          </a:prstGeom>
          <a:noFill/>
        </p:spPr>
        <p:txBody>
          <a:bodyPr wrap="square" lIns="0" tIns="0" bIns="0" rIns="0">
            <a:spAutoFit/>
          </a:bodyPr>
          <a:lstStyle/>
          <a:p>
            <a:pPr>
              <a:spcAft>
                <a:spcPts val="300"/>
              </a:spcAft>
              <a:defRPr sz="1000" b="1">
                <a:solidFill>
                  <a:srgbClr val="B91C1C"/>
                </a:solidFill>
                <a:latin typeface="Segoe UI"/>
              </a:defRPr>
            </a:pPr>
            <a:r>
              <a:t>TÍNH NĂNG VƯỢT TRỘI TRÊN NỀN TẢNG ANDROID</a:t>
            </a:r>
          </a:p>
          <a:p>
            <a:pPr>
              <a:defRPr sz="950" b="0">
                <a:solidFill>
                  <a:srgbClr val="1E293B"/>
                </a:solidFill>
                <a:latin typeface="Segoe UI"/>
              </a:defRPr>
            </a:pPr>
            <a:r>
              <a:t>• Tích hợp trực tiếp vào ngăn kéo ứng dụng (App Drawer) của điện thoại.</a:t>
            </a:r>
            <a:br/>
            <a:r>
              <a:t>• Hỗ trợ nhận thông báo đẩy khẩn cấp từ Ban Thường vụ Đoàn trường.</a:t>
            </a:r>
            <a:br/>
            <a:r>
              <a:t>• Khởi động chỉ 1 chạm, tự động ghi nhớ tài khoản cán bộ mà không cần đăng nhập lại.</a:t>
            </a:r>
          </a:p>
        </p:txBody>
      </p:sp>
      <p:sp>
        <p:nvSpPr>
          <p:cNvPr id="13" name="Rounded Rectangle 12"/>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Infographic Hướng dẫn Chi tiết trên Android Chrome</a:t>
            </a:r>
          </a:p>
        </p:txBody>
      </p:sp>
      <p:pic>
        <p:nvPicPr>
          <p:cNvPr id="15" name="Picture 14" descr="pwa_android_guide.png"/>
          <p:cNvPicPr>
            <a:picLocks noChangeAspect="1"/>
          </p:cNvPicPr>
          <p:nvPr/>
        </p:nvPicPr>
        <p:blipFill>
          <a:blip r:embed="rId2"/>
          <a:stretch>
            <a:fillRect/>
          </a:stretch>
        </p:blipFill>
        <p:spPr>
          <a:xfrm>
            <a:off x="6400800" y="2190750"/>
            <a:ext cx="5029200" cy="2933700"/>
          </a:xfrm>
          <a:prstGeom prst="rect">
            <a:avLst/>
          </a:prstGeom>
          <a:ln w="12700">
            <a:solidFill>
              <a:srgbClr val="E2E8F0"/>
            </a:solidFill>
          </a:ln>
        </p:spPr>
      </p:pic>
      <p:sp>
        <p:nvSpPr>
          <p:cNvPr id="16" name="TextBox 15"/>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Cài đặt ứng dụng nhanh chóng qua thanh công cụ Google Chrome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BẢO MẬT &amp; PHÂN QUYỀN</a:t>
            </a:r>
          </a:p>
          <a:p>
            <a:pPr>
              <a:defRPr sz="1800" b="1">
                <a:solidFill>
                  <a:srgbClr val="FFFFFF"/>
                </a:solidFill>
                <a:latin typeface="Segoe UI"/>
              </a:defRPr>
            </a:pPr>
            <a:r>
              <a:t>QUY TRÌNH ĐĂNG NHẬP &amp; MA TRẬN PHÂN QUYỀN HỆ THỐNG</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B91C1C"/>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CÁC CẤP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5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Quy trình Đăng nhập &amp; Ma trận Phân quyền 5 Cấp</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600"/>
              </a:spcAft>
              <a:defRPr b="1" sz="1000">
                <a:solidFill>
                  <a:srgbClr val="1E293B"/>
                </a:solidFill>
                <a:latin typeface="Segoe UI"/>
              </a:defRPr>
            </a:pPr>
            <a:r>
              <a:t>• [Bước 1] Mở Modal Đăng nhập: </a:t>
            </a:r>
            <a:r>
              <a:rPr b="0" sz="1000">
                <a:solidFill>
                  <a:srgbClr val="1E293B"/>
                </a:solidFill>
                <a:latin typeface="Segoe UI"/>
              </a:rPr>
              <a:t>Bấm nút 'Đăng nhập Cán bộ' trên Header hoặc truy cập qua Magic Link một chạm được Ban Tổ chức cấp qua Zalo/Email.</a:t>
            </a:r>
          </a:p>
          <a:p>
            <a:pPr>
              <a:spcAft>
                <a:spcPts val="600"/>
              </a:spcAft>
              <a:defRPr b="1" sz="1000">
                <a:solidFill>
                  <a:srgbClr val="1E293B"/>
                </a:solidFill>
                <a:latin typeface="Segoe UI"/>
              </a:defRPr>
            </a:pPr>
            <a:r>
              <a:t>• [Bước 2] Nhập Tài khoản: </a:t>
            </a:r>
            <a:r>
              <a:rPr b="0" sz="1000">
                <a:solidFill>
                  <a:srgbClr val="1E293B"/>
                </a:solidFill>
                <a:latin typeface="Segoe UI"/>
              </a:rPr>
              <a:t>Nhập địa chỉ Email sinh viên (@sis.hust.edu.vn) và Mật khẩu được cấp. Sau đó bấm nút 'Đăng nhập'.</a:t>
            </a:r>
          </a:p>
          <a:p>
            <a:pPr>
              <a:spcAft>
                <a:spcPts val="600"/>
              </a:spcAft>
              <a:defRPr b="1" sz="1000">
                <a:solidFill>
                  <a:srgbClr val="1E293B"/>
                </a:solidFill>
                <a:latin typeface="Segoe UI"/>
              </a:defRPr>
            </a:pPr>
            <a:r>
              <a:t>• 1. Khách / Đoàn viên (Guest): </a:t>
            </a:r>
            <a:r>
              <a:rPr b="0" sz="1000">
                <a:solidFill>
                  <a:srgbClr val="1E293B"/>
                </a:solidFill>
                <a:latin typeface="Segoe UI"/>
              </a:rPr>
              <a:t>Chỉ xem tiến độ công khai, tra cứu vị trí phòng học và sơ đồ bản đồ, ẩn toàn bộ số điện thoại cá nhân.</a:t>
            </a:r>
          </a:p>
          <a:p>
            <a:pPr>
              <a:spcAft>
                <a:spcPts val="600"/>
              </a:spcAft>
              <a:defRPr b="1" sz="1000">
                <a:solidFill>
                  <a:srgbClr val="1E293B"/>
                </a:solidFill>
                <a:latin typeface="Segoe UI"/>
              </a:defRPr>
            </a:pPr>
            <a:r>
              <a:t>• 2. Cán bộ Trực lớp (Room Lead): </a:t>
            </a:r>
            <a:r>
              <a:rPr b="0" sz="1000">
                <a:solidFill>
                  <a:srgbClr val="1E293B"/>
                </a:solidFill>
                <a:latin typeface="Segoe UI"/>
              </a:rPr>
              <a:t>Nhập sĩ số, tích hồ sơ, viết ghi chú kiểm tra, cập nhật trạng thái, Lưu và Khóa các chi đoàn được phân công.</a:t>
            </a:r>
          </a:p>
          <a:p>
            <a:pPr>
              <a:spcAft>
                <a:spcPts val="600"/>
              </a:spcAft>
              <a:defRPr b="1" sz="1000">
                <a:solidFill>
                  <a:srgbClr val="1E293B"/>
                </a:solidFill>
                <a:latin typeface="Segoe UI"/>
              </a:defRPr>
            </a:pPr>
            <a:r>
              <a:t>• 3. Phụ trách Tầng (Floor Lead): </a:t>
            </a:r>
            <a:r>
              <a:rPr b="0" sz="1000">
                <a:solidFill>
                  <a:srgbClr val="1E293B"/>
                </a:solidFill>
                <a:latin typeface="Segoe UI"/>
              </a:rPr>
              <a:t>Giám sát tất cả lớp trong tầng, có thẩm quyền MỞ KHÓA (Unlock) khi lớp bị khóa sai số, gửi thông báo tầng.</a:t>
            </a:r>
          </a:p>
          <a:p>
            <a:pPr>
              <a:spcAft>
                <a:spcPts val="600"/>
              </a:spcAft>
              <a:defRPr b="1" sz="1000">
                <a:solidFill>
                  <a:srgbClr val="1E293B"/>
                </a:solidFill>
                <a:latin typeface="Segoe UI"/>
              </a:defRPr>
            </a:pPr>
            <a:r>
              <a:t>• 4. Phụ trách Tòa nhà (Unit Lead): </a:t>
            </a:r>
            <a:r>
              <a:rPr b="0" sz="1000">
                <a:solidFill>
                  <a:srgbClr val="1E293B"/>
                </a:solidFill>
                <a:latin typeface="Segoe UI"/>
              </a:rPr>
              <a:t>Điều hành toàn bộ tòa nhà / liên chi đoàn, có quyền mở khóa cấp tòa, gửi thông báo toàn đơn vị.</a:t>
            </a:r>
          </a:p>
          <a:p>
            <a:pPr>
              <a:spcAft>
                <a:spcPts val="600"/>
              </a:spcAft>
              <a:defRPr b="1" sz="1000">
                <a:solidFill>
                  <a:srgbClr val="1E293B"/>
                </a:solidFill>
                <a:latin typeface="Segoe UI"/>
              </a:defRPr>
            </a:pPr>
            <a:r>
              <a:t>• 5. Ban Quản trị (Admin): </a:t>
            </a:r>
            <a:r>
              <a:rPr b="0" sz="1000">
                <a:solidFill>
                  <a:srgbClr val="1E293B"/>
                </a:solidFill>
                <a:latin typeface="Segoe UI"/>
              </a:rPr>
              <a:t>Toàn quyền quản trị hệ thống, cấp lại mật khẩu, phân công cán bộ, xem Audit Logs và phát cảnh báo toàn trường.</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Hộp thoại Đăng nhập Cán bộ Kiểm tra</a:t>
            </a:r>
          </a:p>
        </p:txBody>
      </p:sp>
      <p:pic>
        <p:nvPicPr>
          <p:cNvPr id="13" name="Picture 12" descr="media_1791986024994_52b26b5b.png"/>
          <p:cNvPicPr>
            <a:picLocks noChangeAspect="1"/>
          </p:cNvPicPr>
          <p:nvPr/>
        </p:nvPicPr>
        <p:blipFill>
          <a:blip r:embed="rId2"/>
          <a:stretch>
            <a:fillRect/>
          </a:stretch>
        </p:blipFill>
        <p:spPr>
          <a:xfrm>
            <a:off x="7647053" y="1645920"/>
            <a:ext cx="2536692" cy="4023360"/>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Hộp thoại Đăng nhập Cán bộ: Nhập Email @sis.hust.edu.vn và mật khẩu bảo mật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HƯỚNG DẪN TRA CỨU</a:t>
            </a:r>
          </a:p>
          <a:p>
            <a:pPr>
              <a:defRPr sz="1800" b="1">
                <a:solidFill>
                  <a:srgbClr val="FFFFFF"/>
                </a:solidFill>
                <a:latin typeface="Segoe UI"/>
              </a:defRPr>
            </a:pPr>
            <a:r>
              <a:t>DÀNH CHO ĐOÀN VIÊN &amp; KHÁCH: TRA CỨU TIẾN ĐỘ &amp; BẢN ĐỒ</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284C7"/>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KHÁCH &amp; ĐOÀN VIÊN</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6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Các Bước Tra cứu Tiến độ &amp; Định vị Không gian</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Truy cập Trang chủ: </a:t>
            </a:r>
            <a:r>
              <a:rPr b="0" sz="1050">
                <a:solidFill>
                  <a:srgbClr val="1E293B"/>
                </a:solidFill>
                <a:latin typeface="Segoe UI"/>
              </a:rPr>
              <a:t>Mở liên kết https://event-tracker-pied.vercel.app/ trên bất kỳ thiết bị nào (máy tính, máy tính bảng, điện thoại).</a:t>
            </a:r>
          </a:p>
          <a:p>
            <a:pPr>
              <a:spcAft>
                <a:spcPts val="800"/>
              </a:spcAft>
              <a:defRPr b="1" sz="1050">
                <a:solidFill>
                  <a:srgbClr val="1E293B"/>
                </a:solidFill>
                <a:latin typeface="Segoe UI"/>
              </a:defRPr>
            </a:pPr>
            <a:r>
              <a:t>• [Bước 2] Quan sát Topbar Tổng quan: </a:t>
            </a:r>
            <a:r>
              <a:rPr b="0" sz="1050">
                <a:solidFill>
                  <a:srgbClr val="1E293B"/>
                </a:solidFill>
                <a:latin typeface="Segoe UI"/>
              </a:rPr>
              <a:t>Thanh thống kê trên cùng hiển thị tổng số chi đoàn toàn trường, tỷ lệ phần trăm đã hoàn thành và số lượng lớp theo từng trạng thái (Đỏ, Vàng, Xanh, Tím).</a:t>
            </a:r>
          </a:p>
          <a:p>
            <a:pPr>
              <a:spcAft>
                <a:spcPts val="800"/>
              </a:spcAft>
              <a:defRPr b="1" sz="1050">
                <a:solidFill>
                  <a:srgbClr val="1E293B"/>
                </a:solidFill>
                <a:latin typeface="Segoe UI"/>
              </a:defRPr>
            </a:pPr>
            <a:r>
              <a:t>• [Bước 3] Tra cứu theo Tầng &amp; Tòa nhà: </a:t>
            </a:r>
            <a:r>
              <a:rPr b="0" sz="1050">
                <a:solidFill>
                  <a:srgbClr val="1E293B"/>
                </a:solidFill>
                <a:latin typeface="Segoe UI"/>
              </a:rPr>
              <a:t>Danh sách hiển thị phân theo từng tầng. Người dùng bấm vào thanh Accordion tiêu đề tầng để xem chi tiết các lớp hoặc thu gọn để nhìn tổng thể.</a:t>
            </a:r>
          </a:p>
          <a:p>
            <a:pPr>
              <a:spcAft>
                <a:spcPts val="800"/>
              </a:spcAft>
              <a:defRPr b="1" sz="1050">
                <a:solidFill>
                  <a:srgbClr val="1E293B"/>
                </a:solidFill>
                <a:latin typeface="Segoe UI"/>
              </a:defRPr>
            </a:pPr>
            <a:r>
              <a:t>• [Bước 4] Chuyển sang Bản đồ HUSTMAP: </a:t>
            </a:r>
            <a:r>
              <a:rPr b="0" sz="1050">
                <a:solidFill>
                  <a:srgbClr val="1E293B"/>
                </a:solidFill>
                <a:latin typeface="Segoe UI"/>
              </a:rPr>
              <a:t>Bấm tab 'Sơ đồ' trên menu để mở bản đồ số khuôn viên ĐHBK Hà Nội. Bấm vào từng tòa nhà để xem danh sách lớp đang họp tại tòa đó.</a:t>
            </a:r>
          </a:p>
          <a:p>
            <a:pPr>
              <a:spcAft>
                <a:spcPts val="800"/>
              </a:spcAft>
              <a:defRPr b="1" sz="1050">
                <a:solidFill>
                  <a:srgbClr val="1E293B"/>
                </a:solidFill>
                <a:latin typeface="Segoe UI"/>
              </a:defRPr>
            </a:pPr>
            <a:r>
              <a:t>• Chức năng Thanh Tìm kiếm [Search]: </a:t>
            </a:r>
            <a:r>
              <a:rPr b="0" sz="1050">
                <a:solidFill>
                  <a:srgbClr val="1E293B"/>
                </a:solidFill>
                <a:latin typeface="Segoe UI"/>
              </a:rPr>
              <a:t>Gõ tên chi đoàn (VD: 'IT1-01', 'EE2-05') hoặc số phòng ('D3-201') để lọc ra ngay thẻ lớp cần tìm trong chớp mắt.</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Bảng Giám sát Công khai theo Tầng &amp; Phòng học</a:t>
            </a:r>
          </a:p>
        </p:txBody>
      </p:sp>
      <p:pic>
        <p:nvPicPr>
          <p:cNvPr id="13" name="Picture 12" descr="full_preview.png"/>
          <p:cNvPicPr>
            <a:picLocks noChangeAspect="1"/>
          </p:cNvPicPr>
          <p:nvPr/>
        </p:nvPicPr>
        <p:blipFill>
          <a:blip r:embed="rId2"/>
          <a:stretch>
            <a:fillRect/>
          </a:stretch>
        </p:blipFill>
        <p:spPr>
          <a:xfrm>
            <a:off x="7062847" y="1645920"/>
            <a:ext cx="3705105" cy="4023360"/>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Giao diện công khai: Trực quan, bảo mật thông tin cá nhân, cập nhật từng giây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HƯỚNG DẪN TRA CỨU</a:t>
            </a:r>
          </a:p>
          <a:p>
            <a:pPr>
              <a:defRPr sz="1800" b="1">
                <a:solidFill>
                  <a:srgbClr val="FFFFFF"/>
                </a:solidFill>
                <a:latin typeface="Segoe UI"/>
              </a:defRPr>
            </a:pPr>
            <a:r>
              <a:t>DÀNH CHO ĐOÀN VIÊN &amp; KHÁCH: BỘ LỌC ĐA NĂNG &amp; TÌM KIẾM</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284C7"/>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KHÁCH &amp; ĐOÀN VIÊN</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7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Hướng dẫn Thao tác Sử dụng Bộ lọc Đa chiều</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Lọc theo Đơn vị Quản lý: </a:t>
            </a:r>
            <a:r>
              <a:rPr b="0" sz="1050">
                <a:solidFill>
                  <a:srgbClr val="1E293B"/>
                </a:solidFill>
                <a:latin typeface="Segoe UI"/>
              </a:rPr>
              <a:t>Bấm mở Sidebar bên trái, chọn Đơn vị quản lý (Trường Điện-Điện tử, Trường CNTT&amp;TT, Trường Cơ khí, Khoa Ngoại ngữ...) để chỉ xem các lớp thuộc đơn vị đó.</a:t>
            </a:r>
          </a:p>
          <a:p>
            <a:pPr>
              <a:spcAft>
                <a:spcPts val="800"/>
              </a:spcAft>
              <a:defRPr b="1" sz="1050">
                <a:solidFill>
                  <a:srgbClr val="1E293B"/>
                </a:solidFill>
                <a:latin typeface="Segoe UI"/>
              </a:defRPr>
            </a:pPr>
            <a:r>
              <a:t>• [Bước 2] Lọc theo Kíp thời gian: </a:t>
            </a:r>
            <a:r>
              <a:rPr b="0" sz="1050">
                <a:solidFill>
                  <a:srgbClr val="1E293B"/>
                </a:solidFill>
                <a:latin typeface="Segoe UI"/>
              </a:rPr>
              <a:t>Bấm các Chip lọc kíp trên thanh công cụ:
• Tất cả kíp
• Kíp Sáng (Kíp 1: 07h00-09h00, Kíp 2: 09h30-11h30)
• Kíp Chiều (Kíp 3: 13h00-15h00, Kíp 4: 15h30-17h30).</a:t>
            </a:r>
          </a:p>
          <a:p>
            <a:pPr>
              <a:spcAft>
                <a:spcPts val="800"/>
              </a:spcAft>
              <a:defRPr b="1" sz="1050">
                <a:solidFill>
                  <a:srgbClr val="1E293B"/>
                </a:solidFill>
                <a:latin typeface="Segoe UI"/>
              </a:defRPr>
            </a:pPr>
            <a:r>
              <a:t>• [Bước 3] Lọc theo Khóa sinh viên: </a:t>
            </a:r>
            <a:r>
              <a:rPr b="0" sz="1050">
                <a:solidFill>
                  <a:srgbClr val="1E293B"/>
                </a:solidFill>
                <a:latin typeface="Segoe UI"/>
              </a:rPr>
              <a:t>Chọn chip 'K70' (khóa năm 2, hồ sơ 8 mục kiểm tra) hoặc 'K71' (khóa năm 1, hồ sơ 4 mục kiểm tra rút gọn).</a:t>
            </a:r>
          </a:p>
          <a:p>
            <a:pPr>
              <a:spcAft>
                <a:spcPts val="800"/>
              </a:spcAft>
              <a:defRPr b="1" sz="1050">
                <a:solidFill>
                  <a:srgbClr val="1E293B"/>
                </a:solidFill>
                <a:latin typeface="Segoe UI"/>
              </a:defRPr>
            </a:pPr>
            <a:r>
              <a:t>• [Bước 4] Lọc theo Trạng thái Tiến độ: </a:t>
            </a:r>
            <a:r>
              <a:rPr b="0" sz="1050">
                <a:solidFill>
                  <a:srgbClr val="1E293B"/>
                </a:solidFill>
                <a:latin typeface="Segoe UI"/>
              </a:rPr>
              <a:t>Bấm vào các huy hiệu trạng thái: Chưa tổ chức (Đỏ), Đang tiến hành (Vàng), Đã xong (Xanh), Đã hủy (Tím) để lọc ra lớp theo tiến độ mong muốn.</a:t>
            </a:r>
          </a:p>
          <a:p>
            <a:pPr>
              <a:spcAft>
                <a:spcPts val="800"/>
              </a:spcAft>
              <a:defRPr b="1" sz="1050">
                <a:solidFill>
                  <a:srgbClr val="1E293B"/>
                </a:solidFill>
                <a:latin typeface="Segoe UI"/>
              </a:defRPr>
            </a:pPr>
            <a:r>
              <a:t>• Nút Đặt lại Bộ lọc [Xóa lọc]: </a:t>
            </a:r>
            <a:r>
              <a:rPr b="0" sz="1050">
                <a:solidFill>
                  <a:srgbClr val="1E293B"/>
                </a:solidFill>
                <a:latin typeface="Segoe UI"/>
              </a:rPr>
              <a:t>Bấm nút 'Xóa lọc' để đưa toàn bộ điều kiện về mặc định, hiển thị lại toàn bộ các lớp trong trường.</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Bộ lọc Kíp, Khóa, Trạng thái &amp; Ô Tìm kiếm Header</a:t>
            </a:r>
          </a:p>
        </p:txBody>
      </p:sp>
      <p:pic>
        <p:nvPicPr>
          <p:cNvPr id="13" name="Picture 12" descr="full_preview.png"/>
          <p:cNvPicPr>
            <a:picLocks noChangeAspect="1"/>
          </p:cNvPicPr>
          <p:nvPr/>
        </p:nvPicPr>
        <p:blipFill>
          <a:blip r:embed="rId2"/>
          <a:stretch>
            <a:fillRect/>
          </a:stretch>
        </p:blipFill>
        <p:spPr>
          <a:xfrm>
            <a:off x="7062847" y="1645920"/>
            <a:ext cx="3705105" cy="4023360"/>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Hệ thống lọc thông minh giúp tìm đúng lớp trong 500+ chi đoàn chỉ sau 1 click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CÁN BỘ TRỰC LỚP</a:t>
            </a:r>
          </a:p>
          <a:p>
            <a:pPr>
              <a:defRPr sz="1800" b="1">
                <a:solidFill>
                  <a:srgbClr val="FFFFFF"/>
                </a:solidFill>
                <a:latin typeface="Segoe UI"/>
              </a:defRPr>
            </a:pPr>
            <a:r>
              <a:t>CÁN BỘ TRỰC LỚP [1]: CẤU TRÚC THẺ CHI ĐOÀN &amp; ĐIỀU PHỐI</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TRỰC LỚP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8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Cấu trúc Thẻ Lớp &amp; Thông tin Điều phối Hiện trường</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Nhận diện Thẻ Lớp Phân công: </a:t>
            </a:r>
            <a:r>
              <a:rPr b="0" sz="1050">
                <a:solidFill>
                  <a:srgbClr val="1E293B"/>
                </a:solidFill>
                <a:latin typeface="Segoe UI"/>
              </a:rPr>
              <a:t>Sau khi cán bộ đăng nhập, hệ thống tự động làm nổi bật các thẻ chi đoàn thuộc quyền phụ trách của mình.</a:t>
            </a:r>
          </a:p>
          <a:p>
            <a:pPr>
              <a:spcAft>
                <a:spcPts val="800"/>
              </a:spcAft>
              <a:defRPr b="1" sz="1050">
                <a:solidFill>
                  <a:srgbClr val="1E293B"/>
                </a:solidFill>
                <a:latin typeface="Segoe UI"/>
              </a:defRPr>
            </a:pPr>
            <a:r>
              <a:t>• [Bước 2] Tiêu đề &amp; Thông tin Phòng học: </a:t>
            </a:r>
            <a:r>
              <a:rPr b="0" sz="1050">
                <a:solidFill>
                  <a:srgbClr val="1E293B"/>
                </a:solidFill>
                <a:latin typeface="Segoe UI"/>
              </a:rPr>
              <a:t>Mỗi thẻ ghi rõ: Tên Chi đoàn (VD: 'KT-ĐK&amp;TĐH 01-K70'), Phòng học (VD: 'D3-201'), Huy hiệu Kíp (VD: 'Kíp 1') và Khóa sinh viên.</a:t>
            </a:r>
          </a:p>
          <a:p>
            <a:pPr>
              <a:spcAft>
                <a:spcPts val="800"/>
              </a:spcAft>
              <a:defRPr b="1" sz="1050">
                <a:solidFill>
                  <a:srgbClr val="1E293B"/>
                </a:solidFill>
                <a:latin typeface="Segoe UI"/>
              </a:defRPr>
            </a:pPr>
            <a:r>
              <a:t>• [Bước 3] Thời gian Cập nhật Cuối: </a:t>
            </a:r>
            <a:r>
              <a:rPr b="0" sz="1050">
                <a:solidFill>
                  <a:srgbClr val="1E293B"/>
                </a:solidFill>
                <a:latin typeface="Segoe UI"/>
              </a:rPr>
              <a:t>Góc phải hiển thị nhãn giờ phút (timeLabel) ghi nhận thời điểm gần nhất có cán bộ cập nhật dữ liệu vào thẻ lớp.</a:t>
            </a:r>
          </a:p>
          <a:p>
            <a:pPr>
              <a:spcAft>
                <a:spcPts val="800"/>
              </a:spcAft>
              <a:defRPr b="1" sz="1050">
                <a:solidFill>
                  <a:srgbClr val="1E293B"/>
                </a:solidFill>
                <a:latin typeface="Segoe UI"/>
              </a:defRPr>
            </a:pPr>
            <a:r>
              <a:t>• [Bước 4] Thông tin Liên lạc Điều phối Hiện trường: </a:t>
            </a:r>
            <a:r>
              <a:rPr b="0" sz="1050">
                <a:solidFill>
                  <a:srgbClr val="1E293B"/>
                </a:solidFill>
                <a:latin typeface="Segoe UI"/>
              </a:rPr>
              <a:t>Thẻ hiển thị họ tên và SĐT của Cán bộ trực lớp, Phụ trách Tầng và Phụ trách Tòa nhà. Khi có vướng mắc, cán bộ bấm nút biểu tượng Điện thoại [Phone] để gọi trực tiếp hỗ trợ khẩn cấp.</a:t>
            </a:r>
          </a:p>
          <a:p>
            <a:pPr>
              <a:spcAft>
                <a:spcPts val="800"/>
              </a:spcAft>
              <a:defRPr b="1" sz="1050">
                <a:solidFill>
                  <a:srgbClr val="1E293B"/>
                </a:solidFill>
                <a:latin typeface="Segoe UI"/>
              </a:defRPr>
            </a:pPr>
            <a:r>
              <a:t>• Quy định Bảo mật: </a:t>
            </a:r>
            <a:r>
              <a:rPr b="0" sz="1050">
                <a:solidFill>
                  <a:srgbClr val="1E293B"/>
                </a:solidFill>
                <a:latin typeface="Segoe UI"/>
              </a:rPr>
              <a:t>Số điện thoại và email cán bộ chỉ hiển thị nội bộ cho cán bộ đã đăng nhập; hoàn toàn ẩn với người dùng khách công khai.</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Hình ảnh Thẻ Chi đoàn Thực tế với Đầy đủ Dữ liệu</a:t>
            </a:r>
          </a:p>
        </p:txBody>
      </p:sp>
      <p:pic>
        <p:nvPicPr>
          <p:cNvPr id="13" name="Picture 12" descr="media_1791980705711_cf092d8d.png"/>
          <p:cNvPicPr>
            <a:picLocks noChangeAspect="1"/>
          </p:cNvPicPr>
          <p:nvPr/>
        </p:nvPicPr>
        <p:blipFill>
          <a:blip r:embed="rId2"/>
          <a:stretch>
            <a:fillRect/>
          </a:stretch>
        </p:blipFill>
        <p:spPr>
          <a:xfrm>
            <a:off x="6400800" y="2464147"/>
            <a:ext cx="5029200" cy="2386905"/>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Thẻ Chi đoàn thực tế: Đầy đủ tên lớp, phòng học, cán bộ trực và checklist giấy tờ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CÁN BỘ TRỰC LỚP</a:t>
            </a:r>
          </a:p>
          <a:p>
            <a:pPr>
              <a:defRPr sz="1800" b="1">
                <a:solidFill>
                  <a:srgbClr val="FFFFFF"/>
                </a:solidFill>
                <a:latin typeface="Segoe UI"/>
              </a:defRPr>
            </a:pPr>
            <a:r>
              <a:t>CÁN BỘ TRỰC LỚP [2]: ĐIỂM DANH SĨ SỐ &amp; RÀNG BUỘC 2/3</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TRỰC LỚP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9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Quy trình Điểm danh Sĩ số &amp; Ràng buộc Pháp lý 2/3</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600"/>
              </a:spcAft>
              <a:defRPr b="1" sz="1050">
                <a:solidFill>
                  <a:srgbClr val="1E293B"/>
                </a:solidFill>
                <a:latin typeface="Segoe UI"/>
              </a:defRPr>
            </a:pPr>
            <a:r>
              <a:t>• [Bước 1] Nhận Số liệu Điểm danh: </a:t>
            </a:r>
            <a:r>
              <a:rPr b="0" sz="1050">
                <a:solidFill>
                  <a:srgbClr val="1E293B"/>
                </a:solidFill>
                <a:latin typeface="Segoe UI"/>
              </a:rPr>
              <a:t>Cán bộ trực tiếp đối soát số liệu với Ban Thẩm tra tư cách đại biểu tại phòng đại hội chi đoàn.</a:t>
            </a:r>
          </a:p>
          <a:p>
            <a:pPr>
              <a:spcAft>
                <a:spcPts val="600"/>
              </a:spcAft>
              <a:defRPr b="1" sz="1050">
                <a:solidFill>
                  <a:srgbClr val="1E293B"/>
                </a:solidFill>
                <a:latin typeface="Segoe UI"/>
              </a:defRPr>
            </a:pPr>
            <a:r>
              <a:t>• [Bước 2] Nhập [Có mặt] &amp; [Tổng số]: </a:t>
            </a:r>
            <a:r>
              <a:rPr b="0" sz="1050">
                <a:solidFill>
                  <a:srgbClr val="1E293B"/>
                </a:solidFill>
                <a:latin typeface="Segoe UI"/>
              </a:rPr>
              <a:t>Gõ số lượng đoàn viên có mặt thực tế vào ô 'Có mặt' và tổng số đoàn viên triệu tập vào ô 'Tổng số'.</a:t>
            </a:r>
          </a:p>
          <a:p>
            <a:pPr>
              <a:spcAft>
                <a:spcPts val="600"/>
              </a:spcAft>
              <a:defRPr b="1" sz="1050">
                <a:solidFill>
                  <a:srgbClr val="1E293B"/>
                </a:solidFill>
                <a:latin typeface="Segoe UI"/>
              </a:defRPr>
            </a:pPr>
            <a:r>
              <a:t>• [Bước 3] Quan sát Tính toán Tự động: </a:t>
            </a:r>
            <a:r>
              <a:rPr b="0" sz="1050">
                <a:solidFill>
                  <a:srgbClr val="1E293B"/>
                </a:solidFill>
                <a:latin typeface="Segoe UI"/>
              </a:rPr>
              <a:t>Hệ thống tự động tính tỷ lệ % và kiểm tra điều kiện pháp lý:
• ĐỦ 2/3 (Xanh lá): Khi Có mặt * 3 &gt;= Tổng số * 2.
• CHƯA ĐỦ 2/3 (Đỏ): Cảnh báo rõ: 'Còn thiếu N đoàn viên để đủ 2/3'.</a:t>
            </a:r>
          </a:p>
        </p:txBody>
      </p:sp>
      <p:sp>
        <p:nvSpPr>
          <p:cNvPr id="11" name="Rounded Rectangle 10"/>
          <p:cNvSpPr/>
          <p:nvPr/>
        </p:nvSpPr>
        <p:spPr>
          <a:xfrm>
            <a:off x="777240" y="4297680"/>
            <a:ext cx="5029200" cy="178308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407408"/>
            <a:ext cx="4700016" cy="1563624"/>
          </a:xfrm>
          <a:prstGeom prst="rect">
            <a:avLst/>
          </a:prstGeom>
          <a:noFill/>
        </p:spPr>
        <p:txBody>
          <a:bodyPr wrap="square" lIns="0" tIns="0" bIns="0" rIns="0">
            <a:spAutoFit/>
          </a:bodyPr>
          <a:lstStyle/>
          <a:p>
            <a:pPr>
              <a:spcAft>
                <a:spcPts val="300"/>
              </a:spcAft>
              <a:defRPr sz="1000" b="1">
                <a:solidFill>
                  <a:srgbClr val="B91C1C"/>
                </a:solidFill>
                <a:latin typeface="Segoe UI"/>
              </a:defRPr>
            </a:pPr>
            <a:r>
              <a:t>QUY ĐỊNH BẮT BUỘC THEO ĐIỀU LỆ ĐOÀN TNCS HỒ CHÍ MINH</a:t>
            </a:r>
          </a:p>
          <a:p>
            <a:pPr>
              <a:defRPr sz="950" b="0">
                <a:solidFill>
                  <a:srgbClr val="1E293B"/>
                </a:solidFill>
                <a:latin typeface="Segoe UI"/>
              </a:defRPr>
            </a:pPr>
            <a:r>
              <a:t>• Đại hội Chi đoàn chỉ có giá trị pháp lý khi có ít nhất 2/3 tổng số đoàn viên được triệu tập có mặt tham dự.</a:t>
            </a:r>
            <a:br/>
            <a:r>
              <a:t>• KHÓA CHẶN TỰ ĐỘNG: Nếu sĩ số chưa đạt đủ 2/3, hệ thống sẽ KHÓA CHẶN, tuyệt đối không cho phép chuyển trạng thái lớp sang 'Đang tiến hành' hoặc 'Đã xong'.</a:t>
            </a:r>
            <a:br/>
            <a:r>
              <a:t>• Nếu không tập hợp đủ 2/3: Cán bộ phải thực hiện quy trình Hủy đại hội và xin hoãn sang buổi khác.</a:t>
            </a:r>
          </a:p>
        </p:txBody>
      </p:sp>
      <p:sp>
        <p:nvSpPr>
          <p:cNvPr id="13" name="Rounded Rectangle 12"/>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Khung Điểm danh Sĩ số &amp; Huy hiệu Đủ 2/3 Hợp lệ</a:t>
            </a:r>
          </a:p>
        </p:txBody>
      </p:sp>
      <p:pic>
        <p:nvPicPr>
          <p:cNvPr id="15" name="Picture 14" descr="media_1791977382994_018f2f03.png"/>
          <p:cNvPicPr>
            <a:picLocks noChangeAspect="1"/>
          </p:cNvPicPr>
          <p:nvPr/>
        </p:nvPicPr>
        <p:blipFill>
          <a:blip r:embed="rId2"/>
          <a:stretch>
            <a:fillRect/>
          </a:stretch>
        </p:blipFill>
        <p:spPr>
          <a:xfrm>
            <a:off x="6702768" y="1645920"/>
            <a:ext cx="4425263" cy="4023360"/>
          </a:xfrm>
          <a:prstGeom prst="rect">
            <a:avLst/>
          </a:prstGeom>
          <a:ln w="12700">
            <a:solidFill>
              <a:srgbClr val="E2E8F0"/>
            </a:solidFill>
          </a:ln>
        </p:spPr>
      </p:pic>
      <p:sp>
        <p:nvSpPr>
          <p:cNvPr id="16" name="TextBox 15"/>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Huy hiệu xanh 'Đủ 2/3 (Có mặt/Tổng số)' hiển thị tự động khi đạt điều kiện pháp lý</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CÁN BỘ TRỰC LỚP</a:t>
            </a:r>
          </a:p>
          <a:p>
            <a:pPr>
              <a:defRPr sz="1800" b="1">
                <a:solidFill>
                  <a:srgbClr val="FFFFFF"/>
                </a:solidFill>
                <a:latin typeface="Segoe UI"/>
              </a:defRPr>
            </a:pPr>
            <a:r>
              <a:t>CÁN BỘ TRỰC LỚP [3]: KIỂM TRA HỒ SƠ &amp; CHECKLIST 100%</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TRỰC LỚP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10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Danh mục Hồ sơ Kiểm tra Chuẩn theo Khóa Sinh viên</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00">
                <a:solidFill>
                  <a:srgbClr val="1E293B"/>
                </a:solidFill>
                <a:latin typeface="Segoe UI"/>
              </a:defRPr>
            </a:pPr>
            <a:r>
              <a:t>• Danh mục Hồ sơ Khóa K71 (4 mục): </a:t>
            </a:r>
            <a:r>
              <a:rPr b="0" sz="1000">
                <a:solidFill>
                  <a:srgbClr val="1E293B"/>
                </a:solidFill>
                <a:latin typeface="Segoe UI"/>
              </a:rPr>
              <a:t>1. Phương hướng nhiệm kỳ mới
2. Nghị quyết Đại hội
3. Biên bản Đại hội
4. Danh sách Đoàn viên và Cán bộ lớp.</a:t>
            </a:r>
          </a:p>
          <a:p>
            <a:pPr>
              <a:spcAft>
                <a:spcPts val="800"/>
              </a:spcAft>
              <a:defRPr b="1" sz="1000">
                <a:solidFill>
                  <a:srgbClr val="1E293B"/>
                </a:solidFill>
                <a:latin typeface="Segoe UI"/>
              </a:defRPr>
            </a:pPr>
            <a:r>
              <a:t>• Danh mục Hồ sơ Khóa K70 (8 mục): </a:t>
            </a:r>
            <a:r>
              <a:rPr b="0" sz="1000">
                <a:solidFill>
                  <a:srgbClr val="1E293B"/>
                </a:solidFill>
                <a:latin typeface="Segoe UI"/>
              </a:rPr>
              <a:t>1. Biên bản ĐHCĐ
2. Biên bản kiểm phiếu bầu BCH
3. Biên bản họp phân công BCH
4. Bản kiểm điểm BCH nhiệm kỳ cũ
5. Nghị quyết Đại hội
6. Báo cáo tổng kết
7. Phương hướng mới
8. Danh sách Đoàn viên &amp; Cán bộ lớp.</a:t>
            </a:r>
          </a:p>
          <a:p>
            <a:pPr>
              <a:spcAft>
                <a:spcPts val="800"/>
              </a:spcAft>
              <a:defRPr b="1" sz="1000">
                <a:solidFill>
                  <a:srgbClr val="1E293B"/>
                </a:solidFill>
                <a:latin typeface="Segoe UI"/>
              </a:defRPr>
            </a:pPr>
            <a:r>
              <a:t>• [Thao tác Tick chọn Checklist]: </a:t>
            </a:r>
            <a:r>
              <a:rPr b="0" sz="1000">
                <a:solidFill>
                  <a:srgbClr val="1E293B"/>
                </a:solidFill>
                <a:latin typeface="Segoe UI"/>
              </a:rPr>
              <a:t>Chạm vào từng dòng để chuyển trạng thái xoay vòng: '☐ Chưa đủ' -&gt; '◐ Đang kiểm' -&gt; '☑ Đã đủ'.</a:t>
            </a:r>
          </a:p>
          <a:p>
            <a:pPr>
              <a:spcAft>
                <a:spcPts val="800"/>
              </a:spcAft>
              <a:defRPr b="1" sz="1000">
                <a:solidFill>
                  <a:srgbClr val="1E293B"/>
                </a:solidFill>
                <a:latin typeface="Segoe UI"/>
              </a:defRPr>
            </a:pPr>
            <a:r>
              <a:t>• Ràng buộc 100% Hồ sơ Hoàn thành: </a:t>
            </a:r>
            <a:r>
              <a:rPr b="0" sz="1000">
                <a:solidFill>
                  <a:srgbClr val="1E293B"/>
                </a:solidFill>
                <a:latin typeface="Segoe UI"/>
              </a:rPr>
              <a:t>Bắt buộc phải tích đủ 100% tất cả các mục hồ sơ trên thì hệ thống mới cho phép chuyển trạng thái lớp sang 'Đã xong'.</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Danh sách Checklist Hồ sơ đã Tích Đủ 100%</a:t>
            </a:r>
          </a:p>
        </p:txBody>
      </p:sp>
      <p:pic>
        <p:nvPicPr>
          <p:cNvPr id="13" name="Picture 12" descr="media_1791980705711_cf092d8d.png"/>
          <p:cNvPicPr>
            <a:picLocks noChangeAspect="1"/>
          </p:cNvPicPr>
          <p:nvPr/>
        </p:nvPicPr>
        <p:blipFill>
          <a:blip r:embed="rId2"/>
          <a:stretch>
            <a:fillRect/>
          </a:stretch>
        </p:blipFill>
        <p:spPr>
          <a:xfrm>
            <a:off x="6400800" y="2464147"/>
            <a:ext cx="5029200" cy="2386905"/>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Checklist 8 mục của khóa K70 đã tích đủ màu xanh lá kèm tỷ lệ 100% hoàn thành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CÁN BỘ TRỰC LỚP</a:t>
            </a:r>
          </a:p>
          <a:p>
            <a:pPr>
              <a:defRPr sz="1800" b="1">
                <a:solidFill>
                  <a:srgbClr val="FFFFFF"/>
                </a:solidFill>
                <a:latin typeface="Segoe UI"/>
              </a:defRPr>
            </a:pPr>
            <a:r>
              <a:t>CÁN BỘ TRỰC LỚP [4]: GHI CHÚ &amp; ĐỔI MÀU TRẠNG THÁI</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TRỰC LỚP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11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Ghi chú Kiểm tra &amp; Chu trình Trạng thái Đại hội</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Ghi chú Kiểm tra Hiện trường: </a:t>
            </a:r>
            <a:r>
              <a:rPr b="0" sz="1050">
                <a:solidFill>
                  <a:srgbClr val="1E293B"/>
                </a:solidFill>
                <a:latin typeface="Segoe UI"/>
              </a:rPr>
              <a:t>Cán bộ nhập ghi chú vào ô 'Ghi chú kiểm tra' (tối đa 150 ký tự). Cần ghi rõ: Số lượng nhân sự trúng cử BCH, tên Bí thư/Phó Bí thư, hoặc các điểm lưu ý đặc biệt.</a:t>
            </a:r>
          </a:p>
          <a:p>
            <a:pPr>
              <a:spcAft>
                <a:spcPts val="800"/>
              </a:spcAft>
              <a:defRPr b="1" sz="1050">
                <a:solidFill>
                  <a:srgbClr val="1E293B"/>
                </a:solidFill>
                <a:latin typeface="Segoe UI"/>
              </a:defRPr>
            </a:pPr>
            <a:r>
              <a:t>• [Bước 2] Chuyển đổi Trạng thái Đại hội: </a:t>
            </a:r>
            <a:r>
              <a:rPr b="0" sz="1050">
                <a:solidFill>
                  <a:srgbClr val="1E293B"/>
                </a:solidFill>
                <a:latin typeface="Segoe UI"/>
              </a:rPr>
              <a:t>Bấm vào nút Trạng thái để chuyển vòng tròn:
• Chưa tổ chức (Màu Đỏ): Chi đoàn chưa bắt đầu họp.
• Đang tiến hành (Màu Vàng): Chi đoàn đang họp (yêu cầu sĩ số &gt;= 2/3).
• Đã xong (Màu Xanh lá): Đại hội kết thúc thành công.</a:t>
            </a:r>
          </a:p>
          <a:p>
            <a:pPr>
              <a:spcAft>
                <a:spcPts val="800"/>
              </a:spcAft>
              <a:defRPr b="1" sz="1050">
                <a:solidFill>
                  <a:srgbClr val="1E293B"/>
                </a:solidFill>
                <a:latin typeface="Segoe UI"/>
              </a:defRPr>
            </a:pPr>
            <a:r>
              <a:t>• Điều kiện Bắt buộc để Sang 'Đã xong': </a:t>
            </a:r>
            <a:r>
              <a:rPr b="0" sz="1050">
                <a:solidFill>
                  <a:srgbClr val="1E293B"/>
                </a:solidFill>
                <a:latin typeface="Segoe UI"/>
              </a:rPr>
              <a:t>1. Sĩ số có mặt phải đạt chuẩn &gt;= 2/3.
2. Hồ sơ checklist phải tích đủ 100%.
Nếu thiếu 1 trong 2 điều kiện, hệ thống sẽ từ chối và báo rõ điều kiện còn thiếu.</a:t>
            </a:r>
          </a:p>
          <a:p>
            <a:pPr>
              <a:spcAft>
                <a:spcPts val="800"/>
              </a:spcAft>
              <a:defRPr b="1" sz="1050">
                <a:solidFill>
                  <a:srgbClr val="1E293B"/>
                </a:solidFill>
                <a:latin typeface="Segoe UI"/>
              </a:defRPr>
            </a:pPr>
            <a:r>
              <a:t>• Nút Trạng thái Đồng bộ Realtime: </a:t>
            </a:r>
            <a:r>
              <a:rPr b="0" sz="1050">
                <a:solidFill>
                  <a:srgbClr val="1E293B"/>
                </a:solidFill>
                <a:latin typeface="Segoe UI"/>
              </a:rPr>
              <a:t>Khi bấm chuyển trạng thái, màu sắc của thẻ phòng học trên màn hình của tất cả các cấp sẽ đổi màu ngay lập tức.</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Thẻ Lớp với Ô Ghi chú &amp; Nút Trạng thái Đại hội</a:t>
            </a:r>
          </a:p>
        </p:txBody>
      </p:sp>
      <p:pic>
        <p:nvPicPr>
          <p:cNvPr id="13" name="Picture 12" descr="media_1791980705711_cf092d8d.png"/>
          <p:cNvPicPr>
            <a:picLocks noChangeAspect="1"/>
          </p:cNvPicPr>
          <p:nvPr/>
        </p:nvPicPr>
        <p:blipFill>
          <a:blip r:embed="rId2"/>
          <a:stretch>
            <a:fillRect/>
          </a:stretch>
        </p:blipFill>
        <p:spPr>
          <a:xfrm>
            <a:off x="6400800" y="2464147"/>
            <a:ext cx="5029200" cy="2386905"/>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Vòng đời đại hội: Quản lý minh bạch, rõ ràng theo từng giai đoạn tác nghiệp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CÁN BỘ TRỰC LỚP</a:t>
            </a:r>
          </a:p>
          <a:p>
            <a:pPr>
              <a:defRPr sz="1800" b="1">
                <a:solidFill>
                  <a:srgbClr val="FFFFFF"/>
                </a:solidFill>
                <a:latin typeface="Segoe UI"/>
              </a:defRPr>
            </a:pPr>
            <a:r>
              <a:t>CÁN BỘ TRỰC LỚP [5]: XỬ LÝ HỦY ĐẠI HỘI &amp; LÝ DO BẮT BUỘC</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TRỰC LỚP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12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Quy trình Hủy Đại hội &amp; Ràng buộc Lý do Bắt buộc</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600"/>
              </a:spcAft>
              <a:defRPr b="1" sz="1000">
                <a:solidFill>
                  <a:srgbClr val="1E293B"/>
                </a:solidFill>
                <a:latin typeface="Segoe UI"/>
              </a:defRPr>
            </a:pPr>
            <a:r>
              <a:t>• [Bước 1] Khi nào chọn Hủy đại hội?: </a:t>
            </a:r>
            <a:r>
              <a:rPr b="0" sz="1000">
                <a:solidFill>
                  <a:srgbClr val="1E293B"/>
                </a:solidFill>
                <a:latin typeface="Segoe UI"/>
              </a:rPr>
              <a:t>Áp dụng khi chi đoàn không thể tổ chức đại hội: Không đủ 2/3 sĩ số sau thời gian chờ, không có đoàn viên tham gia, hoặc sự cố bất khả kháng.</a:t>
            </a:r>
          </a:p>
          <a:p>
            <a:pPr>
              <a:spcAft>
                <a:spcPts val="600"/>
              </a:spcAft>
              <a:defRPr b="1" sz="1000">
                <a:solidFill>
                  <a:srgbClr val="1E293B"/>
                </a:solidFill>
                <a:latin typeface="Segoe UI"/>
              </a:defRPr>
            </a:pPr>
            <a:r>
              <a:t>• [Bước 2] Chọn Trạng thái 'Hủy đại hội': </a:t>
            </a:r>
            <a:r>
              <a:rPr b="0" sz="1000">
                <a:solidFill>
                  <a:srgbClr val="1E293B"/>
                </a:solidFill>
                <a:latin typeface="Segoe UI"/>
              </a:rPr>
              <a:t>Cán bộ bấm chọn trạng thái 'Hủy đại hội' trên thẻ lớp.</a:t>
            </a:r>
          </a:p>
          <a:p>
            <a:pPr>
              <a:spcAft>
                <a:spcPts val="600"/>
              </a:spcAft>
              <a:defRPr b="1" sz="1000">
                <a:solidFill>
                  <a:srgbClr val="1E293B"/>
                </a:solidFill>
                <a:latin typeface="Segoe UI"/>
              </a:defRPr>
            </a:pPr>
            <a:r>
              <a:t>• [Bước 3] Nhập Lý do trong Modal Bắt buộc: </a:t>
            </a:r>
            <a:r>
              <a:rPr b="0" sz="1000">
                <a:solidFill>
                  <a:srgbClr val="1E293B"/>
                </a:solidFill>
                <a:latin typeface="Segoe UI"/>
              </a:rPr>
              <a:t>Hệ thống tự động bật hộp thoại Modal chuyên nghiệp: 'Nhập lý do hủy đại hội'. Cán bộ BẮT BUỘC phải nhập rõ nguyên nhân cụ thể (không được để trống).</a:t>
            </a:r>
          </a:p>
          <a:p>
            <a:pPr>
              <a:spcAft>
                <a:spcPts val="600"/>
              </a:spcAft>
              <a:defRPr b="1" sz="1000">
                <a:solidFill>
                  <a:srgbClr val="1E293B"/>
                </a:solidFill>
                <a:latin typeface="Segoe UI"/>
              </a:defRPr>
            </a:pPr>
            <a:r>
              <a:t>• [Bước 4] Xác nhận &amp; Tự động Niêm phong: </a:t>
            </a:r>
            <a:r>
              <a:rPr b="0" sz="1000">
                <a:solidFill>
                  <a:srgbClr val="1E293B"/>
                </a:solidFill>
                <a:latin typeface="Segoe UI"/>
              </a:rPr>
              <a:t>Bấm 'Xác nhận Hủy đại hội'. Hệ thống tự động ghi lý do vào Ghi chú kiểm tra, chuyển màu thẻ sang Màu Tím (Cancelled) và tự động KHÓA LỚP.</a:t>
            </a:r>
          </a:p>
        </p:txBody>
      </p:sp>
      <p:sp>
        <p:nvSpPr>
          <p:cNvPr id="11" name="Rounded Rectangle 10"/>
          <p:cNvSpPr/>
          <p:nvPr/>
        </p:nvSpPr>
        <p:spPr>
          <a:xfrm>
            <a:off x="777240" y="4663440"/>
            <a:ext cx="5029200" cy="141732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773168"/>
            <a:ext cx="4700016" cy="1197864"/>
          </a:xfrm>
          <a:prstGeom prst="rect">
            <a:avLst/>
          </a:prstGeom>
          <a:noFill/>
        </p:spPr>
        <p:txBody>
          <a:bodyPr wrap="square" lIns="0" tIns="0" bIns="0" rIns="0">
            <a:spAutoFit/>
          </a:bodyPr>
          <a:lstStyle/>
          <a:p>
            <a:pPr>
              <a:spcAft>
                <a:spcPts val="300"/>
              </a:spcAft>
              <a:defRPr sz="1000" b="1">
                <a:solidFill>
                  <a:srgbClr val="B91C1C"/>
                </a:solidFill>
                <a:latin typeface="Segoe UI"/>
              </a:defRPr>
            </a:pPr>
            <a:r>
              <a:t>CHỨC NĂNG CÁC NÚT BẤM TRÊN HỘP THOẠI HỦY</a:t>
            </a:r>
          </a:p>
          <a:p>
            <a:pPr>
              <a:defRPr sz="950" b="0">
                <a:solidFill>
                  <a:srgbClr val="1E293B"/>
                </a:solidFill>
                <a:latin typeface="Segoe UI"/>
              </a:defRPr>
            </a:pPr>
            <a:r>
              <a:t>• Nút 'Xác nhận Hủy đại hội': Lưu lý do, đổi trạng thái sang Tím, niêm phong thẻ lớp và phát thông báo điều hành.</a:t>
            </a:r>
            <a:br/>
            <a:r>
              <a:t>• Nút 'Hủy bỏ' [X]: Đóng hộp thoại, giữ nguyên trạng thái cũ của lớp.</a:t>
            </a:r>
            <a:br/>
            <a:r>
              <a:t>• Cảnh báo: Việc hủy đại hội sẽ được ghi vết vĩnh viễn trong Nhật ký Audit Logs.</a:t>
            </a:r>
          </a:p>
        </p:txBody>
      </p:sp>
      <p:sp>
        <p:nvSpPr>
          <p:cNvPr id="13" name="Rounded Rectangle 12"/>
          <p:cNvSpPr/>
          <p:nvPr/>
        </p:nvSpPr>
        <p:spPr>
          <a:xfrm>
            <a:off x="6217920" y="1188720"/>
            <a:ext cx="5394960" cy="2468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1. Hộp thoại Bắt buộc Nhập Lý do Hủy</a:t>
            </a:r>
          </a:p>
        </p:txBody>
      </p:sp>
      <p:pic>
        <p:nvPicPr>
          <p:cNvPr id="15" name="Picture 14" descr="cancel_prompt_modal.png"/>
          <p:cNvPicPr>
            <a:picLocks noChangeAspect="1"/>
          </p:cNvPicPr>
          <p:nvPr/>
        </p:nvPicPr>
        <p:blipFill>
          <a:blip r:embed="rId2"/>
          <a:stretch>
            <a:fillRect/>
          </a:stretch>
        </p:blipFill>
        <p:spPr>
          <a:xfrm>
            <a:off x="8260475" y="1554480"/>
            <a:ext cx="1309849" cy="1920240"/>
          </a:xfrm>
          <a:prstGeom prst="rect">
            <a:avLst/>
          </a:prstGeom>
          <a:ln w="12700">
            <a:solidFill>
              <a:srgbClr val="E2E8F0"/>
            </a:solidFill>
          </a:ln>
        </p:spPr>
      </p:pic>
      <p:sp>
        <p:nvSpPr>
          <p:cNvPr id="16" name="Rounded Rectangle 15"/>
          <p:cNvSpPr/>
          <p:nvPr/>
        </p:nvSpPr>
        <p:spPr>
          <a:xfrm>
            <a:off x="6217920" y="3794760"/>
            <a:ext cx="5394960" cy="2514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959352"/>
            <a:ext cx="4937760" cy="347472"/>
          </a:xfrm>
          <a:prstGeom prst="rect">
            <a:avLst/>
          </a:prstGeom>
          <a:noFill/>
        </p:spPr>
        <p:txBody>
          <a:bodyPr wrap="square" lIns="0" tIns="0" bIns="0" rIns="0">
            <a:spAutoFit/>
          </a:bodyPr>
          <a:lstStyle/>
          <a:p>
            <a:pPr>
              <a:defRPr sz="1200" b="1">
                <a:solidFill>
                  <a:srgbClr val="0F172A"/>
                </a:solidFill>
                <a:latin typeface="Segoe UI"/>
              </a:defRPr>
            </a:pPr>
            <a:r>
              <a:t>2. Thẻ Lớp chuyển Màu Tím &amp; Niêm phong Lý do</a:t>
            </a:r>
          </a:p>
        </p:txBody>
      </p:sp>
      <p:pic>
        <p:nvPicPr>
          <p:cNvPr id="18" name="Picture 17" descr="cancelled_and_locked_card.png"/>
          <p:cNvPicPr>
            <a:picLocks noChangeAspect="1"/>
          </p:cNvPicPr>
          <p:nvPr/>
        </p:nvPicPr>
        <p:blipFill>
          <a:blip r:embed="rId3"/>
          <a:stretch>
            <a:fillRect/>
          </a:stretch>
        </p:blipFill>
        <p:spPr>
          <a:xfrm>
            <a:off x="6621798" y="4160520"/>
            <a:ext cx="4587203" cy="2011680"/>
          </a:xfrm>
          <a:prstGeom prst="rect">
            <a:avLst/>
          </a:prstGeom>
          <a:ln w="12700">
            <a:solidFill>
              <a:srgbClr val="E2E8F0"/>
            </a:solid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CÁN BỘ TRỰC LỚP</a:t>
            </a:r>
          </a:p>
          <a:p>
            <a:pPr>
              <a:defRPr sz="1800" b="1">
                <a:solidFill>
                  <a:srgbClr val="FFFFFF"/>
                </a:solidFill>
                <a:latin typeface="Segoe UI"/>
              </a:defRPr>
            </a:pPr>
            <a:r>
              <a:t>CÁN BỘ TRỰC LỚP [6]: NÚT LƯU TIẾN ĐỘ ĐỘC LẬP TỪNG LỚP</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TRỰC LỚP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13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Quy tắc 'Xong Lớp nào Bấm Lưu Lớp đó'</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800"/>
              </a:spcAft>
              <a:defRPr b="1" sz="1050">
                <a:solidFill>
                  <a:srgbClr val="1E293B"/>
                </a:solidFill>
                <a:latin typeface="Segoe UI"/>
              </a:defRPr>
            </a:pPr>
            <a:r>
              <a:t>• Vị trí Nút LƯU: </a:t>
            </a:r>
            <a:r>
              <a:rPr b="0" sz="1050">
                <a:solidFill>
                  <a:srgbClr val="1E293B"/>
                </a:solidFill>
                <a:latin typeface="Segoe UI"/>
              </a:rPr>
              <a:t>Nằm ở góc dưới bên trái của mỗi thẻ lớp: Nút màu xanh ngọc có biểu tượng đĩa mềm: [💾 Lưu thông tin lớp].</a:t>
            </a:r>
          </a:p>
          <a:p>
            <a:pPr>
              <a:spcAft>
                <a:spcPts val="800"/>
              </a:spcAft>
              <a:defRPr b="1" sz="1050">
                <a:solidFill>
                  <a:srgbClr val="1E293B"/>
                </a:solidFill>
                <a:latin typeface="Segoe UI"/>
              </a:defRPr>
            </a:pPr>
            <a:r>
              <a:t>• Tác vụ Thực hiện: </a:t>
            </a:r>
            <a:r>
              <a:rPr b="0" sz="1050">
                <a:solidFill>
                  <a:srgbClr val="1E293B"/>
                </a:solidFill>
                <a:latin typeface="Segoe UI"/>
              </a:rPr>
              <a:t>Khi bấm Lưu, hệ thống gửi dữ liệu (Sĩ số, danh mục checklist đã tích, ghi chú kiểm tra) ngay lập tức lên cơ sở dữ liệu máy chủ trung tâm.</a:t>
            </a:r>
          </a:p>
          <a:p>
            <a:pPr>
              <a:spcAft>
                <a:spcPts val="800"/>
              </a:spcAft>
              <a:defRPr b="1" sz="1050">
                <a:solidFill>
                  <a:srgbClr val="1E293B"/>
                </a:solidFill>
                <a:latin typeface="Segoe UI"/>
              </a:defRPr>
            </a:pPr>
            <a:r>
              <a:t>• Cơ chế Lưu Độc lập: </a:t>
            </a:r>
            <a:r>
              <a:rPr b="0" sz="1050">
                <a:solidFill>
                  <a:srgbClr val="1E293B"/>
                </a:solidFill>
                <a:latin typeface="Segoe UI"/>
              </a:rPr>
              <a:t>Mỗi chi đoàn được lưu độc lập, hoàn toàn không phụ thuộc vào các lớp khác trong cùng phòng hay cùng tầng.</a:t>
            </a:r>
          </a:p>
          <a:p>
            <a:pPr>
              <a:spcAft>
                <a:spcPts val="800"/>
              </a:spcAft>
              <a:defRPr b="1" sz="1050">
                <a:solidFill>
                  <a:srgbClr val="1E293B"/>
                </a:solidFill>
                <a:latin typeface="Segoe UI"/>
              </a:defRPr>
            </a:pPr>
            <a:r>
              <a:t>• Phản hồi Thông báo (Toast): </a:t>
            </a:r>
            <a:r>
              <a:rPr b="0" sz="1050">
                <a:solidFill>
                  <a:srgbClr val="1E293B"/>
                </a:solidFill>
                <a:latin typeface="Segoe UI"/>
              </a:rPr>
              <a:t>Màn hình xuất hiện thông báo ngắn màu xanh: 'Đã lưu tiến độ chi đoàn thành công'.</a:t>
            </a:r>
          </a:p>
        </p:txBody>
      </p:sp>
      <p:sp>
        <p:nvSpPr>
          <p:cNvPr id="11" name="Rounded Rectangle 10"/>
          <p:cNvSpPr/>
          <p:nvPr/>
        </p:nvSpPr>
        <p:spPr>
          <a:xfrm>
            <a:off x="777240" y="4572000"/>
            <a:ext cx="5029200" cy="150876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681728"/>
            <a:ext cx="4700016" cy="1289304"/>
          </a:xfrm>
          <a:prstGeom prst="rect">
            <a:avLst/>
          </a:prstGeom>
          <a:noFill/>
        </p:spPr>
        <p:txBody>
          <a:bodyPr wrap="square" lIns="0" tIns="0" bIns="0" rIns="0">
            <a:spAutoFit/>
          </a:bodyPr>
          <a:lstStyle/>
          <a:p>
            <a:pPr>
              <a:spcAft>
                <a:spcPts val="300"/>
              </a:spcAft>
              <a:defRPr sz="1000" b="1">
                <a:solidFill>
                  <a:srgbClr val="B91C1C"/>
                </a:solidFill>
                <a:latin typeface="Segoe UI"/>
              </a:defRPr>
            </a:pPr>
            <a:r>
              <a:t>LƯU Ý NGHIỆP VỤ SỐ 1 CHO CÁN BỘ HIỆN TRƯỜNG</a:t>
            </a:r>
          </a:p>
          <a:p>
            <a:pPr>
              <a:defRPr sz="950" b="0">
                <a:solidFill>
                  <a:srgbClr val="1E293B"/>
                </a:solidFill>
                <a:latin typeface="Segoe UI"/>
              </a:defRPr>
            </a:pPr>
            <a:r>
              <a:t>• BẤM LƯU NHIỀU LẦN: Cán bộ có thể bấm nút Lưu nhiều lần trong suốt quá trình đại hội mà không sợ bị khóa dữ liệu.</a:t>
            </a:r>
            <a:br/>
            <a:r>
              <a:t>• NGUY CƠ NẾU QUÊN LƯU: Nếu thoát trình duyệt hoặc chuyển trang khi chưa bấm Lưu, dữ liệu mới nhập sẽ bị mất.</a:t>
            </a:r>
            <a:br/>
            <a:r>
              <a:t>• NGUYÊN TẮC VÀNG: 'Kiểm tra xong mục nào hoặc xong lớp nào - Chạm ngay nút Lưu lớp đó!'.</a:t>
            </a:r>
          </a:p>
        </p:txBody>
      </p:sp>
      <p:sp>
        <p:nvSpPr>
          <p:cNvPr id="13" name="Rounded Rectangle 12"/>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Vị trí &amp; Giao diện Nút 'Lưu thông tin lớp'</a:t>
            </a:r>
          </a:p>
        </p:txBody>
      </p:sp>
      <p:pic>
        <p:nvPicPr>
          <p:cNvPr id="15" name="Picture 14" descr="media_1791980705711_cf092d8d.png"/>
          <p:cNvPicPr>
            <a:picLocks noChangeAspect="1"/>
          </p:cNvPicPr>
          <p:nvPr/>
        </p:nvPicPr>
        <p:blipFill>
          <a:blip r:embed="rId2"/>
          <a:stretch>
            <a:fillRect/>
          </a:stretch>
        </p:blipFill>
        <p:spPr>
          <a:xfrm>
            <a:off x="6400800" y="2464147"/>
            <a:ext cx="5029200" cy="2386905"/>
          </a:xfrm>
          <a:prstGeom prst="rect">
            <a:avLst/>
          </a:prstGeom>
          <a:ln w="12700">
            <a:solidFill>
              <a:srgbClr val="E2E8F0"/>
            </a:solidFill>
          </a:ln>
        </p:spPr>
      </p:pic>
      <p:sp>
        <p:nvSpPr>
          <p:cNvPr id="16" name="TextBox 15"/>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Nút Lưu màu xanh ngọc nằm nổi bật ở chân thẻ lớp, thao tác cực nhanh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CÁN BỘ TRỰC LỚP</a:t>
            </a:r>
          </a:p>
          <a:p>
            <a:pPr>
              <a:defRPr sz="1800" b="1">
                <a:solidFill>
                  <a:srgbClr val="FFFFFF"/>
                </a:solidFill>
                <a:latin typeface="Segoe UI"/>
              </a:defRPr>
            </a:pPr>
            <a:r>
              <a:t>CÁN BỘ TRỰC LỚP [7]: NÚT KHÓA HỒ SƠ &amp; NIÊM PHONG</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TRỰC LỚP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14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Phân biệt Nút LƯU vs Nút KHÓA &amp; Cơ chế Niêm phong</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600"/>
              </a:spcAft>
              <a:defRPr b="1" sz="1000">
                <a:solidFill>
                  <a:srgbClr val="1E293B"/>
                </a:solidFill>
                <a:latin typeface="Segoe UI"/>
              </a:defRPr>
            </a:pPr>
            <a:r>
              <a:t>• Nút KHÓA (Lock): </a:t>
            </a:r>
            <a:r>
              <a:rPr b="0" sz="1000">
                <a:solidFill>
                  <a:srgbClr val="1E293B"/>
                </a:solidFill>
                <a:latin typeface="Segoe UI"/>
              </a:rPr>
              <a:t>Nút màu cam có biểu tượng ổ khóa: [🔒 Khóa hồ sơ &amp; Sĩ số]. Chỉ bấm khi ĐẠI HỘI ĐÃ HOÀN TẤT VÀ KIỂM TRA ĐỦ HỒ SƠ.</a:t>
            </a:r>
          </a:p>
          <a:p>
            <a:pPr>
              <a:spcAft>
                <a:spcPts val="600"/>
              </a:spcAft>
              <a:defRPr b="1" sz="1000">
                <a:solidFill>
                  <a:srgbClr val="1E293B"/>
                </a:solidFill>
                <a:latin typeface="Segoe UI"/>
              </a:defRPr>
            </a:pPr>
            <a:r>
              <a:t>• Hộp thoại Xác nhận Khóa: </a:t>
            </a:r>
            <a:r>
              <a:rPr b="0" sz="1000">
                <a:solidFill>
                  <a:srgbClr val="1E293B"/>
                </a:solidFill>
                <a:latin typeface="Segoe UI"/>
              </a:rPr>
              <a:t>Bấm Khóa sẽ bật Modal xác nhận giải thích: Checklist và sĩ số sẽ bị niêm phong, cán bộ không thể tự sửa nếu chưa có sự cho phép của cấp trên.</a:t>
            </a:r>
          </a:p>
          <a:p>
            <a:pPr>
              <a:spcAft>
                <a:spcPts val="600"/>
              </a:spcAft>
              <a:defRPr b="1" sz="1000">
                <a:solidFill>
                  <a:srgbClr val="1E293B"/>
                </a:solidFill>
                <a:latin typeface="Segoe UI"/>
              </a:defRPr>
            </a:pPr>
            <a:r>
              <a:t>• Dải Banner Niêm phong: </a:t>
            </a:r>
            <a:r>
              <a:rPr b="0" sz="1000">
                <a:solidFill>
                  <a:srgbClr val="1E293B"/>
                </a:solidFill>
                <a:latin typeface="Segoe UI"/>
              </a:rPr>
              <a:t>Thẻ lớp xuất hiện banner xám: 'Hồ sơ và sĩ số đã được lưu &amp; khóa (bởi Cán bộ ABC). Cần cấp trên mở khóa để chỉnh sửa.'</a:t>
            </a:r>
          </a:p>
          <a:p>
            <a:pPr>
              <a:spcAft>
                <a:spcPts val="600"/>
              </a:spcAft>
              <a:defRPr b="1" sz="1000">
                <a:solidFill>
                  <a:srgbClr val="1E293B"/>
                </a:solidFill>
                <a:latin typeface="Segoe UI"/>
              </a:defRPr>
            </a:pPr>
            <a:r>
              <a:t>• ĐẶC QUYỀN ĐIỀU CHỈNH TRẠNG THÁI: </a:t>
            </a:r>
            <a:r>
              <a:rPr b="0" sz="1000">
                <a:solidFill>
                  <a:srgbClr val="1E293B"/>
                </a:solidFill>
                <a:latin typeface="Segoe UI"/>
              </a:rPr>
              <a:t>Sau khi khóa, toàn bộ checklist và sĩ số bị đóng băng, NHƯNG cán bộ VẪN ĐƯỢC PHÉP thay đổi Trạng thái Đại hội nếu cần thiết.</a:t>
            </a:r>
          </a:p>
        </p:txBody>
      </p:sp>
      <p:sp>
        <p:nvSpPr>
          <p:cNvPr id="11" name="Rounded Rectangle 10"/>
          <p:cNvSpPr/>
          <p:nvPr/>
        </p:nvSpPr>
        <p:spPr>
          <a:xfrm>
            <a:off x="777240" y="4572000"/>
            <a:ext cx="5029200" cy="150876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681728"/>
            <a:ext cx="4700016" cy="1289304"/>
          </a:xfrm>
          <a:prstGeom prst="rect">
            <a:avLst/>
          </a:prstGeom>
          <a:noFill/>
        </p:spPr>
        <p:txBody>
          <a:bodyPr wrap="square" lIns="0" tIns="0" bIns="0" rIns="0">
            <a:spAutoFit/>
          </a:bodyPr>
          <a:lstStyle/>
          <a:p>
            <a:pPr>
              <a:spcAft>
                <a:spcPts val="300"/>
              </a:spcAft>
              <a:defRPr sz="1000" b="1">
                <a:solidFill>
                  <a:srgbClr val="B91C1C"/>
                </a:solidFill>
                <a:latin typeface="Segoe UI"/>
              </a:defRPr>
            </a:pPr>
            <a:r>
              <a:t>QUY TẮC MỞ KHÓA (UNLOCK) KHI PHÁT HIỆN SAI SÓT</a:t>
            </a:r>
          </a:p>
          <a:p>
            <a:pPr>
              <a:defRPr sz="950" b="0">
                <a:solidFill>
                  <a:srgbClr val="1E293B"/>
                </a:solidFill>
                <a:latin typeface="Segoe UI"/>
              </a:defRPr>
            </a:pPr>
            <a:r>
              <a:t>• Nếu cán bộ trực lớp phát hiện ghi nhầm sĩ số hoặc thiếu giấy tờ sau khi đã bấm Khóa:</a:t>
            </a:r>
            <a:br/>
            <a:r>
              <a:t>• Cán bộ KHÔNG THỂ tự mở khóa.</a:t>
            </a:r>
            <a:br/>
            <a:r>
              <a:t>• Cán bộ phải liên hệ Phụ trách Tầng / Phụ trách Tòa nhà / Ban Quản trị đến kiểm tra biên bản gốc và bấm nút 'Mở khóa' trên thẻ lớp.</a:t>
            </a:r>
          </a:p>
        </p:txBody>
      </p:sp>
      <p:sp>
        <p:nvSpPr>
          <p:cNvPr id="13" name="Rounded Rectangle 12"/>
          <p:cNvSpPr/>
          <p:nvPr/>
        </p:nvSpPr>
        <p:spPr>
          <a:xfrm>
            <a:off x="6217920" y="1188720"/>
            <a:ext cx="5394960" cy="2468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1. Hộp thoại Xác nhận Niêm phong &amp; Khóa Lớp</a:t>
            </a:r>
          </a:p>
        </p:txBody>
      </p:sp>
      <p:pic>
        <p:nvPicPr>
          <p:cNvPr id="15" name="Picture 14" descr="lock_confirm_modal.png"/>
          <p:cNvPicPr>
            <a:picLocks noChangeAspect="1"/>
          </p:cNvPicPr>
          <p:nvPr/>
        </p:nvPicPr>
        <p:blipFill>
          <a:blip r:embed="rId2"/>
          <a:stretch>
            <a:fillRect/>
          </a:stretch>
        </p:blipFill>
        <p:spPr>
          <a:xfrm>
            <a:off x="8260475" y="1554480"/>
            <a:ext cx="1309849" cy="1920240"/>
          </a:xfrm>
          <a:prstGeom prst="rect">
            <a:avLst/>
          </a:prstGeom>
          <a:ln w="12700">
            <a:solidFill>
              <a:srgbClr val="E2E8F0"/>
            </a:solidFill>
          </a:ln>
        </p:spPr>
      </p:pic>
      <p:sp>
        <p:nvSpPr>
          <p:cNvPr id="16" name="Rounded Rectangle 15"/>
          <p:cNvSpPr/>
          <p:nvPr/>
        </p:nvSpPr>
        <p:spPr>
          <a:xfrm>
            <a:off x="6217920" y="3794760"/>
            <a:ext cx="5394960" cy="2514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959352"/>
            <a:ext cx="4937760" cy="347472"/>
          </a:xfrm>
          <a:prstGeom prst="rect">
            <a:avLst/>
          </a:prstGeom>
          <a:noFill/>
        </p:spPr>
        <p:txBody>
          <a:bodyPr wrap="square" lIns="0" tIns="0" bIns="0" rIns="0">
            <a:spAutoFit/>
          </a:bodyPr>
          <a:lstStyle/>
          <a:p>
            <a:pPr>
              <a:defRPr sz="1200" b="1">
                <a:solidFill>
                  <a:srgbClr val="0F172A"/>
                </a:solidFill>
                <a:latin typeface="Segoe UI"/>
              </a:defRPr>
            </a:pPr>
            <a:r>
              <a:t>2. Banner Niêm phong &amp; Nút Mở khóa của Cấp trên</a:t>
            </a:r>
          </a:p>
        </p:txBody>
      </p:sp>
      <p:pic>
        <p:nvPicPr>
          <p:cNvPr id="18" name="Picture 17" descr="lock_banner_and_unlock_btn.png"/>
          <p:cNvPicPr>
            <a:picLocks noChangeAspect="1"/>
          </p:cNvPicPr>
          <p:nvPr/>
        </p:nvPicPr>
        <p:blipFill>
          <a:blip r:embed="rId3"/>
          <a:stretch>
            <a:fillRect/>
          </a:stretch>
        </p:blipFill>
        <p:spPr>
          <a:xfrm>
            <a:off x="6621798" y="4160520"/>
            <a:ext cx="4587203" cy="2011680"/>
          </a:xfrm>
          <a:prstGeom prst="rect">
            <a:avLst/>
          </a:prstGeom>
          <a:ln w="12700">
            <a:solidFill>
              <a:srgbClr val="E2E8F0"/>
            </a:solidFill>
          </a:ln>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PHỤ TRÁCH TẦNG</a:t>
            </a:r>
          </a:p>
          <a:p>
            <a:pPr>
              <a:defRPr sz="1800" b="1">
                <a:solidFill>
                  <a:srgbClr val="FFFFFF"/>
                </a:solidFill>
                <a:latin typeface="Segoe UI"/>
              </a:defRPr>
            </a:pPr>
            <a:r>
              <a:t>PHỤ TRÁCH TẦNG: GIÁM SÁT TẦNG &amp; QUYỀN MỞ KHÓA</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D97706"/>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PHỤ TRÁCH TẦNG</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15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Trách nhiệm Điều hành Tầng &amp; Thẩm quyền Mở khóa</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Đăng nhập Tài khoản Phụ trách Tầng: </a:t>
            </a:r>
            <a:r>
              <a:rPr b="0" sz="1050">
                <a:solidFill>
                  <a:srgbClr val="1E293B"/>
                </a:solidFill>
                <a:latin typeface="Segoe UI"/>
              </a:rPr>
              <a:t>Hệ thống tự động kích hoạt quyền quản trị trên toàn bộ các phòng học và chi đoàn thuộc tầng được phân công.</a:t>
            </a:r>
          </a:p>
          <a:p>
            <a:pPr>
              <a:spcAft>
                <a:spcPts val="800"/>
              </a:spcAft>
              <a:defRPr b="1" sz="1050">
                <a:solidFill>
                  <a:srgbClr val="1E293B"/>
                </a:solidFill>
                <a:latin typeface="Segoe UI"/>
              </a:defRPr>
            </a:pPr>
            <a:r>
              <a:t>• [Bước 2] Theo dõi Tiến độ Tổng thể của Tầng: </a:t>
            </a:r>
            <a:r>
              <a:rPr b="0" sz="1050">
                <a:solidFill>
                  <a:srgbClr val="1E293B"/>
                </a:solidFill>
                <a:latin typeface="Segoe UI"/>
              </a:rPr>
              <a:t>Quan sát thanh thống kê tầng để nắm bắt: Có bao nhiêu lớp chưa họp, bao nhiêu lớp đang họp, bao nhiêu lớp đã xong, lớp nào bị chậm tiến độ.</a:t>
            </a:r>
          </a:p>
          <a:p>
            <a:pPr>
              <a:spcAft>
                <a:spcPts val="800"/>
              </a:spcAft>
              <a:defRPr b="1" sz="1050">
                <a:solidFill>
                  <a:srgbClr val="1E293B"/>
                </a:solidFill>
                <a:latin typeface="Segoe UI"/>
              </a:defRPr>
            </a:pPr>
            <a:r>
              <a:t>• [Bước 3] Điều phối Cán bộ Hỗ trợ Hiện trường: </a:t>
            </a:r>
            <a:r>
              <a:rPr b="0" sz="1050">
                <a:solidFill>
                  <a:srgbClr val="1E293B"/>
                </a:solidFill>
                <a:latin typeface="Segoe UI"/>
              </a:rPr>
              <a:t>Phát hiện các phòng có sĩ số đông hoặc thời gian bầu cử kéo dài để phân công thêm nhân sự hỗ trợ kiểm phiếu và kiểm tra hồ sơ.</a:t>
            </a:r>
          </a:p>
          <a:p>
            <a:pPr>
              <a:spcAft>
                <a:spcPts val="800"/>
              </a:spcAft>
              <a:defRPr b="1" sz="1050">
                <a:solidFill>
                  <a:srgbClr val="1E293B"/>
                </a:solidFill>
                <a:latin typeface="Segoe UI"/>
              </a:defRPr>
            </a:pPr>
            <a:r>
              <a:t>• [Bước 4] Thực hiện Thẩm quyền MỞ KHÓA (Unlock): </a:t>
            </a:r>
            <a:r>
              <a:rPr b="0" sz="1050">
                <a:solidFill>
                  <a:srgbClr val="1E293B"/>
                </a:solidFill>
                <a:latin typeface="Segoe UI"/>
              </a:rPr>
              <a:t>Khi cán bộ trực lớp báo cáo sai số liệu cần sửa:
1. Phụ trách Tầng trực tiếp kiểm tra biên bản giấy của chi đoàn.
2. Nếu đúng, bấm nút 'Mở khóa' [🔓 Mở khóa] trên banner niêm phong.
3. Hệ thống mở khóa tức thì, cho phép cán bộ trực cập nhật lại dữ liệu.</a:t>
            </a:r>
          </a:p>
          <a:p>
            <a:pPr>
              <a:spcAft>
                <a:spcPts val="800"/>
              </a:spcAft>
              <a:defRPr b="1" sz="1050">
                <a:solidFill>
                  <a:srgbClr val="1E293B"/>
                </a:solidFill>
                <a:latin typeface="Segoe UI"/>
              </a:defRPr>
            </a:pPr>
            <a:r>
              <a:t>• Quy định Phân cấp: </a:t>
            </a:r>
            <a:r>
              <a:rPr b="0" sz="1050">
                <a:solidFill>
                  <a:srgbClr val="1E293B"/>
                </a:solidFill>
                <a:latin typeface="Segoe UI"/>
              </a:rPr>
              <a:t>Nút 'Mở khóa' CHỈ hiển thị với Phụ trách Tầng, Phụ trách Tòa và Ban Quản trị. Cán bộ trực lớp bình thường không có nút này.</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Giao diện Banner Khóa &amp; Nút Mở khóa Phân quyền</a:t>
            </a:r>
          </a:p>
        </p:txBody>
      </p:sp>
      <p:pic>
        <p:nvPicPr>
          <p:cNvPr id="13" name="Picture 12" descr="lock_banner_and_unlock_btn.png"/>
          <p:cNvPicPr>
            <a:picLocks noChangeAspect="1"/>
          </p:cNvPicPr>
          <p:nvPr/>
        </p:nvPicPr>
        <p:blipFill>
          <a:blip r:embed="rId2"/>
          <a:stretch>
            <a:fillRect/>
          </a:stretch>
        </p:blipFill>
        <p:spPr>
          <a:xfrm>
            <a:off x="6400800" y="2554843"/>
            <a:ext cx="5029200" cy="2205513"/>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Nút 'Mở khóa' độc quyền dành cho cấp quản lý để gỡ niêm phong khi cần sửa dữ liệu</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PHỤ TRÁCH TÒA</a:t>
            </a:r>
          </a:p>
          <a:p>
            <a:pPr>
              <a:defRPr sz="1800" b="1">
                <a:solidFill>
                  <a:srgbClr val="FFFFFF"/>
                </a:solidFill>
                <a:latin typeface="Segoe UI"/>
              </a:defRPr>
            </a:pPr>
            <a:r>
              <a:t>PHỤ TRÁCH TÒA NHÀ &amp; ĐƠN VỊ: ĐIỀU HÀNH CỤM PHÒNG</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7C3AED"/>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PHỤ TRÁCH TÒA NHÀ</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16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Quy trình Điều hành Đơn vị &amp; Cụm Tòa nhà</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Chọn Đơn vị trên Thanh Sidebar: </a:t>
            </a:r>
            <a:r>
              <a:rPr b="0" sz="1050">
                <a:solidFill>
                  <a:srgbClr val="1E293B"/>
                </a:solidFill>
                <a:latin typeface="Segoe UI"/>
              </a:rPr>
              <a:t>Chọn Liên chi đoàn (VD: Trường Điện-Điện tử, Trường Cơ khí...) hoặc cụm Tòa nhà (Tòa D3, D5, D7...) phụ trách.</a:t>
            </a:r>
          </a:p>
          <a:p>
            <a:pPr>
              <a:spcAft>
                <a:spcPts val="800"/>
              </a:spcAft>
              <a:defRPr b="1" sz="1050">
                <a:solidFill>
                  <a:srgbClr val="1E293B"/>
                </a:solidFill>
                <a:latin typeface="Segoe UI"/>
              </a:defRPr>
            </a:pPr>
            <a:r>
              <a:t>• [Bước 2] Bao quát Bức tranh Toàn Tòa: </a:t>
            </a:r>
            <a:r>
              <a:rPr b="0" sz="1050">
                <a:solidFill>
                  <a:srgbClr val="1E293B"/>
                </a:solidFill>
                <a:latin typeface="Segoe UI"/>
              </a:rPr>
              <a:t>Theo dõi đồng thời tiến độ của tất cả các tầng học trong tòa nhà; quan sát tỷ lệ phần trăm hoàn thành chung của toàn đơn vị trên Topbar.</a:t>
            </a:r>
          </a:p>
          <a:p>
            <a:pPr>
              <a:spcAft>
                <a:spcPts val="800"/>
              </a:spcAft>
              <a:defRPr b="1" sz="1050">
                <a:solidFill>
                  <a:srgbClr val="1E293B"/>
                </a:solidFill>
                <a:latin typeface="Segoe UI"/>
              </a:defRPr>
            </a:pPr>
            <a:r>
              <a:t>• [Bước 3] Thẩm quyền Mở khóa Bao trùm: </a:t>
            </a:r>
            <a:r>
              <a:rPr b="0" sz="1050">
                <a:solidFill>
                  <a:srgbClr val="1E293B"/>
                </a:solidFill>
                <a:latin typeface="Segoe UI"/>
              </a:rPr>
              <a:t>Phụ trách Tòa nhà có quyền Mở khóa cho bất kỳ chi đoàn nào trong phạm vi tòa nhà/đơn vị khi Phụ trách Tầng vắng mặt hoặc bận việc.</a:t>
            </a:r>
          </a:p>
          <a:p>
            <a:pPr>
              <a:spcAft>
                <a:spcPts val="800"/>
              </a:spcAft>
              <a:defRPr b="1" sz="1050">
                <a:solidFill>
                  <a:srgbClr val="1E293B"/>
                </a:solidFill>
                <a:latin typeface="Segoe UI"/>
              </a:defRPr>
            </a:pPr>
            <a:r>
              <a:t>• [Bước 4] Báo cáo Ban Chỉ đạo Đại hội Trường: </a:t>
            </a:r>
            <a:r>
              <a:rPr b="0" sz="1050">
                <a:solidFill>
                  <a:srgbClr val="1E293B"/>
                </a:solidFill>
                <a:latin typeface="Segoe UI"/>
              </a:rPr>
              <a:t>Tổng hợp nhanh các trường hợp hủy đại hội hoặc chi đoàn phát sinh sự cố về nhân sự để báo cáo trực tiếp Thường trực Đoàn trường.</a:t>
            </a:r>
          </a:p>
          <a:p>
            <a:pPr>
              <a:spcAft>
                <a:spcPts val="800"/>
              </a:spcAft>
              <a:defRPr b="1" sz="1050">
                <a:solidFill>
                  <a:srgbClr val="1E293B"/>
                </a:solidFill>
                <a:latin typeface="Segoe UI"/>
              </a:defRPr>
            </a:pPr>
            <a:r>
              <a:t>• Gửi Thông báo Cấp Đơn vị: </a:t>
            </a:r>
            <a:r>
              <a:rPr b="0" sz="1050">
                <a:solidFill>
                  <a:srgbClr val="1E293B"/>
                </a:solidFill>
                <a:latin typeface="Segoe UI"/>
              </a:rPr>
              <a:t>Sử dụng tính năng thông báo để phát mệnh lệnh điều hành tới toàn bộ cán bộ trực trong tòa nhà cùng lúc.</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Bảng Giám sát Đa tầng Toàn diện Toàn Tòa nhà</a:t>
            </a:r>
          </a:p>
        </p:txBody>
      </p:sp>
      <p:pic>
        <p:nvPicPr>
          <p:cNvPr id="13" name="Picture 12" descr="full_preview.png"/>
          <p:cNvPicPr>
            <a:picLocks noChangeAspect="1"/>
          </p:cNvPicPr>
          <p:nvPr/>
        </p:nvPicPr>
        <p:blipFill>
          <a:blip r:embed="rId2"/>
          <a:stretch>
            <a:fillRect/>
          </a:stretch>
        </p:blipFill>
        <p:spPr>
          <a:xfrm>
            <a:off x="7062847" y="1645920"/>
            <a:ext cx="3705105" cy="4023360"/>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Nắm bắt toàn cảnh tiến độ các tầng và liên chi đoàn trong cùng một màn hình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TRUYỀN THÔNG ĐIỀU HÀNH</a:t>
            </a:r>
          </a:p>
          <a:p>
            <a:pPr>
              <a:defRPr sz="1800" b="1">
                <a:solidFill>
                  <a:srgbClr val="FFFFFF"/>
                </a:solidFill>
                <a:latin typeface="Segoe UI"/>
              </a:defRPr>
            </a:pPr>
            <a:r>
              <a:t>TRUNG TÂM THÔNG BÁO ĐA CẤP &amp; CẢNH BÁO TỨC THỜI</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B91C1C"/>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CÁC CẤP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17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Quy trình Phát Thông báo &amp; Nhận Cảnh báo Khẩn cấp</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600"/>
              </a:spcAft>
              <a:defRPr b="1" sz="1000">
                <a:solidFill>
                  <a:srgbClr val="1E293B"/>
                </a:solidFill>
                <a:latin typeface="Segoe UI"/>
              </a:defRPr>
            </a:pPr>
            <a:r>
              <a:t>• [Bước 1] Mở Trung tâm Thông báo: </a:t>
            </a:r>
            <a:r>
              <a:rPr b="0" sz="1000">
                <a:solidFill>
                  <a:srgbClr val="1E293B"/>
                </a:solidFill>
                <a:latin typeface="Segoe UI"/>
              </a:rPr>
              <a:t>Bấm vào biểu tượng Chuông [🔔] trên Header. Nút có huy hiệu đỏ hiển thị số lượng tin nhắn chưa đọc.</a:t>
            </a:r>
          </a:p>
          <a:p>
            <a:pPr>
              <a:spcAft>
                <a:spcPts val="600"/>
              </a:spcAft>
              <a:defRPr b="1" sz="1000">
                <a:solidFill>
                  <a:srgbClr val="1E293B"/>
                </a:solidFill>
                <a:latin typeface="Segoe UI"/>
              </a:defRPr>
            </a:pPr>
            <a:r>
              <a:t>• [Bước 2] Chọn Phạm vi Phân cấp Phát thông báo: </a:t>
            </a:r>
            <a:r>
              <a:rPr b="0" sz="1000">
                <a:solidFill>
                  <a:srgbClr val="1E293B"/>
                </a:solidFill>
                <a:latin typeface="Segoe UI"/>
              </a:rPr>
              <a:t>Khi soạn thông báo, chọn đúng phạm vi:
• Toàn trường: Chỉ Ban Quản trị Admin được gửi.
• Một Tòa nhà: Dành cho Phụ trách Tòa nhà.
• Một Tầng: Dành cho Phụ trách Tầng.
• Cá nhân: Gửi đích danh cho 1 cán bộ cụ thể.</a:t>
            </a:r>
          </a:p>
          <a:p>
            <a:pPr>
              <a:spcAft>
                <a:spcPts val="600"/>
              </a:spcAft>
              <a:defRPr b="1" sz="1000">
                <a:solidFill>
                  <a:srgbClr val="1E293B"/>
                </a:solidFill>
                <a:latin typeface="Segoe UI"/>
              </a:defRPr>
            </a:pPr>
            <a:r>
              <a:t>• [Bước 3] Chọn Mức độ Ưu tiên: </a:t>
            </a:r>
            <a:r>
              <a:rPr b="0" sz="1000">
                <a:solidFill>
                  <a:srgbClr val="1E293B"/>
                </a:solidFill>
                <a:latin typeface="Segoe UI"/>
              </a:rPr>
              <a:t>Gồm 3 mức: Thông thường, Quan trọng và KHẨN CẤP (Urgent).</a:t>
            </a:r>
          </a:p>
          <a:p>
            <a:pPr>
              <a:spcAft>
                <a:spcPts val="600"/>
              </a:spcAft>
              <a:defRPr b="1" sz="1000">
                <a:solidFill>
                  <a:srgbClr val="1E293B"/>
                </a:solidFill>
                <a:latin typeface="Segoe UI"/>
              </a:defRPr>
            </a:pPr>
            <a:r>
              <a:t>• [Bước 4] Cơ chế Pop-up Cảnh báo Khẩn cấp (Incoming Alert): </a:t>
            </a:r>
            <a:r>
              <a:rPr b="0" sz="1000">
                <a:solidFill>
                  <a:srgbClr val="1E293B"/>
                </a:solidFill>
                <a:latin typeface="Segoe UI"/>
              </a:rPr>
              <a:t>Khi có thông báo 'Khẩn cấp', màn hình của người nhận sẽ lập tức bật Pop-up Cảnh báo màu đỏ rực kèm âm thanh, bảo đảm không ai bị sót tin.</a:t>
            </a:r>
          </a:p>
        </p:txBody>
      </p:sp>
      <p:sp>
        <p:nvSpPr>
          <p:cNvPr id="11" name="Rounded Rectangle 10"/>
          <p:cNvSpPr/>
          <p:nvPr/>
        </p:nvSpPr>
        <p:spPr>
          <a:xfrm>
            <a:off x="777240" y="4663440"/>
            <a:ext cx="5029200" cy="141732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773168"/>
            <a:ext cx="4700016" cy="1197864"/>
          </a:xfrm>
          <a:prstGeom prst="rect">
            <a:avLst/>
          </a:prstGeom>
          <a:noFill/>
        </p:spPr>
        <p:txBody>
          <a:bodyPr wrap="square" lIns="0" tIns="0" bIns="0" rIns="0">
            <a:spAutoFit/>
          </a:bodyPr>
          <a:lstStyle/>
          <a:p>
            <a:pPr>
              <a:spcAft>
                <a:spcPts val="300"/>
              </a:spcAft>
              <a:defRPr sz="1000" b="1">
                <a:solidFill>
                  <a:srgbClr val="B91C1C"/>
                </a:solidFill>
                <a:latin typeface="Segoe UI"/>
              </a:defRPr>
            </a:pPr>
            <a:r>
              <a:t>CÁC NÚT BẤM CHÍNH TRONG TRUNG TÂM THÔNG BÁO</a:t>
            </a:r>
          </a:p>
          <a:p>
            <a:pPr>
              <a:defRPr sz="950" b="0">
                <a:solidFill>
                  <a:srgbClr val="1E293B"/>
                </a:solidFill>
                <a:latin typeface="Segoe UI"/>
              </a:defRPr>
            </a:pPr>
            <a:r>
              <a:t>• Nút Chuông [🔔]: Mở danh sách thông báo và bộ đếm tin chưa đọc.</a:t>
            </a:r>
            <a:br/>
            <a:r>
              <a:t>• Tab 'Soạn thông báo': Dành cho cấp quản trị tạo tin điều hành.</a:t>
            </a:r>
            <a:br/>
            <a:r>
              <a:t>• Nút 'Phát thông báo ngay': Gửi tin tức thời qua Server-Sent Events dưới 0.1 giây.</a:t>
            </a:r>
            <a:br/>
            <a:r>
              <a:t>• Nút 'Đã hiểu và Đóng': Đóng pop-up cảnh báo khẩn cấp trên màn hình.</a:t>
            </a:r>
          </a:p>
        </p:txBody>
      </p:sp>
      <p:sp>
        <p:nvSpPr>
          <p:cNvPr id="13" name="Rounded Rectangle 12"/>
          <p:cNvSpPr/>
          <p:nvPr/>
        </p:nvSpPr>
        <p:spPr>
          <a:xfrm>
            <a:off x="6217920" y="1188720"/>
            <a:ext cx="5394960" cy="2468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1. Giao diện Soạn Thông báo Đa cấp</a:t>
            </a:r>
          </a:p>
        </p:txBody>
      </p:sp>
      <p:pic>
        <p:nvPicPr>
          <p:cNvPr id="15" name="Picture 14" descr="notif_desktop_compose.png"/>
          <p:cNvPicPr>
            <a:picLocks noChangeAspect="1"/>
          </p:cNvPicPr>
          <p:nvPr/>
        </p:nvPicPr>
        <p:blipFill>
          <a:blip r:embed="rId2"/>
          <a:stretch>
            <a:fillRect/>
          </a:stretch>
        </p:blipFill>
        <p:spPr>
          <a:xfrm>
            <a:off x="7023491" y="1554480"/>
            <a:ext cx="3783817" cy="1920240"/>
          </a:xfrm>
          <a:prstGeom prst="rect">
            <a:avLst/>
          </a:prstGeom>
          <a:ln w="12700">
            <a:solidFill>
              <a:srgbClr val="E2E8F0"/>
            </a:solidFill>
          </a:ln>
        </p:spPr>
      </p:pic>
      <p:sp>
        <p:nvSpPr>
          <p:cNvPr id="16" name="Rounded Rectangle 15"/>
          <p:cNvSpPr/>
          <p:nvPr/>
        </p:nvSpPr>
        <p:spPr>
          <a:xfrm>
            <a:off x="6217920" y="3794760"/>
            <a:ext cx="5394960" cy="2514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959352"/>
            <a:ext cx="4937760" cy="347472"/>
          </a:xfrm>
          <a:prstGeom prst="rect">
            <a:avLst/>
          </a:prstGeom>
          <a:noFill/>
        </p:spPr>
        <p:txBody>
          <a:bodyPr wrap="square" lIns="0" tIns="0" bIns="0" rIns="0">
            <a:spAutoFit/>
          </a:bodyPr>
          <a:lstStyle/>
          <a:p>
            <a:pPr>
              <a:defRPr sz="1200" b="1">
                <a:solidFill>
                  <a:srgbClr val="0F172A"/>
                </a:solidFill>
                <a:latin typeface="Segoe UI"/>
              </a:defRPr>
            </a:pPr>
            <a:r>
              <a:t>2. Pop-up Cảnh báo Khẩn cấp Tức thời</a:t>
            </a:r>
          </a:p>
        </p:txBody>
      </p:sp>
      <p:pic>
        <p:nvPicPr>
          <p:cNvPr id="18" name="Picture 17" descr="notif_incoming_alert.png"/>
          <p:cNvPicPr>
            <a:picLocks noChangeAspect="1"/>
          </p:cNvPicPr>
          <p:nvPr/>
        </p:nvPicPr>
        <p:blipFill>
          <a:blip r:embed="rId3"/>
          <a:stretch>
            <a:fillRect/>
          </a:stretch>
        </p:blipFill>
        <p:spPr>
          <a:xfrm>
            <a:off x="8229288" y="4160520"/>
            <a:ext cx="1372223" cy="2011680"/>
          </a:xfrm>
          <a:prstGeom prst="rect">
            <a:avLst/>
          </a:prstGeom>
          <a:ln w="12700">
            <a:solidFill>
              <a:srgbClr val="E2E8F0"/>
            </a:solidFill>
          </a:ln>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QUẢN TRỊ HỆ THỐNG</a:t>
            </a:r>
          </a:p>
          <a:p>
            <a:pPr>
              <a:defRPr sz="1800" b="1">
                <a:solidFill>
                  <a:srgbClr val="FFFFFF"/>
                </a:solidFill>
                <a:latin typeface="Segoe UI"/>
              </a:defRPr>
            </a:pPr>
            <a:r>
              <a:t>BAN QUẢN TRỊ [1]: QUẢN LÝ TÀI KHOẢN &amp; PHÂN QUYỀN</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B91C1C"/>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BAN QUẢN TRỊ ADMIN</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18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Quản lý Nhân sự, Cấp lại Mật khẩu &amp; Magic Link</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600"/>
              </a:spcAft>
              <a:defRPr b="1" sz="1000">
                <a:solidFill>
                  <a:srgbClr val="1E293B"/>
                </a:solidFill>
                <a:latin typeface="Segoe UI"/>
              </a:defRPr>
            </a:pPr>
            <a:r>
              <a:t>• [Bước 1] Truy cập Trang Quản lý: </a:t>
            </a:r>
            <a:r>
              <a:rPr b="0" sz="1000">
                <a:solidFill>
                  <a:srgbClr val="1E293B"/>
                </a:solidFill>
                <a:latin typeface="Segoe UI"/>
              </a:rPr>
              <a:t>Admin bấm vào mục 'Quản lý (Manage)' trên menu điều hướng để vào trung tâm điều hành nhân sự.</a:t>
            </a:r>
          </a:p>
          <a:p>
            <a:pPr>
              <a:spcAft>
                <a:spcPts val="600"/>
              </a:spcAft>
              <a:defRPr b="1" sz="1000">
                <a:solidFill>
                  <a:srgbClr val="1E293B"/>
                </a:solidFill>
                <a:latin typeface="Segoe UI"/>
              </a:defRPr>
            </a:pPr>
            <a:r>
              <a:t>• [Bước 2] Thêm Cán bộ &amp; Phân quyền: </a:t>
            </a:r>
            <a:r>
              <a:rPr b="0" sz="1000">
                <a:solidFill>
                  <a:srgbClr val="1E293B"/>
                </a:solidFill>
                <a:latin typeface="Segoe UI"/>
              </a:rPr>
              <a:t>Bấm nút 'Thêm Cán bộ', nhập email @sis.hust.edu.vn và chọn vai trò (Cán bộ trực lớp, Phụ trách Tầng, Phụ trách Tòa nhà, Admin).</a:t>
            </a:r>
          </a:p>
          <a:p>
            <a:pPr>
              <a:spcAft>
                <a:spcPts val="600"/>
              </a:spcAft>
              <a:defRPr b="1" sz="1000">
                <a:solidFill>
                  <a:srgbClr val="1E293B"/>
                </a:solidFill>
                <a:latin typeface="Segoe UI"/>
              </a:defRPr>
            </a:pPr>
            <a:r>
              <a:t>• [Bước 3] Phân công Phòng học &amp; Tầng nhà: </a:t>
            </a:r>
            <a:r>
              <a:rPr b="0" sz="1000">
                <a:solidFill>
                  <a:srgbClr val="1E293B"/>
                </a:solidFill>
                <a:latin typeface="Segoe UI"/>
              </a:rPr>
              <a:t>Gán danh sách các chi đoàn hoặc tầng cụ thể mà cán bộ đó được phép phụ trách chỉnh sửa.</a:t>
            </a:r>
          </a:p>
          <a:p>
            <a:pPr>
              <a:spcAft>
                <a:spcPts val="600"/>
              </a:spcAft>
              <a:defRPr b="1" sz="1000">
                <a:solidFill>
                  <a:srgbClr val="1E293B"/>
                </a:solidFill>
                <a:latin typeface="Segoe UI"/>
              </a:defRPr>
            </a:pPr>
            <a:r>
              <a:t>• [Bước 4] Nút Đặt lại Mật khẩu [KeyRound]: </a:t>
            </a:r>
            <a:r>
              <a:rPr b="0" sz="1000">
                <a:solidFill>
                  <a:srgbClr val="1E293B"/>
                </a:solidFill>
                <a:latin typeface="Segoe UI"/>
              </a:rPr>
              <a:t>Khi cán bộ quên mật khẩu, Admin bấm nút biểu tượng Chìa khóa để khôi phục mật khẩu mặc định ngay lập tức.</a:t>
            </a:r>
          </a:p>
        </p:txBody>
      </p:sp>
      <p:sp>
        <p:nvSpPr>
          <p:cNvPr id="11" name="Rounded Rectangle 10"/>
          <p:cNvSpPr/>
          <p:nvPr/>
        </p:nvSpPr>
        <p:spPr>
          <a:xfrm>
            <a:off x="777240" y="4480560"/>
            <a:ext cx="5029200" cy="160020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590288"/>
            <a:ext cx="4700016" cy="1380744"/>
          </a:xfrm>
          <a:prstGeom prst="rect">
            <a:avLst/>
          </a:prstGeom>
          <a:noFill/>
        </p:spPr>
        <p:txBody>
          <a:bodyPr wrap="square" lIns="0" tIns="0" bIns="0" rIns="0">
            <a:spAutoFit/>
          </a:bodyPr>
          <a:lstStyle/>
          <a:p>
            <a:pPr>
              <a:spcAft>
                <a:spcPts val="300"/>
              </a:spcAft>
              <a:defRPr sz="1000" b="1">
                <a:solidFill>
                  <a:srgbClr val="B91C1C"/>
                </a:solidFill>
                <a:latin typeface="Segoe UI"/>
              </a:defRPr>
            </a:pPr>
            <a:r>
              <a:t>TÍNH NĂNG ĐĂNG NHẬP 1-CHẠM (MAGIC LINK) &amp; BẢO VỆ TÀI KHOẢN</a:t>
            </a:r>
          </a:p>
          <a:p>
            <a:pPr>
              <a:defRPr sz="950" b="0">
                <a:solidFill>
                  <a:srgbClr val="1E293B"/>
                </a:solidFill>
                <a:latin typeface="Segoe UI"/>
              </a:defRPr>
            </a:pPr>
            <a:r>
              <a:t>• NÚT TẠO LINK [Link]: Admin bấm tạo link đăng nhập nhanh 1-chạm gửi qua Zalo. Cán bộ chỉ cần chạm vào link là tự động đăng nhập đúng quyền mà không cần gõ mật khẩu.</a:t>
            </a:r>
            <a:br/>
            <a:r>
              <a:t>• BẢO VỆ TÀI KHOẢN ADMIN: Hệ thống khóa cứng, không ai có thể xóa tài khoản Quản trị viên vĩnh viễn (bach.pv2414676@sis.hust.edu.vn).</a:t>
            </a:r>
          </a:p>
        </p:txBody>
      </p:sp>
      <p:sp>
        <p:nvSpPr>
          <p:cNvPr id="13" name="Rounded Rectangle 12"/>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Giao diện Quản trị Nhân sự &amp; Phân quyền Cán bộ</a:t>
            </a:r>
          </a:p>
        </p:txBody>
      </p:sp>
      <p:pic>
        <p:nvPicPr>
          <p:cNvPr id="15" name="Picture 14" descr="media_1791986024994_52b26b5b.png"/>
          <p:cNvPicPr>
            <a:picLocks noChangeAspect="1"/>
          </p:cNvPicPr>
          <p:nvPr/>
        </p:nvPicPr>
        <p:blipFill>
          <a:blip r:embed="rId2"/>
          <a:stretch>
            <a:fillRect/>
          </a:stretch>
        </p:blipFill>
        <p:spPr>
          <a:xfrm>
            <a:off x="7647053" y="1645920"/>
            <a:ext cx="2536692" cy="4023360"/>
          </a:xfrm>
          <a:prstGeom prst="rect">
            <a:avLst/>
          </a:prstGeom>
          <a:ln w="12700">
            <a:solidFill>
              <a:srgbClr val="E2E8F0"/>
            </a:solidFill>
          </a:ln>
        </p:spPr>
      </p:pic>
      <p:sp>
        <p:nvSpPr>
          <p:cNvPr id="16" name="TextBox 15"/>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Trung tâm phân quyền: Đúng người, đúng nhiệm vụ, bảo mật đa tầng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QUẢN TRỊ HỆ THỐNG</a:t>
            </a:r>
          </a:p>
          <a:p>
            <a:pPr>
              <a:defRPr sz="1800" b="1">
                <a:solidFill>
                  <a:srgbClr val="FFFFFF"/>
                </a:solidFill>
                <a:latin typeface="Segoe UI"/>
              </a:defRPr>
            </a:pPr>
            <a:r>
              <a:t>BAN QUẢN TRỊ [2]: MA TRẬN TIẾN ĐỘ, EXCEL &amp; AUDIT LOGS</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B91C1C"/>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BAN QUẢN TRỊ ADMIN</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19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Ma trận Tổng thể, Nhập Excel &amp; Nhật ký Hoạt động (Logs)</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600"/>
              </a:spcAft>
              <a:defRPr b="1" sz="1000">
                <a:solidFill>
                  <a:srgbClr val="1E293B"/>
                </a:solidFill>
                <a:latin typeface="Segoe UI"/>
              </a:defRPr>
            </a:pPr>
            <a:r>
              <a:t>• Bảng Thống kê Ma trận Tổng thể: </a:t>
            </a:r>
            <a:r>
              <a:rPr b="0" sz="1000">
                <a:solidFill>
                  <a:srgbClr val="1E293B"/>
                </a:solidFill>
                <a:latin typeface="Segoe UI"/>
              </a:rPr>
              <a:t>Bảng ma trận tổng hợp đa chiều tỷ lệ hoàn thành theo từng Khoa/Viện/Trường, phục vụ báo cáo nhanh cho Ban Thường vụ Đoàn trường.</a:t>
            </a:r>
          </a:p>
          <a:p>
            <a:pPr>
              <a:spcAft>
                <a:spcPts val="600"/>
              </a:spcAft>
              <a:defRPr b="1" sz="1000">
                <a:solidFill>
                  <a:srgbClr val="1E293B"/>
                </a:solidFill>
                <a:latin typeface="Segoe UI"/>
              </a:defRPr>
            </a:pPr>
            <a:r>
              <a:t>• Nút Nhập Danh sách từ Excel: </a:t>
            </a:r>
            <a:r>
              <a:rPr b="0" sz="1000">
                <a:solidFill>
                  <a:srgbClr val="1E293B"/>
                </a:solidFill>
                <a:latin typeface="Segoe UI"/>
              </a:rPr>
              <a:t>Admin có thể tải file danh sách phòng học, chi đoàn và phân công cán bộ từ Excel để khởi tạo tự động 500+ lớp chỉ trong 3 giây.</a:t>
            </a:r>
          </a:p>
          <a:p>
            <a:pPr>
              <a:spcAft>
                <a:spcPts val="600"/>
              </a:spcAft>
              <a:defRPr b="1" sz="1000">
                <a:solidFill>
                  <a:srgbClr val="1E293B"/>
                </a:solidFill>
                <a:latin typeface="Segoe UI"/>
              </a:defRPr>
            </a:pPr>
            <a:r>
              <a:t>• NHẬT KÝ HOẠT ĐỘNG (AUDIT LOGS) TRÊN SIDEBAR: </a:t>
            </a:r>
            <a:r>
              <a:rPr b="0" sz="1000">
                <a:solidFill>
                  <a:srgbClr val="1E293B"/>
                </a:solidFill>
                <a:latin typeface="Segoe UI"/>
              </a:rPr>
              <a:t>Mục 'Nhật ký hoạt động' nằm ở thanh Sidebar (hỗ trợ cả giao diện PC và Mobile dạng Card).</a:t>
            </a:r>
          </a:p>
          <a:p>
            <a:pPr>
              <a:spcAft>
                <a:spcPts val="600"/>
              </a:spcAft>
              <a:defRPr b="1" sz="1000">
                <a:solidFill>
                  <a:srgbClr val="1E293B"/>
                </a:solidFill>
                <a:latin typeface="Segoe UI"/>
              </a:defRPr>
            </a:pPr>
            <a:r>
              <a:t>• Truy vết Minh bạch Mọi Thao tác: </a:t>
            </a:r>
            <a:r>
              <a:rPr b="0" sz="1000">
                <a:solidFill>
                  <a:srgbClr val="1E293B"/>
                </a:solidFill>
                <a:latin typeface="Segoe UI"/>
              </a:rPr>
              <a:t>Ghi nhận đầy đủ: Ai thao tác (email/tên), Lúc mấy giờ (giờ:phút:giây), Ở lớp nào, Hành động gì (Sửa sĩ số, Tick checklist, Lưu, Khóa, Mở khóa, Hủy đại hội).</a:t>
            </a:r>
          </a:p>
        </p:txBody>
      </p:sp>
      <p:sp>
        <p:nvSpPr>
          <p:cNvPr id="11" name="Rounded Rectangle 10"/>
          <p:cNvSpPr/>
          <p:nvPr/>
        </p:nvSpPr>
        <p:spPr>
          <a:xfrm>
            <a:off x="777240" y="4572000"/>
            <a:ext cx="5029200" cy="150876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681728"/>
            <a:ext cx="4700016" cy="1289304"/>
          </a:xfrm>
          <a:prstGeom prst="rect">
            <a:avLst/>
          </a:prstGeom>
          <a:noFill/>
        </p:spPr>
        <p:txBody>
          <a:bodyPr wrap="square" lIns="0" tIns="0" bIns="0" rIns="0">
            <a:spAutoFit/>
          </a:bodyPr>
          <a:lstStyle/>
          <a:p>
            <a:pPr>
              <a:spcAft>
                <a:spcPts val="300"/>
              </a:spcAft>
              <a:defRPr sz="1000" b="1">
                <a:solidFill>
                  <a:srgbClr val="B91C1C"/>
                </a:solidFill>
                <a:latin typeface="Segoe UI"/>
              </a:defRPr>
            </a:pPr>
            <a:r>
              <a:t>GIÁ TRỊ KIỂM TOÁN CỦA HỆ THỐNG AUDIT LOGS</a:t>
            </a:r>
          </a:p>
          <a:p>
            <a:pPr>
              <a:defRPr sz="950" b="0">
                <a:solidFill>
                  <a:srgbClr val="1E293B"/>
                </a:solidFill>
                <a:latin typeface="Segoe UI"/>
              </a:defRPr>
            </a:pPr>
            <a:r>
              <a:t>• Không thể chối bỏ: Mọi hành vi sửa đổi dữ liệu đều được lưu vết vĩnh viễn trong cơ sở dữ liệu SQLite ACID.</a:t>
            </a:r>
            <a:br/>
            <a:r>
              <a:t>• Phát hiện gian lận: Cảnh báo ngay nếu có sự can thiệp trái phép hoặc sửa đổi sau giờ bế mạc.</a:t>
            </a:r>
            <a:br/>
            <a:r>
              <a:t>• Tối ưu Mobile: Cán bộ quản lý xem nhật ký dạng thẻ vuốt mượt mà trên điện thoại.</a:t>
            </a:r>
          </a:p>
        </p:txBody>
      </p:sp>
      <p:sp>
        <p:nvSpPr>
          <p:cNvPr id="13" name="Rounded Rectangle 12"/>
          <p:cNvSpPr/>
          <p:nvPr/>
        </p:nvSpPr>
        <p:spPr>
          <a:xfrm>
            <a:off x="6217920" y="1188720"/>
            <a:ext cx="5394960" cy="2468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1. Nhật ký Hoạt động (Audit Logs) trên Desktop</a:t>
            </a:r>
          </a:p>
        </p:txBody>
      </p:sp>
      <p:pic>
        <p:nvPicPr>
          <p:cNvPr id="15" name="Picture 14" descr="audit_logs.png"/>
          <p:cNvPicPr>
            <a:picLocks noChangeAspect="1"/>
          </p:cNvPicPr>
          <p:nvPr/>
        </p:nvPicPr>
        <p:blipFill>
          <a:blip r:embed="rId2"/>
          <a:stretch>
            <a:fillRect/>
          </a:stretch>
        </p:blipFill>
        <p:spPr>
          <a:xfrm>
            <a:off x="6726052" y="1554480"/>
            <a:ext cx="4378694" cy="1920240"/>
          </a:xfrm>
          <a:prstGeom prst="rect">
            <a:avLst/>
          </a:prstGeom>
          <a:ln w="12700">
            <a:solidFill>
              <a:srgbClr val="E2E8F0"/>
            </a:solidFill>
          </a:ln>
        </p:spPr>
      </p:pic>
      <p:sp>
        <p:nvSpPr>
          <p:cNvPr id="16" name="Rounded Rectangle 15"/>
          <p:cNvSpPr/>
          <p:nvPr/>
        </p:nvSpPr>
        <p:spPr>
          <a:xfrm>
            <a:off x="6217920" y="3794760"/>
            <a:ext cx="5394960" cy="2514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959352"/>
            <a:ext cx="4937760" cy="347472"/>
          </a:xfrm>
          <a:prstGeom prst="rect">
            <a:avLst/>
          </a:prstGeom>
          <a:noFill/>
        </p:spPr>
        <p:txBody>
          <a:bodyPr wrap="square" lIns="0" tIns="0" bIns="0" rIns="0">
            <a:spAutoFit/>
          </a:bodyPr>
          <a:lstStyle/>
          <a:p>
            <a:pPr>
              <a:defRPr sz="1200" b="1">
                <a:solidFill>
                  <a:srgbClr val="0F172A"/>
                </a:solidFill>
                <a:latin typeface="Segoe UI"/>
              </a:defRPr>
            </a:pPr>
            <a:r>
              <a:t>2. Nhật ký Hoạt động Dạng Card trên Mobile</a:t>
            </a:r>
          </a:p>
        </p:txBody>
      </p:sp>
      <p:pic>
        <p:nvPicPr>
          <p:cNvPr id="18" name="Picture 17" descr="mobile_audit_logs_cards.png"/>
          <p:cNvPicPr>
            <a:picLocks noChangeAspect="1"/>
          </p:cNvPicPr>
          <p:nvPr/>
        </p:nvPicPr>
        <p:blipFill>
          <a:blip r:embed="rId3"/>
          <a:stretch>
            <a:fillRect/>
          </a:stretch>
        </p:blipFill>
        <p:spPr>
          <a:xfrm>
            <a:off x="8225052" y="4160520"/>
            <a:ext cx="1380694" cy="2011680"/>
          </a:xfrm>
          <a:prstGeom prst="rect">
            <a:avLst/>
          </a:prstGeom>
          <a:ln w="12700">
            <a:solidFill>
              <a:srgbClr val="E2E8F0"/>
            </a:solidFill>
          </a:ln>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VẬN HÀNH KHẨN CẤP</a:t>
            </a:r>
          </a:p>
          <a:p>
            <a:pPr>
              <a:defRPr sz="1800" b="1">
                <a:solidFill>
                  <a:srgbClr val="FFFFFF"/>
                </a:solidFill>
                <a:latin typeface="Segoe UI"/>
              </a:defRPr>
            </a:pPr>
            <a:r>
              <a:t>QUY TRÌNH XỬ LÝ SỰ CỐ HIỆN TRƯỜNG &amp; ĐẦU MỐI CHỈ HUY</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4755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TOÀN THỂ NGƯỜI DÙNG</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20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Kịch bản 4 Tình huống Sự cố Thường gặp &amp; Cách Xử lý</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50">
                <a:solidFill>
                  <a:srgbClr val="1E293B"/>
                </a:solidFill>
                <a:latin typeface="Segoe UI"/>
              </a:defRPr>
            </a:pPr>
            <a:r>
              <a:t>• [Tình huống 1] Mất mạng Wifi / Sóng 4G yếu: </a:t>
            </a:r>
            <a:r>
              <a:rPr b="0" sz="1050">
                <a:solidFill>
                  <a:srgbClr val="1E293B"/>
                </a:solidFill>
                <a:latin typeface="Segoe UI"/>
              </a:rPr>
              <a:t>Hệ thống hỗ trợ cơ chế Optimistic UI và Offline-first. Cán bộ vẫn thao tác tick checklist và nhập điểm danh bình thường trên màn hình. Khi có mạng trở lại, hệ thống sẽ tự động đồng bộ ngay lập tức.</a:t>
            </a:r>
          </a:p>
          <a:p>
            <a:pPr>
              <a:spcAft>
                <a:spcPts val="800"/>
              </a:spcAft>
              <a:defRPr b="1" sz="1050">
                <a:solidFill>
                  <a:srgbClr val="1E293B"/>
                </a:solidFill>
                <a:latin typeface="Segoe UI"/>
              </a:defRPr>
            </a:pPr>
            <a:r>
              <a:t>• [Tình huống 2] Chi đoàn Không đủ 2/3 Sĩ số: </a:t>
            </a:r>
            <a:r>
              <a:rPr b="0" sz="1050">
                <a:solidFill>
                  <a:srgbClr val="1E293B"/>
                </a:solidFill>
                <a:latin typeface="Segoe UI"/>
              </a:rPr>
              <a:t>Báo ngay Phụ trách Tầng. Chi đoàn được phép chờ tối đa 15-30 phút để tập hợp thêm đoàn viên. Nếu vẫn không đủ: Báo cáo Thường trực xin ý kiến, chuyển trạng thái sang 'Hủy đại hội' và nhập rõ lý do hoãn.</a:t>
            </a:r>
          </a:p>
          <a:p>
            <a:pPr>
              <a:spcAft>
                <a:spcPts val="800"/>
              </a:spcAft>
              <a:defRPr b="1" sz="1050">
                <a:solidFill>
                  <a:srgbClr val="1E293B"/>
                </a:solidFill>
                <a:latin typeface="Segoe UI"/>
              </a:defRPr>
            </a:pPr>
            <a:r>
              <a:t>• [Tình huống 3] Lớp đã Khóa nhưng Cần sửa Số liệu: </a:t>
            </a:r>
            <a:r>
              <a:rPr b="0" sz="1050">
                <a:solidFill>
                  <a:srgbClr val="1E293B"/>
                </a:solidFill>
                <a:latin typeface="Segoe UI"/>
              </a:rPr>
              <a:t>Cán bộ trực lớp liên hệ Phụ trách Tầng hoặc Phụ trách Tòa nhà đến đối soát biên bản gốc tại chỗ. Cấp trên bấm nút 'Mở khóa' trên thẻ lớp để cho phép chỉnh sửa.</a:t>
            </a:r>
          </a:p>
          <a:p>
            <a:pPr>
              <a:spcAft>
                <a:spcPts val="800"/>
              </a:spcAft>
              <a:defRPr b="1" sz="1050">
                <a:solidFill>
                  <a:srgbClr val="1E293B"/>
                </a:solidFill>
                <a:latin typeface="Segoe UI"/>
              </a:defRPr>
            </a:pPr>
            <a:r>
              <a:t>• [Tình huống 4] Quên mật khẩu / Không vào được hệ thống: </a:t>
            </a:r>
            <a:r>
              <a:rPr b="0" sz="1050">
                <a:solidFill>
                  <a:srgbClr val="1E293B"/>
                </a:solidFill>
                <a:latin typeface="Segoe UI"/>
              </a:rPr>
              <a:t>Liên hệ Ban Quản trị qua nhóm Zalo Điều hành hoặc Hotline để nhận Magic Link đăng nhập nhanh 1-chạm mà không cần gõ mật khẩu.</a:t>
            </a:r>
          </a:p>
        </p:txBody>
      </p:sp>
      <p:sp>
        <p:nvSpPr>
          <p:cNvPr id="11" name="Rounded Rectangle 10"/>
          <p:cNvSpPr/>
          <p:nvPr/>
        </p:nvSpPr>
        <p:spPr>
          <a:xfrm>
            <a:off x="6217920" y="1188720"/>
            <a:ext cx="5394960" cy="5120640"/>
          </a:xfrm>
          <a:prstGeom prst="roundRect">
            <a:avLst/>
          </a:prstGeom>
          <a:solidFill>
            <a:srgbClr val="FEF2F2"/>
          </a:solidFill>
          <a:ln w="190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Đầu mối Trực Điều hành &amp; Hỗ trợ Kỹ thuật 24/7</a:t>
            </a:r>
          </a:p>
        </p:txBody>
      </p:sp>
      <p:sp>
        <p:nvSpPr>
          <p:cNvPr id="13" name="TextBox 12"/>
          <p:cNvSpPr txBox="1"/>
          <p:nvPr/>
        </p:nvSpPr>
        <p:spPr>
          <a:xfrm>
            <a:off x="6492240" y="1645920"/>
            <a:ext cx="4846320" cy="4389120"/>
          </a:xfrm>
          <a:prstGeom prst="rect">
            <a:avLst/>
          </a:prstGeom>
          <a:noFill/>
        </p:spPr>
        <p:txBody>
          <a:bodyPr wrap="square" lIns="0" tIns="0" bIns="0" rIns="0">
            <a:spAutoFit/>
          </a:bodyPr>
          <a:lstStyle/>
          <a:p>
            <a:pPr>
              <a:spcAft>
                <a:spcPts val="1200"/>
              </a:spcAft>
              <a:defRPr b="1" sz="1100">
                <a:solidFill>
                  <a:srgbClr val="1E293B"/>
                </a:solidFill>
                <a:latin typeface="Segoe UI"/>
              </a:defRPr>
            </a:pPr>
            <a:r>
              <a:t>• Cơ quan Thường trực: </a:t>
            </a:r>
            <a:r>
              <a:rPr b="0" sz="1100">
                <a:solidFill>
                  <a:srgbClr val="1E293B"/>
                </a:solidFill>
                <a:latin typeface="Segoe UI"/>
              </a:rPr>
              <a:t>Ban Tổ chức - Kiểm tra Đoàn Thanh niên Đại học Bách khoa Hà Nội.</a:t>
            </a:r>
          </a:p>
          <a:p>
            <a:pPr>
              <a:spcAft>
                <a:spcPts val="1200"/>
              </a:spcAft>
              <a:defRPr b="1" sz="1100">
                <a:solidFill>
                  <a:srgbClr val="1E293B"/>
                </a:solidFill>
                <a:latin typeface="Segoe UI"/>
              </a:defRPr>
            </a:pPr>
            <a:r>
              <a:t>• Trụ sở Trực Điều hành Hiện trường: </a:t>
            </a:r>
            <a:r>
              <a:rPr b="0" sz="1100">
                <a:solidFill>
                  <a:srgbClr val="1E293B"/>
                </a:solidFill>
                <a:latin typeface="Segoe UI"/>
              </a:rPr>
              <a:t>Phòng 104 nhà B1 - Trụ sở Văn phòng Đoàn Thanh niên - Hội Sinh viên ĐHBK Hà Nội.</a:t>
            </a:r>
          </a:p>
          <a:p>
            <a:pPr>
              <a:spcAft>
                <a:spcPts val="1200"/>
              </a:spcAft>
              <a:defRPr b="1" sz="1100">
                <a:solidFill>
                  <a:srgbClr val="1E293B"/>
                </a:solidFill>
                <a:latin typeface="Segoe UI"/>
              </a:defRPr>
            </a:pPr>
            <a:r>
              <a:t>• Hotline Kỹ thuật Hệ thống: </a:t>
            </a:r>
            <a:r>
              <a:rPr b="0" sz="1100">
                <a:solidFill>
                  <a:srgbClr val="1E293B"/>
                </a:solidFill>
                <a:latin typeface="Segoe UI"/>
              </a:rPr>
              <a:t>Đ/c Kiều Minh Anh — SĐT: 0366.329.799 (Hỗ trợ 24/7 trong suốt các kíp đại hội).</a:t>
            </a:r>
          </a:p>
          <a:p>
            <a:pPr>
              <a:spcAft>
                <a:spcPts val="1200"/>
              </a:spcAft>
              <a:defRPr b="1" sz="1100">
                <a:solidFill>
                  <a:srgbClr val="1E293B"/>
                </a:solidFill>
                <a:latin typeface="Segoe UI"/>
              </a:defRPr>
            </a:pPr>
            <a:r>
              <a:t>• Kênh Điều hành Trực tuyến: </a:t>
            </a:r>
            <a:r>
              <a:rPr b="0" sz="1100">
                <a:solidFill>
                  <a:srgbClr val="1E293B"/>
                </a:solidFill>
                <a:latin typeface="Segoe UI"/>
              </a:rPr>
              <a:t>Nhóm Zalo: 'Điều hành Đại hội Chi đoàn ĐHBK Hà Nội 2026'.</a:t>
            </a:r>
          </a:p>
          <a:p>
            <a:pPr>
              <a:spcAft>
                <a:spcPts val="1200"/>
              </a:spcAft>
              <a:defRPr b="1" sz="1100">
                <a:solidFill>
                  <a:srgbClr val="1E293B"/>
                </a:solidFill>
                <a:latin typeface="Segoe UI"/>
              </a:defRPr>
            </a:pPr>
            <a:r>
              <a:t>• Cổng thông tin Trực tuyến: </a:t>
            </a:r>
            <a:r>
              <a:rPr b="0" sz="1100">
                <a:solidFill>
                  <a:srgbClr val="1E293B"/>
                </a:solidFill>
                <a:latin typeface="Segoe UI"/>
              </a:rPr>
              <a:t>https://event-tracker-pied.vercel.app/</a:t>
            </a:r>
          </a:p>
          <a:p>
            <a:pPr>
              <a:spcAft>
                <a:spcPts val="1200"/>
              </a:spcAft>
              <a:defRPr b="1" sz="1100">
                <a:solidFill>
                  <a:srgbClr val="1E293B"/>
                </a:solidFill>
                <a:latin typeface="Segoe UI"/>
              </a:defRPr>
            </a:pPr>
            <a:r>
              <a:t>• Lời chúc Đại hội: </a:t>
            </a:r>
            <a:r>
              <a:rPr b="0" sz="1100">
                <a:solidFill>
                  <a:srgbClr val="1E293B"/>
                </a:solidFill>
                <a:latin typeface="Segoe UI"/>
              </a:rPr>
              <a:t>CHÚC CÁC CHI ĐOÀN TỔ CHỨC ĐẠI HỘI THÀNH CÔNG RỰC RỠ, CHUẨN MỰC VÀ ĐÚNG ĐIỀU LỆ ĐOÀN!</a:t>
            </a:r>
          </a:p>
        </p:txBody>
      </p:sp>
      <p:pic>
        <p:nvPicPr>
          <p:cNvPr id="14" name="Picture 13" descr="emblem_preview.png"/>
          <p:cNvPicPr>
            <a:picLocks noChangeAspect="1"/>
          </p:cNvPicPr>
          <p:nvPr/>
        </p:nvPicPr>
        <p:blipFill>
          <a:blip r:embed="rId2"/>
          <a:stretch>
            <a:fillRect/>
          </a:stretch>
        </p:blipFill>
        <p:spPr>
          <a:xfrm>
            <a:off x="9875520" y="46634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