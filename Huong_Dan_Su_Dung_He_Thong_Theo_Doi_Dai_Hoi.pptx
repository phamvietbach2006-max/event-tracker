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 cy="68580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05840"/>
            <a:ext cx="7498079" cy="3840480"/>
          </a:xfrm>
          <a:prstGeom prst="rect">
            <a:avLst/>
          </a:prstGeom>
          <a:noFill/>
        </p:spPr>
        <p:txBody>
          <a:bodyPr wrap="square">
            <a:spAutoFit/>
          </a:bodyPr>
          <a:lstStyle/>
          <a:p>
            <a:pPr>
              <a:spcAft>
                <a:spcPts val="400"/>
              </a:spcAft>
              <a:defRPr sz="1300" b="1">
                <a:solidFill>
                  <a:srgbClr val="EF4444"/>
                </a:solidFill>
                <a:latin typeface="Segoe UI"/>
              </a:defRPr>
            </a:pPr>
            <a:r>
              <a:t>ĐOÀN TNCS HỒ CHÍ MINH ĐẠI HỌC BÁCH KHOA HÀ NỘI</a:t>
            </a:r>
          </a:p>
          <a:p>
            <a:pPr>
              <a:spcAft>
                <a:spcPts val="2000"/>
              </a:spcAft>
              <a:defRPr sz="1100" b="1">
                <a:solidFill>
                  <a:srgbClr val="CBD5E1"/>
                </a:solidFill>
                <a:latin typeface="Segoe UI"/>
              </a:defRPr>
            </a:pPr>
            <a:r>
              <a:t>BAN TỔ CHỨC - KIỂM TRA ĐOÀN ĐẠI HỌC</a:t>
            </a:r>
          </a:p>
          <a:p>
            <a:pPr>
              <a:defRPr sz="2700" b="1">
                <a:solidFill>
                  <a:srgbClr val="FFFFFF"/>
                </a:solidFill>
                <a:latin typeface="Segoe UI"/>
              </a:defRPr>
            </a:pPr>
            <a:r>
              <a:t>HỆ THỐNG THEO DÕI ĐẠI HỘI CHI ĐOÀN</a:t>
            </a:r>
          </a:p>
          <a:p>
            <a:pPr>
              <a:spcAft>
                <a:spcPts val="1600"/>
              </a:spcAft>
              <a:defRPr sz="2100" b="1">
                <a:solidFill>
                  <a:srgbClr val="FBBF24"/>
                </a:solidFill>
                <a:latin typeface="Segoe UI"/>
              </a:defRPr>
            </a:pPr>
            <a:r>
              <a:t>THỜI GIAN THỰC (REALTIME DASHBOARD)</a:t>
            </a:r>
          </a:p>
          <a:p>
            <a:pPr>
              <a:spcAft>
                <a:spcPts val="600"/>
              </a:spcAft>
              <a:defRPr sz="1300" b="1">
                <a:solidFill>
                  <a:srgbClr val="E2E8F0"/>
                </a:solidFill>
                <a:latin typeface="Segoe UI"/>
              </a:defRPr>
            </a:pPr>
            <a:r>
              <a:t>CẨM NANG HƯỚNG DẪN VẬN HÀNH &amp; TÁC NGHIỆP PHÂN QUYỀN TOÀN DIỆN</a:t>
            </a:r>
          </a:p>
          <a:p>
            <a:pPr>
              <a:defRPr sz="1100">
                <a:solidFill>
                  <a:srgbClr val="94A3B8"/>
                </a:solidFill>
                <a:latin typeface="Segoe UI"/>
              </a:defRPr>
            </a:pPr>
            <a:r>
              <a:t>Phục vụ Đại hội Chi đoàn các khóa K70, K71 • Chuẩn hóa theo Điều lệ Đoàn TNCS Hồ Chí Minh</a:t>
            </a:r>
          </a:p>
        </p:txBody>
      </p:sp>
      <p:sp>
        <p:nvSpPr>
          <p:cNvPr id="5" name="Rounded Rectangle 4"/>
          <p:cNvSpPr/>
          <p:nvPr/>
        </p:nvSpPr>
        <p:spPr>
          <a:xfrm>
            <a:off x="1097280" y="5120640"/>
            <a:ext cx="237744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spcAft>
                <a:spcPts val="300"/>
              </a:spcAft>
              <a:defRPr sz="950" b="1">
                <a:solidFill>
                  <a:srgbClr val="FBBF24"/>
                </a:solidFill>
                <a:latin typeface="Segoe UI"/>
              </a:defRPr>
            </a:pPr>
            <a:r>
              <a:t>ĐỒNG BỘ 100% REALTIME</a:t>
            </a:r>
          </a:p>
          <a:p>
            <a:pPr>
              <a:defRPr sz="850">
                <a:solidFill>
                  <a:srgbClr val="CBD5E1"/>
                </a:solidFill>
                <a:latin typeface="Segoe UI"/>
              </a:defRPr>
            </a:pPr>
            <a:r>
              <a:t>Server-Sent Events (SSE) &lt; 100ms</a:t>
            </a:r>
          </a:p>
        </p:txBody>
      </p:sp>
      <p:sp>
        <p:nvSpPr>
          <p:cNvPr id="6" name="Rounded Rectangle 5"/>
          <p:cNvSpPr/>
          <p:nvPr/>
        </p:nvSpPr>
        <p:spPr>
          <a:xfrm>
            <a:off x="3657600" y="5120640"/>
            <a:ext cx="237744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spcAft>
                <a:spcPts val="300"/>
              </a:spcAft>
              <a:defRPr sz="950" b="1">
                <a:solidFill>
                  <a:srgbClr val="FBBF24"/>
                </a:solidFill>
                <a:latin typeface="Segoe UI"/>
              </a:defRPr>
            </a:pPr>
            <a:r>
              <a:t>PHÂN QUYỀN RBAC 5 CẤP</a:t>
            </a:r>
          </a:p>
          <a:p>
            <a:pPr>
              <a:defRPr sz="850">
                <a:solidFill>
                  <a:srgbClr val="CBD5E1"/>
                </a:solidFill>
                <a:latin typeface="Segoe UI"/>
              </a:defRPr>
            </a:pPr>
            <a:r>
              <a:t>Khách • Lớp • Tầng • Tòa • Admin</a:t>
            </a:r>
          </a:p>
        </p:txBody>
      </p:sp>
      <p:sp>
        <p:nvSpPr>
          <p:cNvPr id="7" name="Rounded Rectangle 6"/>
          <p:cNvSpPr/>
          <p:nvPr/>
        </p:nvSpPr>
        <p:spPr>
          <a:xfrm>
            <a:off x="6217920" y="5120640"/>
            <a:ext cx="237744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spcAft>
                <a:spcPts val="300"/>
              </a:spcAft>
              <a:defRPr sz="950" b="1">
                <a:solidFill>
                  <a:srgbClr val="FBBF24"/>
                </a:solidFill>
                <a:latin typeface="Segoe UI"/>
              </a:defRPr>
            </a:pPr>
            <a:r>
              <a:t>PWA ĐA NỀN TẢNG</a:t>
            </a:r>
          </a:p>
          <a:p>
            <a:pPr>
              <a:defRPr sz="850">
                <a:solidFill>
                  <a:srgbClr val="CBD5E1"/>
                </a:solidFill>
                <a:latin typeface="Segoe UI"/>
              </a:defRPr>
            </a:pPr>
            <a:r>
              <a:t>Màn hình chính iOS Safari &amp; Android</a:t>
            </a:r>
          </a:p>
        </p:txBody>
      </p:sp>
      <p:sp>
        <p:nvSpPr>
          <p:cNvPr id="8" name="Rounded Rectangle 7"/>
          <p:cNvSpPr/>
          <p:nvPr/>
        </p:nvSpPr>
        <p:spPr>
          <a:xfrm>
            <a:off x="8778239" y="5120640"/>
            <a:ext cx="237744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spcAft>
                <a:spcPts val="300"/>
              </a:spcAft>
              <a:defRPr sz="950" b="1">
                <a:solidFill>
                  <a:srgbClr val="FBBF24"/>
                </a:solidFill>
                <a:latin typeface="Segoe UI"/>
              </a:defRPr>
            </a:pPr>
            <a:r>
              <a:t>KIỂM SOÁT PHÁP LÝ</a:t>
            </a:r>
          </a:p>
          <a:p>
            <a:pPr>
              <a:defRPr sz="850">
                <a:solidFill>
                  <a:srgbClr val="CBD5E1"/>
                </a:solidFill>
                <a:latin typeface="Segoe UI"/>
              </a:defRPr>
            </a:pPr>
            <a:r>
              <a:t>Ràng buộc 2/3 sĩ số &amp; 100% hồ sơ</a:t>
            </a:r>
          </a:p>
        </p:txBody>
      </p:sp>
      <p:pic>
        <p:nvPicPr>
          <p:cNvPr id="9" name="Picture 8" descr="transparent_logo.png"/>
          <p:cNvPicPr>
            <a:picLocks noChangeAspect="1"/>
          </p:cNvPicPr>
          <p:nvPr/>
        </p:nvPicPr>
        <p:blipFill>
          <a:blip r:embed="rId2"/>
          <a:stretch>
            <a:fillRect/>
          </a:stretch>
        </p:blipFill>
        <p:spPr>
          <a:xfrm>
            <a:off x="8961120" y="1463040"/>
            <a:ext cx="2560320" cy="2560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HỆ THỐNG THEO DÕI ĐẠI HỘI</a:t>
            </a:r>
          </a:p>
          <a:p>
            <a:pPr>
              <a:defRPr sz="1800" b="1">
                <a:solidFill>
                  <a:srgbClr val="FFFFFF"/>
                </a:solidFill>
                <a:latin typeface="Segoe UI"/>
              </a:defRPr>
            </a:pPr>
            <a:r>
              <a:t>TỔNG QUAN KIẾN TRÚC &amp; MỤC TIÊU CHUYỂN ĐỔI SỐ ĐẠI HỘI</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475569"/>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TOÀN THỂ NGƯỜI DÙNG</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2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Mục tiêu Chuyển đổi số &amp; Các Trụ cột Công nghệ</a:t>
            </a:r>
          </a:p>
        </p:txBody>
      </p:sp>
      <p:sp>
        <p:nvSpPr>
          <p:cNvPr id="10" name="TextBox 9"/>
          <p:cNvSpPr txBox="1"/>
          <p:nvPr/>
        </p:nvSpPr>
        <p:spPr>
          <a:xfrm>
            <a:off x="777240" y="1645920"/>
            <a:ext cx="5029200" cy="4389120"/>
          </a:xfrm>
          <a:prstGeom prst="rect">
            <a:avLst/>
          </a:prstGeom>
          <a:noFill/>
        </p:spPr>
        <p:txBody>
          <a:bodyPr wrap="square" lIns="0" tIns="0" rIns="0" bIns="0">
            <a:spAutoFit/>
          </a:bodyPr>
          <a:lstStyle/>
          <a:p>
            <a:pPr>
              <a:spcAft>
                <a:spcPts val="1000"/>
              </a:spcAft>
              <a:defRPr sz="1050" b="1">
                <a:solidFill>
                  <a:srgbClr val="1E293B"/>
                </a:solidFill>
                <a:latin typeface="Segoe UI"/>
              </a:defRPr>
            </a:pPr>
            <a:r>
              <a:t>• Mục tiêu Chuyển đổi số: </a:t>
            </a:r>
            <a:r>
              <a:rPr sz="1050" b="0">
                <a:solidFill>
                  <a:srgbClr val="1E293B"/>
                </a:solidFill>
                <a:latin typeface="Segoe UI"/>
              </a:rPr>
              <a:t>Chuyển dịch 100% công tác điều hành từ báo cáo thủ công qua tin nhắn/giấy tờ rời rạc sang bảng điều khiển số tập trung, nắm bắt tình trạng từng phòng học theo thời gian thực.</a:t>
            </a:r>
          </a:p>
          <a:p>
            <a:pPr>
              <a:spcAft>
                <a:spcPts val="1000"/>
              </a:spcAft>
              <a:defRPr sz="1050" b="1">
                <a:solidFill>
                  <a:srgbClr val="1E293B"/>
                </a:solidFill>
                <a:latin typeface="Segoe UI"/>
              </a:defRPr>
            </a:pPr>
            <a:r>
              <a:t>• Đồng bộ Thời gian thực (SSE): </a:t>
            </a:r>
            <a:r>
              <a:rPr sz="1050" b="0">
                <a:solidFill>
                  <a:srgbClr val="1E293B"/>
                </a:solidFill>
                <a:latin typeface="Segoe UI"/>
              </a:rPr>
              <a:t>Cán bộ trực lớp tick chọn checklist hoặc cập nhật sĩ số, dữ liệu lập tức phát tín hiệu Server-Sent Events cập nhật tức thời tới điện thoại của Phụ trách Tầng, Tòa nhà và Ban Quản trị dưới 100ms.</a:t>
            </a:r>
          </a:p>
          <a:p>
            <a:pPr>
              <a:spcAft>
                <a:spcPts val="1000"/>
              </a:spcAft>
              <a:defRPr sz="1050" b="1">
                <a:solidFill>
                  <a:srgbClr val="1E293B"/>
                </a:solidFill>
                <a:latin typeface="Segoe UI"/>
              </a:defRPr>
            </a:pPr>
            <a:r>
              <a:t>• Khả năng Chịu tải Cao &amp; Độ trễ cực thấp: </a:t>
            </a:r>
            <a:r>
              <a:rPr sz="1050" b="0">
                <a:solidFill>
                  <a:srgbClr val="1E293B"/>
                </a:solidFill>
                <a:latin typeface="Segoe UI"/>
              </a:rPr>
              <a:t>Kiến trúc SQLite WAL (Write-Ahead Logging) + Edge Cache tại Singapore (sin1), đo lường chịu tải thực tế 200 CC đạt thông lượng 194 req/s với độ trễ chỉ 88ms (nhanh gấp 25 lần).</a:t>
            </a:r>
          </a:p>
          <a:p>
            <a:pPr>
              <a:spcAft>
                <a:spcPts val="1000"/>
              </a:spcAft>
              <a:defRPr sz="1050" b="1">
                <a:solidFill>
                  <a:srgbClr val="1E293B"/>
                </a:solidFill>
                <a:latin typeface="Segoe UI"/>
              </a:defRPr>
            </a:pPr>
            <a:r>
              <a:t>• Bảo mật Phân quyền &amp; Ẩn thông tin cá nhân: </a:t>
            </a:r>
            <a:r>
              <a:rPr sz="1050" b="0">
                <a:solidFill>
                  <a:srgbClr val="1E293B"/>
                </a:solidFill>
                <a:latin typeface="Segoe UI"/>
              </a:rPr>
              <a:t>Phân quyền RBAC 5 cấp độ nghiêm ngặt. Người xem công khai chỉ thấy tiến độ và số phòng; thông tin cán bộ (Email, SĐT) chỉ hiển thị cho cán bộ đăng nhập nhiệm vụ.</a:t>
            </a:r>
          </a:p>
        </p:txBody>
      </p:sp>
      <p:sp>
        <p:nvSpPr>
          <p:cNvPr id="11" name="Rounded Rectangle 10"/>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rPr dirty="0"/>
              <a:t>Giao </a:t>
            </a:r>
            <a:r>
              <a:rPr dirty="0" err="1"/>
              <a:t>diện</a:t>
            </a:r>
            <a:r>
              <a:rPr dirty="0"/>
              <a:t> </a:t>
            </a:r>
            <a:r>
              <a:rPr dirty="0" err="1"/>
              <a:t>Bảng</a:t>
            </a:r>
            <a:r>
              <a:rPr dirty="0"/>
              <a:t> </a:t>
            </a:r>
            <a:r>
              <a:rPr dirty="0" err="1"/>
              <a:t>Điều</a:t>
            </a:r>
            <a:r>
              <a:rPr dirty="0"/>
              <a:t> </a:t>
            </a:r>
            <a:r>
              <a:rPr dirty="0" err="1"/>
              <a:t>khiển</a:t>
            </a:r>
            <a:r>
              <a:rPr dirty="0"/>
              <a:t> </a:t>
            </a:r>
            <a:r>
              <a:rPr dirty="0" err="1"/>
              <a:t>Tập</a:t>
            </a:r>
            <a:r>
              <a:rPr dirty="0"/>
              <a:t> </a:t>
            </a:r>
            <a:r>
              <a:rPr dirty="0" err="1"/>
              <a:t>trung</a:t>
            </a:r>
            <a:r>
              <a:rPr dirty="0"/>
              <a:t> </a:t>
            </a:r>
            <a:r>
              <a:rPr dirty="0" err="1"/>
              <a:t>Toàn</a:t>
            </a:r>
            <a:r>
              <a:rPr dirty="0"/>
              <a:t> </a:t>
            </a:r>
            <a:r>
              <a:rPr dirty="0" err="1"/>
              <a:t>trường</a:t>
            </a:r>
            <a:endParaRPr dirty="0"/>
          </a:p>
        </p:txBody>
      </p:sp>
      <p:pic>
        <p:nvPicPr>
          <p:cNvPr id="13" name="Picture 12" descr="real_dashboard_overview.png"/>
          <p:cNvPicPr>
            <a:picLocks noChangeAspect="1"/>
          </p:cNvPicPr>
          <p:nvPr/>
        </p:nvPicPr>
        <p:blipFill>
          <a:blip r:embed="rId2"/>
          <a:stretch>
            <a:fillRect/>
          </a:stretch>
        </p:blipFill>
        <p:spPr>
          <a:xfrm>
            <a:off x="6400800" y="2462348"/>
            <a:ext cx="5029200" cy="2390502"/>
          </a:xfrm>
          <a:prstGeom prst="rect">
            <a:avLst/>
          </a:prstGeom>
          <a:ln w="12700">
            <a:solidFill>
              <a:srgbClr val="E2E8F0"/>
            </a:solidFill>
          </a:ln>
        </p:spPr>
      </p:pic>
      <p:sp>
        <p:nvSpPr>
          <p:cNvPr id="14" name="TextBox 13"/>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Bảng điều khiển trực quan 198 chi đoàn với 10 tầng học phân cấp thời gian thực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CÀI ĐẶT ỨNG DỤNG DI ĐỘNG</a:t>
            </a:r>
          </a:p>
          <a:p>
            <a:pPr>
              <a:defRPr sz="1800" b="1">
                <a:solidFill>
                  <a:srgbClr val="FFFFFF"/>
                </a:solidFill>
                <a:latin typeface="Segoe UI"/>
              </a:defRPr>
            </a:pPr>
            <a:r>
              <a:t>HƯỚNG DẪN CÀI ĐẶT PWA TRÊN iOS (IPHONE / IPAD - SAFARI)</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2563EB"/>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NGƯỜI DÙNG iOS</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3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4 Bước Đưa Hệ thống Ra Màn hình Chính trên iOS</a:t>
            </a:r>
          </a:p>
        </p:txBody>
      </p:sp>
      <p:sp>
        <p:nvSpPr>
          <p:cNvPr id="10" name="TextBox 9"/>
          <p:cNvSpPr txBox="1"/>
          <p:nvPr/>
        </p:nvSpPr>
        <p:spPr>
          <a:xfrm>
            <a:off x="777240" y="1645920"/>
            <a:ext cx="5029200" cy="3291840"/>
          </a:xfrm>
          <a:prstGeom prst="rect">
            <a:avLst/>
          </a:prstGeom>
          <a:noFill/>
        </p:spPr>
        <p:txBody>
          <a:bodyPr wrap="square" lIns="0" tIns="0" rIns="0" bIns="0">
            <a:spAutoFit/>
          </a:bodyPr>
          <a:lstStyle/>
          <a:p>
            <a:pPr>
              <a:spcAft>
                <a:spcPts val="800"/>
              </a:spcAft>
              <a:defRPr sz="1050" b="1">
                <a:solidFill>
                  <a:srgbClr val="1E293B"/>
                </a:solidFill>
                <a:latin typeface="Segoe UI"/>
              </a:defRPr>
            </a:pPr>
            <a:r>
              <a:t>• [Bước 1] Mở Safari: </a:t>
            </a:r>
            <a:r>
              <a:rPr sz="1050" b="0">
                <a:solidFill>
                  <a:srgbClr val="1E293B"/>
                </a:solidFill>
                <a:latin typeface="Segoe UI"/>
              </a:rPr>
              <a:t>Khởi động trình duyệt Safari trên iPhone/iPad và nhập địa chỉ: https://event-tracker-pied.vercel.app/ (Lưu ý: Bắt buộc dùng Safari, Chrome trên iOS không hỗ trợ cài PWA).</a:t>
            </a:r>
          </a:p>
          <a:p>
            <a:pPr>
              <a:spcAft>
                <a:spcPts val="800"/>
              </a:spcAft>
              <a:defRPr sz="1050" b="1">
                <a:solidFill>
                  <a:srgbClr val="1E293B"/>
                </a:solidFill>
                <a:latin typeface="Segoe UI"/>
              </a:defRPr>
            </a:pPr>
            <a:r>
              <a:t>• [Bước 2] Bấm nút Chia sẻ [ ↑ ]: </a:t>
            </a:r>
            <a:r>
              <a:rPr sz="1050" b="0">
                <a:solidFill>
                  <a:srgbClr val="1E293B"/>
                </a:solidFill>
                <a:latin typeface="Segoe UI"/>
              </a:rPr>
              <a:t>Tìm thanh công cụ dưới đáy màn hình Safari và chạm vào biểu tượng Share hình ô vuông có mũi tên hướng lên [ ↑ ].</a:t>
            </a:r>
          </a:p>
          <a:p>
            <a:pPr>
              <a:spcAft>
                <a:spcPts val="800"/>
              </a:spcAft>
              <a:defRPr sz="1050" b="1">
                <a:solidFill>
                  <a:srgbClr val="1E293B"/>
                </a:solidFill>
                <a:latin typeface="Segoe UI"/>
              </a:defRPr>
            </a:pPr>
            <a:r>
              <a:t>• [Bước 3] Chọn 'Thêm vào MH chính': </a:t>
            </a:r>
            <a:r>
              <a:rPr sz="1050" b="0">
                <a:solidFill>
                  <a:srgbClr val="1E293B"/>
                </a:solidFill>
                <a:latin typeface="Segoe UI"/>
              </a:rPr>
              <a:t>Cuộn danh sách menu tùy chọn xuống dưới và chạm vào dòng chữ 'Thêm vào MH chính' (Add to Home Screen).</a:t>
            </a:r>
          </a:p>
          <a:p>
            <a:pPr>
              <a:spcAft>
                <a:spcPts val="800"/>
              </a:spcAft>
              <a:defRPr sz="1050" b="1">
                <a:solidFill>
                  <a:srgbClr val="1E293B"/>
                </a:solidFill>
                <a:latin typeface="Segoe UI"/>
              </a:defRPr>
            </a:pPr>
            <a:r>
              <a:t>• [Bước 4] Xác nhận 'Thêm': </a:t>
            </a:r>
            <a:r>
              <a:rPr sz="1050" b="0">
                <a:solidFill>
                  <a:srgbClr val="1E293B"/>
                </a:solidFill>
                <a:latin typeface="Segoe UI"/>
              </a:rPr>
              <a:t>Kiểm tra tên hiển thị 'Đại hội Chi đoàn', sau đó chạm nút 'Thêm' (Add) ở góc trên bên phải màn hình.</a:t>
            </a:r>
          </a:p>
        </p:txBody>
      </p:sp>
      <p:sp>
        <p:nvSpPr>
          <p:cNvPr id="11" name="Rounded Rectangle 10"/>
          <p:cNvSpPr/>
          <p:nvPr/>
        </p:nvSpPr>
        <p:spPr>
          <a:xfrm>
            <a:off x="777240" y="4846320"/>
            <a:ext cx="5029200" cy="1234440"/>
          </a:xfrm>
          <a:prstGeom prst="roundRect">
            <a:avLst/>
          </a:prstGeom>
          <a:solidFill>
            <a:srgbClr val="FEF2F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 y="4956048"/>
            <a:ext cx="4700016" cy="1014984"/>
          </a:xfrm>
          <a:prstGeom prst="rect">
            <a:avLst/>
          </a:prstGeom>
          <a:noFill/>
        </p:spPr>
        <p:txBody>
          <a:bodyPr wrap="square" lIns="0" tIns="0" rIns="0" bIns="0">
            <a:spAutoFit/>
          </a:bodyPr>
          <a:lstStyle/>
          <a:p>
            <a:pPr>
              <a:spcAft>
                <a:spcPts val="300"/>
              </a:spcAft>
              <a:defRPr sz="1000" b="1">
                <a:solidFill>
                  <a:srgbClr val="B91C1C"/>
                </a:solidFill>
                <a:latin typeface="Segoe UI"/>
              </a:defRPr>
            </a:pPr>
            <a:r>
              <a:t>ƯU ĐIỂM KHI DÙNG CHẾ ĐỘ PWA (MÀN HÌNH CHÍNH &amp; MÀN HÌNH CHỜ)</a:t>
            </a:r>
          </a:p>
          <a:p>
            <a:pPr>
              <a:defRPr sz="950" b="0">
                <a:solidFill>
                  <a:srgbClr val="1E293B"/>
                </a:solidFill>
                <a:latin typeface="Segoe UI"/>
              </a:defRPr>
            </a:pPr>
            <a:r>
              <a:t>• Ứng dụng chạy toàn màn hình (Standalone), không có thanh địa chỉ web vướng víu.</a:t>
            </a:r>
            <a:br/>
            <a:r>
              <a:t>• Biểu tượng hiện cả trên Màn hình chính và Màn hình chờ/khóa (Standby).</a:t>
            </a:r>
            <a:br/>
            <a:r>
              <a:t>• Bộ nhớ đệm tự động giúp mở nhanh tức thì ngay cả khi mạng 4G hội trường yếu.</a:t>
            </a:r>
          </a:p>
        </p:txBody>
      </p:sp>
      <p:sp>
        <p:nvSpPr>
          <p:cNvPr id="13" name="Rounded Rectangle 12"/>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rPr dirty="0"/>
              <a:t>Infographic </a:t>
            </a:r>
            <a:r>
              <a:rPr dirty="0" err="1"/>
              <a:t>Hướng</a:t>
            </a:r>
            <a:r>
              <a:rPr dirty="0"/>
              <a:t> </a:t>
            </a:r>
            <a:r>
              <a:rPr dirty="0" err="1"/>
              <a:t>dẫn</a:t>
            </a:r>
            <a:r>
              <a:rPr dirty="0"/>
              <a:t> Chi </a:t>
            </a:r>
            <a:r>
              <a:rPr dirty="0" err="1"/>
              <a:t>tiết</a:t>
            </a:r>
            <a:r>
              <a:rPr dirty="0"/>
              <a:t> </a:t>
            </a:r>
            <a:r>
              <a:rPr dirty="0" err="1"/>
              <a:t>trên</a:t>
            </a:r>
            <a:r>
              <a:rPr dirty="0"/>
              <a:t> iPhone Safari</a:t>
            </a:r>
          </a:p>
        </p:txBody>
      </p:sp>
      <p:pic>
        <p:nvPicPr>
          <p:cNvPr id="15" name="Picture 14" descr="pwa_ios_guide.png"/>
          <p:cNvPicPr>
            <a:picLocks noChangeAspect="1"/>
          </p:cNvPicPr>
          <p:nvPr/>
        </p:nvPicPr>
        <p:blipFill>
          <a:blip r:embed="rId2"/>
          <a:stretch>
            <a:fillRect/>
          </a:stretch>
        </p:blipFill>
        <p:spPr>
          <a:xfrm>
            <a:off x="6400800" y="2190750"/>
            <a:ext cx="5029200" cy="2933700"/>
          </a:xfrm>
          <a:prstGeom prst="rect">
            <a:avLst/>
          </a:prstGeom>
          <a:ln w="12700">
            <a:solidFill>
              <a:srgbClr val="E2E8F0"/>
            </a:solidFill>
          </a:ln>
        </p:spPr>
      </p:pic>
      <p:sp>
        <p:nvSpPr>
          <p:cNvPr id="16" name="TextBox 15"/>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Thao tác 4 bước đơn giản để biến website thành ứng dụng độc lập trên iPhone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CÀI ĐẶT ỨNG DỤNG DI ĐỘNG</a:t>
            </a:r>
          </a:p>
          <a:p>
            <a:pPr>
              <a:defRPr sz="1800" b="1">
                <a:solidFill>
                  <a:srgbClr val="FFFFFF"/>
                </a:solidFill>
                <a:latin typeface="Segoe UI"/>
              </a:defRPr>
            </a:pPr>
            <a:r>
              <a:t>HƯỚNG DẪN CÀI ĐẶT PWA TRÊN ANDROID (GOOGLE CHROME)</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059669"/>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NGƯỜI DÙNG ANDROID</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4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4 Bước Cài đặt Ứng dụng trên Điện thoại Android</a:t>
            </a:r>
          </a:p>
        </p:txBody>
      </p:sp>
      <p:sp>
        <p:nvSpPr>
          <p:cNvPr id="10" name="TextBox 9"/>
          <p:cNvSpPr txBox="1"/>
          <p:nvPr/>
        </p:nvSpPr>
        <p:spPr>
          <a:xfrm>
            <a:off x="777240" y="1645920"/>
            <a:ext cx="5029200" cy="3291840"/>
          </a:xfrm>
          <a:prstGeom prst="rect">
            <a:avLst/>
          </a:prstGeom>
          <a:noFill/>
        </p:spPr>
        <p:txBody>
          <a:bodyPr wrap="square" lIns="0" tIns="0" rIns="0" bIns="0">
            <a:spAutoFit/>
          </a:bodyPr>
          <a:lstStyle/>
          <a:p>
            <a:pPr>
              <a:spcAft>
                <a:spcPts val="800"/>
              </a:spcAft>
              <a:defRPr sz="1050" b="1">
                <a:solidFill>
                  <a:srgbClr val="1E293B"/>
                </a:solidFill>
                <a:latin typeface="Segoe UI"/>
              </a:defRPr>
            </a:pPr>
            <a:r>
              <a:t>• [Bước 1] Mở Google Chrome: </a:t>
            </a:r>
            <a:r>
              <a:rPr sz="1050" b="0">
                <a:solidFill>
                  <a:srgbClr val="1E293B"/>
                </a:solidFill>
                <a:latin typeface="Segoe UI"/>
              </a:rPr>
              <a:t>Khởi động ứng dụng Chrome (hoặc Cốc Cốc, Samsung Internet) trên thiết bị Android và truy cập đường dẫn: https://event-tracker-pied.vercel.app/</a:t>
            </a:r>
          </a:p>
          <a:p>
            <a:pPr>
              <a:spcAft>
                <a:spcPts val="800"/>
              </a:spcAft>
              <a:defRPr sz="1050" b="1">
                <a:solidFill>
                  <a:srgbClr val="1E293B"/>
                </a:solidFill>
                <a:latin typeface="Segoe UI"/>
              </a:defRPr>
            </a:pPr>
            <a:r>
              <a:t>• [Bước 2] Mở Menu Dấu 3 chấm [ ⋮ ]: </a:t>
            </a:r>
            <a:r>
              <a:rPr sz="1050" b="0">
                <a:solidFill>
                  <a:srgbClr val="1E293B"/>
                </a:solidFill>
                <a:latin typeface="Segoe UI"/>
              </a:rPr>
              <a:t>Chạm vào biểu tượng dấu 3 chấm dọc [ ⋮ ] ở góc trên cùng bên phải thanh địa chỉ trình duyệt.</a:t>
            </a:r>
          </a:p>
          <a:p>
            <a:pPr>
              <a:spcAft>
                <a:spcPts val="800"/>
              </a:spcAft>
              <a:defRPr sz="1050" b="1">
                <a:solidFill>
                  <a:srgbClr val="1E293B"/>
                </a:solidFill>
                <a:latin typeface="Segoe UI"/>
              </a:defRPr>
            </a:pPr>
            <a:r>
              <a:t>• [Bước 3] Chọn 'Cài đặt ứng dụng': </a:t>
            </a:r>
            <a:r>
              <a:rPr sz="1050" b="0">
                <a:solidFill>
                  <a:srgbClr val="1E293B"/>
                </a:solidFill>
                <a:latin typeface="Segoe UI"/>
              </a:rPr>
              <a:t>Tìm trong menu và chọn dòng 'Cài đặt ứng dụng' (Install App) hoặc 'Thêm vào Màn hình chính' (Add to Home screen).</a:t>
            </a:r>
          </a:p>
          <a:p>
            <a:pPr>
              <a:spcAft>
                <a:spcPts val="800"/>
              </a:spcAft>
              <a:defRPr sz="1050" b="1">
                <a:solidFill>
                  <a:srgbClr val="1E293B"/>
                </a:solidFill>
                <a:latin typeface="Segoe UI"/>
              </a:defRPr>
            </a:pPr>
            <a:r>
              <a:t>• [Bước 4] Xác nhận Cài đặt: </a:t>
            </a:r>
            <a:r>
              <a:rPr sz="1050" b="0">
                <a:solidFill>
                  <a:srgbClr val="1E293B"/>
                </a:solidFill>
                <a:latin typeface="Segoe UI"/>
              </a:rPr>
              <a:t>Hộp thoại pop-up xuất hiện, bấm nút 'Cài đặt' (Install). Biểu tượng ứng dụng sẽ lập tức được ghim ra màn hình chính.</a:t>
            </a:r>
          </a:p>
        </p:txBody>
      </p:sp>
      <p:sp>
        <p:nvSpPr>
          <p:cNvPr id="11" name="Rounded Rectangle 10"/>
          <p:cNvSpPr/>
          <p:nvPr/>
        </p:nvSpPr>
        <p:spPr>
          <a:xfrm>
            <a:off x="777240" y="4846320"/>
            <a:ext cx="5029200" cy="1234440"/>
          </a:xfrm>
          <a:prstGeom prst="roundRect">
            <a:avLst/>
          </a:prstGeom>
          <a:solidFill>
            <a:srgbClr val="FEF2F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 y="4956048"/>
            <a:ext cx="4700016" cy="1014984"/>
          </a:xfrm>
          <a:prstGeom prst="rect">
            <a:avLst/>
          </a:prstGeom>
          <a:noFill/>
        </p:spPr>
        <p:txBody>
          <a:bodyPr wrap="square" lIns="0" tIns="0" rIns="0" bIns="0">
            <a:spAutoFit/>
          </a:bodyPr>
          <a:lstStyle/>
          <a:p>
            <a:pPr>
              <a:spcAft>
                <a:spcPts val="300"/>
              </a:spcAft>
              <a:defRPr sz="1000" b="1">
                <a:solidFill>
                  <a:srgbClr val="B91C1C"/>
                </a:solidFill>
                <a:latin typeface="Segoe UI"/>
              </a:defRPr>
            </a:pPr>
            <a:r>
              <a:t>TÍNH NĂNG VƯỢT TRỘI TRÊN NỀN TẢNG ANDROID</a:t>
            </a:r>
          </a:p>
          <a:p>
            <a:pPr>
              <a:defRPr sz="950" b="0">
                <a:solidFill>
                  <a:srgbClr val="1E293B"/>
                </a:solidFill>
                <a:latin typeface="Segoe UI"/>
              </a:defRPr>
            </a:pPr>
            <a:r>
              <a:t>• Tích hợp trực tiếp vào ngăn kéo ứng dụng (App Drawer) của điện thoại.</a:t>
            </a:r>
            <a:br/>
            <a:r>
              <a:t>• Hỗ trợ nhận thông báo đẩy khẩn cấp từ Ban Thường vụ Đoàn trường.</a:t>
            </a:r>
            <a:br/>
            <a:r>
              <a:t>• Khởi động chỉ 1 chạm, tự động ghi nhớ tài khoản cán bộ mà không cần đăng nhập lại.</a:t>
            </a:r>
          </a:p>
        </p:txBody>
      </p:sp>
      <p:sp>
        <p:nvSpPr>
          <p:cNvPr id="13" name="Rounded Rectangle 12"/>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Infographic Hướng dẫn Chi tiết trên Android Chrome</a:t>
            </a:r>
          </a:p>
        </p:txBody>
      </p:sp>
      <p:pic>
        <p:nvPicPr>
          <p:cNvPr id="15" name="Picture 14" descr="pwa_android_guide.png"/>
          <p:cNvPicPr>
            <a:picLocks noChangeAspect="1"/>
          </p:cNvPicPr>
          <p:nvPr/>
        </p:nvPicPr>
        <p:blipFill>
          <a:blip r:embed="rId2"/>
          <a:stretch>
            <a:fillRect/>
          </a:stretch>
        </p:blipFill>
        <p:spPr>
          <a:xfrm>
            <a:off x="6400800" y="2190750"/>
            <a:ext cx="5029200" cy="2933700"/>
          </a:xfrm>
          <a:prstGeom prst="rect">
            <a:avLst/>
          </a:prstGeom>
          <a:ln w="12700">
            <a:solidFill>
              <a:srgbClr val="E2E8F0"/>
            </a:solidFill>
          </a:ln>
        </p:spPr>
      </p:pic>
      <p:sp>
        <p:nvSpPr>
          <p:cNvPr id="16" name="TextBox 15"/>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Cài đặt ứng dụng nhanh chóng qua thanh công cụ Google Chrome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BẢO MẬT &amp; PHÂN QUYỀN</a:t>
            </a:r>
          </a:p>
          <a:p>
            <a:pPr>
              <a:defRPr sz="1800" b="1">
                <a:solidFill>
                  <a:srgbClr val="FFFFFF"/>
                </a:solidFill>
                <a:latin typeface="Segoe UI"/>
              </a:defRPr>
            </a:pPr>
            <a:r>
              <a:t>QUY TRÌNH ĐĂNG NHẬP &amp; MA TRẬN PHÂN QUYỀN HỆ THỐNG</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B91C1C"/>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CÁN BỘ CÁC CẤP</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5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Quy trình Đăng nhập &amp; Ma trận Phân quyền 5 Cấp</a:t>
            </a:r>
          </a:p>
        </p:txBody>
      </p:sp>
      <p:sp>
        <p:nvSpPr>
          <p:cNvPr id="10" name="TextBox 9"/>
          <p:cNvSpPr txBox="1"/>
          <p:nvPr/>
        </p:nvSpPr>
        <p:spPr>
          <a:xfrm>
            <a:off x="777240" y="1645920"/>
            <a:ext cx="5029200" cy="4389120"/>
          </a:xfrm>
          <a:prstGeom prst="rect">
            <a:avLst/>
          </a:prstGeom>
          <a:noFill/>
        </p:spPr>
        <p:txBody>
          <a:bodyPr wrap="square" lIns="0" tIns="0" rIns="0" bIns="0">
            <a:spAutoFit/>
          </a:bodyPr>
          <a:lstStyle/>
          <a:p>
            <a:pPr>
              <a:spcAft>
                <a:spcPts val="600"/>
              </a:spcAft>
              <a:defRPr sz="1000" b="1">
                <a:solidFill>
                  <a:srgbClr val="1E293B"/>
                </a:solidFill>
                <a:latin typeface="Segoe UI"/>
              </a:defRPr>
            </a:pPr>
            <a:r>
              <a:t>• [Bước 1] Mở Modal Đăng nhập: </a:t>
            </a:r>
            <a:r>
              <a:rPr sz="1000" b="0">
                <a:solidFill>
                  <a:srgbClr val="1E293B"/>
                </a:solidFill>
                <a:latin typeface="Segoe UI"/>
              </a:rPr>
              <a:t>Bấm nút 'Đăng nhập Cán bộ' trên Header hoặc truy cập qua Magic Link một chạm được Ban Tổ chức cấp qua Zalo/Email.</a:t>
            </a:r>
          </a:p>
          <a:p>
            <a:pPr>
              <a:spcAft>
                <a:spcPts val="600"/>
              </a:spcAft>
              <a:defRPr sz="1000" b="1">
                <a:solidFill>
                  <a:srgbClr val="1E293B"/>
                </a:solidFill>
                <a:latin typeface="Segoe UI"/>
              </a:defRPr>
            </a:pPr>
            <a:r>
              <a:t>• [Bước 2] Nhập Tài khoản: </a:t>
            </a:r>
            <a:r>
              <a:rPr sz="1000" b="0">
                <a:solidFill>
                  <a:srgbClr val="1E293B"/>
                </a:solidFill>
                <a:latin typeface="Segoe UI"/>
              </a:rPr>
              <a:t>Nhập địa chỉ Email sinh viên (@sis.hust.edu.vn) và Mật khẩu được cấp. Sau đó bấm nút 'Đăng nhập'.</a:t>
            </a:r>
          </a:p>
          <a:p>
            <a:pPr>
              <a:spcAft>
                <a:spcPts val="600"/>
              </a:spcAft>
              <a:defRPr sz="1000" b="1">
                <a:solidFill>
                  <a:srgbClr val="1E293B"/>
                </a:solidFill>
                <a:latin typeface="Segoe UI"/>
              </a:defRPr>
            </a:pPr>
            <a:r>
              <a:t>• 1. Khách / Đoàn viên (Guest): </a:t>
            </a:r>
            <a:r>
              <a:rPr sz="1000" b="0">
                <a:solidFill>
                  <a:srgbClr val="1E293B"/>
                </a:solidFill>
                <a:latin typeface="Segoe UI"/>
              </a:rPr>
              <a:t>Chỉ xem tiến độ công khai, tra cứu vị trí phòng học và sơ đồ bản đồ, ẩn toàn bộ số điện thoại cá nhân.</a:t>
            </a:r>
          </a:p>
          <a:p>
            <a:pPr>
              <a:spcAft>
                <a:spcPts val="600"/>
              </a:spcAft>
              <a:defRPr sz="1000" b="1">
                <a:solidFill>
                  <a:srgbClr val="1E293B"/>
                </a:solidFill>
                <a:latin typeface="Segoe UI"/>
              </a:defRPr>
            </a:pPr>
            <a:r>
              <a:t>• 2. Cán bộ Trực lớp (Room Lead): </a:t>
            </a:r>
            <a:r>
              <a:rPr sz="1000" b="0">
                <a:solidFill>
                  <a:srgbClr val="1E293B"/>
                </a:solidFill>
                <a:latin typeface="Segoe UI"/>
              </a:rPr>
              <a:t>Nhập sĩ số, tích hồ sơ, viết ghi chú kiểm tra, cập nhật trạng thái, Lưu và Khóa các chi đoàn được phân công.</a:t>
            </a:r>
          </a:p>
          <a:p>
            <a:pPr>
              <a:spcAft>
                <a:spcPts val="600"/>
              </a:spcAft>
              <a:defRPr sz="1000" b="1">
                <a:solidFill>
                  <a:srgbClr val="1E293B"/>
                </a:solidFill>
                <a:latin typeface="Segoe UI"/>
              </a:defRPr>
            </a:pPr>
            <a:r>
              <a:t>• 3. Phụ trách Tầng (Floor Lead): </a:t>
            </a:r>
            <a:r>
              <a:rPr sz="1000" b="0">
                <a:solidFill>
                  <a:srgbClr val="1E293B"/>
                </a:solidFill>
                <a:latin typeface="Segoe UI"/>
              </a:rPr>
              <a:t>Giám sát tất cả lớp trong tầng, có thẩm quyền MỞ KHÓA (Unlock) khi lớp bị khóa sai số, gửi thông báo tầng.</a:t>
            </a:r>
          </a:p>
          <a:p>
            <a:pPr>
              <a:spcAft>
                <a:spcPts val="600"/>
              </a:spcAft>
              <a:defRPr sz="1000" b="1">
                <a:solidFill>
                  <a:srgbClr val="1E293B"/>
                </a:solidFill>
                <a:latin typeface="Segoe UI"/>
              </a:defRPr>
            </a:pPr>
            <a:r>
              <a:t>• 4. Phụ trách Tòa nhà (Unit Lead): </a:t>
            </a:r>
            <a:r>
              <a:rPr sz="1000" b="0">
                <a:solidFill>
                  <a:srgbClr val="1E293B"/>
                </a:solidFill>
                <a:latin typeface="Segoe UI"/>
              </a:rPr>
              <a:t>Điều hành toàn bộ tòa nhà / liên chi đoàn, có quyền mở khóa cấp tòa, gửi thông báo toàn đơn vị.</a:t>
            </a:r>
          </a:p>
          <a:p>
            <a:pPr>
              <a:spcAft>
                <a:spcPts val="600"/>
              </a:spcAft>
              <a:defRPr sz="1000" b="1">
                <a:solidFill>
                  <a:srgbClr val="1E293B"/>
                </a:solidFill>
                <a:latin typeface="Segoe UI"/>
              </a:defRPr>
            </a:pPr>
            <a:r>
              <a:t>• 5. Ban Quản trị (Admin): </a:t>
            </a:r>
            <a:r>
              <a:rPr sz="1000" b="0">
                <a:solidFill>
                  <a:srgbClr val="1E293B"/>
                </a:solidFill>
                <a:latin typeface="Segoe UI"/>
              </a:rPr>
              <a:t>Toàn quyền quản trị hệ thống, cấp lại mật khẩu, phân công cán bộ, xem Audit Logs và phát cảnh báo toàn trường.</a:t>
            </a:r>
          </a:p>
        </p:txBody>
      </p:sp>
      <p:sp>
        <p:nvSpPr>
          <p:cNvPr id="11" name="Rounded Rectangle 10"/>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Hộp thoại Đăng nhập Cán bộ Kiểm tra</a:t>
            </a:r>
          </a:p>
        </p:txBody>
      </p:sp>
      <p:pic>
        <p:nvPicPr>
          <p:cNvPr id="13" name="Picture 12" descr="real_login_modal.png"/>
          <p:cNvPicPr>
            <a:picLocks noChangeAspect="1"/>
          </p:cNvPicPr>
          <p:nvPr/>
        </p:nvPicPr>
        <p:blipFill>
          <a:blip r:embed="rId2"/>
          <a:stretch>
            <a:fillRect/>
          </a:stretch>
        </p:blipFill>
        <p:spPr>
          <a:xfrm>
            <a:off x="6400800" y="2462348"/>
            <a:ext cx="5029200" cy="2390502"/>
          </a:xfrm>
          <a:prstGeom prst="rect">
            <a:avLst/>
          </a:prstGeom>
          <a:ln w="12700">
            <a:solidFill>
              <a:srgbClr val="E2E8F0"/>
            </a:solidFill>
          </a:ln>
        </p:spPr>
      </p:pic>
      <p:sp>
        <p:nvSpPr>
          <p:cNvPr id="14" name="TextBox 13"/>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Hộp thoại Đăng nhập Cán bộ: Nhập Email @sis.hust.edu.vn và mật khẩu bảo mật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HƯỚNG DẪN TRA CỨU</a:t>
            </a:r>
          </a:p>
          <a:p>
            <a:pPr>
              <a:defRPr sz="1800" b="1">
                <a:solidFill>
                  <a:srgbClr val="FFFFFF"/>
                </a:solidFill>
                <a:latin typeface="Segoe UI"/>
              </a:defRPr>
            </a:pPr>
            <a:r>
              <a:t>DÀNH CHO ĐOÀN VIÊN &amp; KHÁCH: TRA CỨU TIẾN ĐỘ &amp; BẢN ĐỒ</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0284C7"/>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KHÁCH &amp; ĐOÀN VIÊN</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6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Các Bước Tra cứu Tiến độ &amp; Định vị Không gian</a:t>
            </a:r>
          </a:p>
        </p:txBody>
      </p:sp>
      <p:sp>
        <p:nvSpPr>
          <p:cNvPr id="10" name="TextBox 9"/>
          <p:cNvSpPr txBox="1"/>
          <p:nvPr/>
        </p:nvSpPr>
        <p:spPr>
          <a:xfrm>
            <a:off x="777240" y="1645920"/>
            <a:ext cx="5029200" cy="4389120"/>
          </a:xfrm>
          <a:prstGeom prst="rect">
            <a:avLst/>
          </a:prstGeom>
          <a:noFill/>
        </p:spPr>
        <p:txBody>
          <a:bodyPr wrap="square" lIns="0" tIns="0" rIns="0" bIns="0">
            <a:spAutoFit/>
          </a:bodyPr>
          <a:lstStyle/>
          <a:p>
            <a:pPr>
              <a:spcAft>
                <a:spcPts val="800"/>
              </a:spcAft>
              <a:defRPr sz="1050" b="1">
                <a:solidFill>
                  <a:srgbClr val="1E293B"/>
                </a:solidFill>
                <a:latin typeface="Segoe UI"/>
              </a:defRPr>
            </a:pPr>
            <a:r>
              <a:t>• [Bước 1] Truy cập Trang chủ: </a:t>
            </a:r>
            <a:r>
              <a:rPr sz="1050" b="0">
                <a:solidFill>
                  <a:srgbClr val="1E293B"/>
                </a:solidFill>
                <a:latin typeface="Segoe UI"/>
              </a:rPr>
              <a:t>Mở liên kết https://event-tracker-pied.vercel.app/ trên bất kỳ thiết bị nào (máy tính, máy tính bảng, điện thoại).</a:t>
            </a:r>
          </a:p>
          <a:p>
            <a:pPr>
              <a:spcAft>
                <a:spcPts val="800"/>
              </a:spcAft>
              <a:defRPr sz="1050" b="1">
                <a:solidFill>
                  <a:srgbClr val="1E293B"/>
                </a:solidFill>
                <a:latin typeface="Segoe UI"/>
              </a:defRPr>
            </a:pPr>
            <a:r>
              <a:t>• [Bước 2] Quan sát Topbar Tổng quan: </a:t>
            </a:r>
            <a:r>
              <a:rPr sz="1050" b="0">
                <a:solidFill>
                  <a:srgbClr val="1E293B"/>
                </a:solidFill>
                <a:latin typeface="Segoe UI"/>
              </a:rPr>
              <a:t>Thanh thống kê trên cùng hiển thị tổng số chi đoàn toàn trường, tỷ lệ phần trăm đã hoàn thành và số lượng lớp theo từng trạng thái (Đỏ, Vàng, Xanh, Tím).</a:t>
            </a:r>
          </a:p>
          <a:p>
            <a:pPr>
              <a:spcAft>
                <a:spcPts val="800"/>
              </a:spcAft>
              <a:defRPr sz="1050" b="1">
                <a:solidFill>
                  <a:srgbClr val="1E293B"/>
                </a:solidFill>
                <a:latin typeface="Segoe UI"/>
              </a:defRPr>
            </a:pPr>
            <a:r>
              <a:t>• [Bước 3] Tra cứu theo Tầng &amp; Tòa nhà: </a:t>
            </a:r>
            <a:r>
              <a:rPr sz="1050" b="0">
                <a:solidFill>
                  <a:srgbClr val="1E293B"/>
                </a:solidFill>
                <a:latin typeface="Segoe UI"/>
              </a:rPr>
              <a:t>Danh sách hiển thị phân theo từng tầng. Người dùng bấm vào thanh Accordion tiêu đề tầng để xem chi tiết các lớp hoặc thu gọn để nhìn tổng thể.</a:t>
            </a:r>
          </a:p>
          <a:p>
            <a:pPr>
              <a:spcAft>
                <a:spcPts val="800"/>
              </a:spcAft>
              <a:defRPr sz="1050" b="1">
                <a:solidFill>
                  <a:srgbClr val="1E293B"/>
                </a:solidFill>
                <a:latin typeface="Segoe UI"/>
              </a:defRPr>
            </a:pPr>
            <a:r>
              <a:t>• [Bước 4] Chuyển sang Bản đồ HUSTMAP: </a:t>
            </a:r>
            <a:r>
              <a:rPr sz="1050" b="0">
                <a:solidFill>
                  <a:srgbClr val="1E293B"/>
                </a:solidFill>
                <a:latin typeface="Segoe UI"/>
              </a:rPr>
              <a:t>Bấm tab 'Sơ đồ' trên menu để mở bản đồ số khuôn viên ĐHBK Hà Nội. Bấm vào từng tòa nhà để xem danh sách lớp đang họp tại tòa đó.</a:t>
            </a:r>
          </a:p>
          <a:p>
            <a:pPr>
              <a:spcAft>
                <a:spcPts val="800"/>
              </a:spcAft>
              <a:defRPr sz="1050" b="1">
                <a:solidFill>
                  <a:srgbClr val="1E293B"/>
                </a:solidFill>
                <a:latin typeface="Segoe UI"/>
              </a:defRPr>
            </a:pPr>
            <a:r>
              <a:t>• Chức năng Thanh Tìm kiếm [Search]: </a:t>
            </a:r>
            <a:r>
              <a:rPr sz="1050" b="0">
                <a:solidFill>
                  <a:srgbClr val="1E293B"/>
                </a:solidFill>
                <a:latin typeface="Segoe UI"/>
              </a:rPr>
              <a:t>Gõ tên chi đoàn (VD: 'IT1-01', 'EE2-05') hoặc số phòng ('D3-201') để lọc ra ngay thẻ lớp cần tìm trong chớp mắt.</a:t>
            </a:r>
          </a:p>
        </p:txBody>
      </p:sp>
      <p:sp>
        <p:nvSpPr>
          <p:cNvPr id="11" name="Rounded Rectangle 10"/>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Bảng Giám sát Công khai theo Tầng &amp; Phòng học</a:t>
            </a:r>
          </a:p>
        </p:txBody>
      </p:sp>
      <p:pic>
        <p:nvPicPr>
          <p:cNvPr id="13" name="Picture 12" descr="real_dashboard_overview.png"/>
          <p:cNvPicPr>
            <a:picLocks noChangeAspect="1"/>
          </p:cNvPicPr>
          <p:nvPr/>
        </p:nvPicPr>
        <p:blipFill>
          <a:blip r:embed="rId2"/>
          <a:stretch>
            <a:fillRect/>
          </a:stretch>
        </p:blipFill>
        <p:spPr>
          <a:xfrm>
            <a:off x="6400800" y="2462348"/>
            <a:ext cx="5029200" cy="2390502"/>
          </a:xfrm>
          <a:prstGeom prst="rect">
            <a:avLst/>
          </a:prstGeom>
          <a:ln w="12700">
            <a:solidFill>
              <a:srgbClr val="E2E8F0"/>
            </a:solidFill>
          </a:ln>
        </p:spPr>
      </p:pic>
      <p:sp>
        <p:nvSpPr>
          <p:cNvPr id="14" name="TextBox 13"/>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Giao diện công khai: Trực quan, bảo mật thông tin cá nhân, cập nhật từng giây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HƯỚNG DẪN TRA CỨU</a:t>
            </a:r>
          </a:p>
          <a:p>
            <a:pPr>
              <a:defRPr sz="1800" b="1">
                <a:solidFill>
                  <a:srgbClr val="FFFFFF"/>
                </a:solidFill>
                <a:latin typeface="Segoe UI"/>
              </a:defRPr>
            </a:pPr>
            <a:r>
              <a:t>DÀNH CHO ĐOÀN VIÊN &amp; KHÁCH: BỘ LỌC ĐA NĂNG &amp; TÌM KIẾM</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0284C7"/>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KHÁCH &amp; ĐOÀN VIÊN</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7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Hướng dẫn Thao tác Sử dụng Bộ lọc Đa chiều</a:t>
            </a:r>
          </a:p>
        </p:txBody>
      </p:sp>
      <p:sp>
        <p:nvSpPr>
          <p:cNvPr id="10" name="TextBox 9"/>
          <p:cNvSpPr txBox="1"/>
          <p:nvPr/>
        </p:nvSpPr>
        <p:spPr>
          <a:xfrm>
            <a:off x="777240" y="1645920"/>
            <a:ext cx="5029200" cy="4389120"/>
          </a:xfrm>
          <a:prstGeom prst="rect">
            <a:avLst/>
          </a:prstGeom>
          <a:noFill/>
        </p:spPr>
        <p:txBody>
          <a:bodyPr wrap="square" lIns="0" tIns="0" rIns="0" bIns="0">
            <a:spAutoFit/>
          </a:bodyPr>
          <a:lstStyle/>
          <a:p>
            <a:pPr>
              <a:spcAft>
                <a:spcPts val="800"/>
              </a:spcAft>
              <a:defRPr sz="1050" b="1">
                <a:solidFill>
                  <a:srgbClr val="1E293B"/>
                </a:solidFill>
                <a:latin typeface="Segoe UI"/>
              </a:defRPr>
            </a:pPr>
            <a:r>
              <a:t>• [Bước 1] Lọc theo Đơn vị Quản lý: </a:t>
            </a:r>
            <a:r>
              <a:rPr sz="1050" b="0">
                <a:solidFill>
                  <a:srgbClr val="1E293B"/>
                </a:solidFill>
                <a:latin typeface="Segoe UI"/>
              </a:rPr>
              <a:t>Bấm mở Sidebar bên trái, chọn Đơn vị quản lý (Trường Điện-Điện tử, Trường CNTT&amp;TT, Trường Cơ khí, Khoa Ngoại ngữ...) để chỉ xem các lớp thuộc đơn vị đó.</a:t>
            </a:r>
          </a:p>
          <a:p>
            <a:pPr>
              <a:spcAft>
                <a:spcPts val="800"/>
              </a:spcAft>
              <a:defRPr sz="1050" b="1">
                <a:solidFill>
                  <a:srgbClr val="1E293B"/>
                </a:solidFill>
                <a:latin typeface="Segoe UI"/>
              </a:defRPr>
            </a:pPr>
            <a:r>
              <a:t>• [Bước 2] Lọc theo Kíp thời gian: </a:t>
            </a:r>
            <a:r>
              <a:rPr sz="1050" b="0">
                <a:solidFill>
                  <a:srgbClr val="1E293B"/>
                </a:solidFill>
                <a:latin typeface="Segoe UI"/>
              </a:rPr>
              <a:t>Bấm các Chip lọc kíp trên thanh công cụ:
• Tất cả kíp
• Kíp Sáng (Kíp 1: 07h00-09h00, Kíp 2: 09h30-11h30)
• Kíp Chiều (Kíp 3: 13h00-15h00, Kíp 4: 15h30-17h30).</a:t>
            </a:r>
          </a:p>
          <a:p>
            <a:pPr>
              <a:spcAft>
                <a:spcPts val="800"/>
              </a:spcAft>
              <a:defRPr sz="1050" b="1">
                <a:solidFill>
                  <a:srgbClr val="1E293B"/>
                </a:solidFill>
                <a:latin typeface="Segoe UI"/>
              </a:defRPr>
            </a:pPr>
            <a:r>
              <a:t>• [Bước 3] Lọc theo Khóa sinh viên: </a:t>
            </a:r>
            <a:r>
              <a:rPr sz="1050" b="0">
                <a:solidFill>
                  <a:srgbClr val="1E293B"/>
                </a:solidFill>
                <a:latin typeface="Segoe UI"/>
              </a:rPr>
              <a:t>Chọn chip 'K70' (khóa năm 2, hồ sơ 8 mục kiểm tra) hoặc 'K71' (khóa năm 1, hồ sơ 4 mục kiểm tra rút gọn).</a:t>
            </a:r>
          </a:p>
          <a:p>
            <a:pPr>
              <a:spcAft>
                <a:spcPts val="800"/>
              </a:spcAft>
              <a:defRPr sz="1050" b="1">
                <a:solidFill>
                  <a:srgbClr val="1E293B"/>
                </a:solidFill>
                <a:latin typeface="Segoe UI"/>
              </a:defRPr>
            </a:pPr>
            <a:r>
              <a:t>• [Bước 4] Lọc theo Trạng thái Tiến độ: </a:t>
            </a:r>
            <a:r>
              <a:rPr sz="1050" b="0">
                <a:solidFill>
                  <a:srgbClr val="1E293B"/>
                </a:solidFill>
                <a:latin typeface="Segoe UI"/>
              </a:rPr>
              <a:t>Bấm vào các huy hiệu trạng thái: Chưa tổ chức (Đỏ), Đang tiến hành (Vàng), Đã xong (Xanh), Đã hủy (Tím) để lọc ra lớp theo tiến độ mong muốn.</a:t>
            </a:r>
          </a:p>
          <a:p>
            <a:pPr>
              <a:spcAft>
                <a:spcPts val="800"/>
              </a:spcAft>
              <a:defRPr sz="1050" b="1">
                <a:solidFill>
                  <a:srgbClr val="1E293B"/>
                </a:solidFill>
                <a:latin typeface="Segoe UI"/>
              </a:defRPr>
            </a:pPr>
            <a:r>
              <a:t>• Nút Đặt lại Bộ lọc [Xóa lọc]: </a:t>
            </a:r>
            <a:r>
              <a:rPr sz="1050" b="0">
                <a:solidFill>
                  <a:srgbClr val="1E293B"/>
                </a:solidFill>
                <a:latin typeface="Segoe UI"/>
              </a:rPr>
              <a:t>Bấm nút 'Xóa lọc' để đưa toàn bộ điều kiện về mặc định, hiển thị lại toàn bộ các lớp trong trường.</a:t>
            </a:r>
          </a:p>
        </p:txBody>
      </p:sp>
      <p:sp>
        <p:nvSpPr>
          <p:cNvPr id="11" name="Rounded Rectangle 10"/>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Bộ lọc Kíp, Khóa, Trạng thái &amp; Ô Tìm kiếm Header</a:t>
            </a:r>
          </a:p>
        </p:txBody>
      </p:sp>
      <p:pic>
        <p:nvPicPr>
          <p:cNvPr id="13" name="Picture 12" descr="real_filter_bar.png"/>
          <p:cNvPicPr>
            <a:picLocks noChangeAspect="1"/>
          </p:cNvPicPr>
          <p:nvPr/>
        </p:nvPicPr>
        <p:blipFill>
          <a:blip r:embed="rId2"/>
          <a:stretch>
            <a:fillRect/>
          </a:stretch>
        </p:blipFill>
        <p:spPr>
          <a:xfrm>
            <a:off x="6400800" y="2903220"/>
            <a:ext cx="5029200" cy="1508760"/>
          </a:xfrm>
          <a:prstGeom prst="rect">
            <a:avLst/>
          </a:prstGeom>
          <a:ln w="12700">
            <a:solidFill>
              <a:srgbClr val="E2E8F0"/>
            </a:solidFill>
          </a:ln>
        </p:spPr>
      </p:pic>
      <p:sp>
        <p:nvSpPr>
          <p:cNvPr id="14" name="TextBox 13"/>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Thanh công cụ lọc đa năng: Đơn vị, Kíp 1-4, Khóa K70/K71, Trạng thái &amp; Tìm kiếm nhanh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TÁC NGHIỆP CÁN BỘ TRỰC LỚP</a:t>
            </a:r>
          </a:p>
          <a:p>
            <a:pPr>
              <a:defRPr sz="1800" b="1">
                <a:solidFill>
                  <a:srgbClr val="FFFFFF"/>
                </a:solidFill>
                <a:latin typeface="Segoe UI"/>
              </a:defRPr>
            </a:pPr>
            <a:r>
              <a:t>CÁN BỘ TRỰC LỚP [1]: CẤU TRÚC THẺ CHI ĐOÀN &amp; ĐIỀU PHỐI</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059669"/>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CÁN BỘ TRỰC LỚP</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8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Cấu trúc Thẻ Lớp &amp; Thông tin Điều phối Hiện trường</a:t>
            </a:r>
          </a:p>
        </p:txBody>
      </p:sp>
      <p:sp>
        <p:nvSpPr>
          <p:cNvPr id="10" name="TextBox 9"/>
          <p:cNvSpPr txBox="1"/>
          <p:nvPr/>
        </p:nvSpPr>
        <p:spPr>
          <a:xfrm>
            <a:off x="777240" y="1645920"/>
            <a:ext cx="5029200" cy="4389120"/>
          </a:xfrm>
          <a:prstGeom prst="rect">
            <a:avLst/>
          </a:prstGeom>
          <a:noFill/>
        </p:spPr>
        <p:txBody>
          <a:bodyPr wrap="square" lIns="0" tIns="0" rIns="0" bIns="0">
            <a:spAutoFit/>
          </a:bodyPr>
          <a:lstStyle/>
          <a:p>
            <a:pPr>
              <a:spcAft>
                <a:spcPts val="800"/>
              </a:spcAft>
              <a:defRPr sz="1050" b="1">
                <a:solidFill>
                  <a:srgbClr val="1E293B"/>
                </a:solidFill>
                <a:latin typeface="Segoe UI"/>
              </a:defRPr>
            </a:pPr>
            <a:r>
              <a:t>• [Bước 1] Nhận diện Thẻ Lớp Phân công: </a:t>
            </a:r>
            <a:r>
              <a:rPr sz="1050" b="0">
                <a:solidFill>
                  <a:srgbClr val="1E293B"/>
                </a:solidFill>
                <a:latin typeface="Segoe UI"/>
              </a:rPr>
              <a:t>Sau khi cán bộ đăng nhập, hệ thống tự động làm nổi bật các thẻ chi đoàn thuộc quyền phụ trách của mình.</a:t>
            </a:r>
          </a:p>
          <a:p>
            <a:pPr>
              <a:spcAft>
                <a:spcPts val="800"/>
              </a:spcAft>
              <a:defRPr sz="1050" b="1">
                <a:solidFill>
                  <a:srgbClr val="1E293B"/>
                </a:solidFill>
                <a:latin typeface="Segoe UI"/>
              </a:defRPr>
            </a:pPr>
            <a:r>
              <a:t>• [Bước 2] Tiêu đề &amp; Thông tin Phòng học: </a:t>
            </a:r>
            <a:r>
              <a:rPr sz="1050" b="0">
                <a:solidFill>
                  <a:srgbClr val="1E293B"/>
                </a:solidFill>
                <a:latin typeface="Segoe UI"/>
              </a:rPr>
              <a:t>Mỗi thẻ ghi rõ: Tên Chi đoàn (VD: 'KT-ĐK&amp;TĐH 01-K70'), Phòng học (VD: 'D3-201'), Huy hiệu Kíp (VD: 'Kíp 1') và Khóa sinh viên.</a:t>
            </a:r>
          </a:p>
          <a:p>
            <a:pPr>
              <a:spcAft>
                <a:spcPts val="800"/>
              </a:spcAft>
              <a:defRPr sz="1050" b="1">
                <a:solidFill>
                  <a:srgbClr val="1E293B"/>
                </a:solidFill>
                <a:latin typeface="Segoe UI"/>
              </a:defRPr>
            </a:pPr>
            <a:r>
              <a:t>• [Bước 3] Thời gian Cập nhật Cuối: </a:t>
            </a:r>
            <a:r>
              <a:rPr sz="1050" b="0">
                <a:solidFill>
                  <a:srgbClr val="1E293B"/>
                </a:solidFill>
                <a:latin typeface="Segoe UI"/>
              </a:rPr>
              <a:t>Góc phải hiển thị nhãn giờ phút (timeLabel) ghi nhận thời điểm gần nhất có cán bộ cập nhật dữ liệu vào thẻ lớp.</a:t>
            </a:r>
          </a:p>
          <a:p>
            <a:pPr>
              <a:spcAft>
                <a:spcPts val="800"/>
              </a:spcAft>
              <a:defRPr sz="1050" b="1">
                <a:solidFill>
                  <a:srgbClr val="1E293B"/>
                </a:solidFill>
                <a:latin typeface="Segoe UI"/>
              </a:defRPr>
            </a:pPr>
            <a:r>
              <a:t>• [Bước 4] Thông tin Liên lạc Điều phối Hiện trường: </a:t>
            </a:r>
            <a:r>
              <a:rPr sz="1050" b="0">
                <a:solidFill>
                  <a:srgbClr val="1E293B"/>
                </a:solidFill>
                <a:latin typeface="Segoe UI"/>
              </a:rPr>
              <a:t>Thẻ hiển thị họ tên và SĐT của Cán bộ trực lớp, Phụ trách Tầng và Phụ trách Tòa nhà. Khi có vướng mắc, cán bộ bấm nút biểu tượng Điện thoại [Phone] để gọi trực tiếp hỗ trợ khẩn cấp.</a:t>
            </a:r>
          </a:p>
          <a:p>
            <a:pPr>
              <a:spcAft>
                <a:spcPts val="800"/>
              </a:spcAft>
              <a:defRPr sz="1050" b="1">
                <a:solidFill>
                  <a:srgbClr val="1E293B"/>
                </a:solidFill>
                <a:latin typeface="Segoe UI"/>
              </a:defRPr>
            </a:pPr>
            <a:r>
              <a:t>• Quy định Bảo mật: </a:t>
            </a:r>
            <a:r>
              <a:rPr sz="1050" b="0">
                <a:solidFill>
                  <a:srgbClr val="1E293B"/>
                </a:solidFill>
                <a:latin typeface="Segoe UI"/>
              </a:rPr>
              <a:t>Số điện thoại và email cán bộ chỉ hiển thị nội bộ cho cán bộ đã đăng nhập; hoàn toàn ẩn với người dùng khách công khai.</a:t>
            </a:r>
          </a:p>
        </p:txBody>
      </p:sp>
      <p:sp>
        <p:nvSpPr>
          <p:cNvPr id="11" name="Rounded Rectangle 10"/>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Hình ảnh Thẻ Chi đoàn Thực tế với Đầy đủ Dữ liệu</a:t>
            </a:r>
          </a:p>
        </p:txBody>
      </p:sp>
      <p:pic>
        <p:nvPicPr>
          <p:cNvPr id="13" name="Picture 12" descr="real_card_d9102.png"/>
          <p:cNvPicPr>
            <a:picLocks noChangeAspect="1"/>
          </p:cNvPicPr>
          <p:nvPr/>
        </p:nvPicPr>
        <p:blipFill>
          <a:blip r:embed="rId2"/>
          <a:stretch>
            <a:fillRect/>
          </a:stretch>
        </p:blipFill>
        <p:spPr>
          <a:xfrm>
            <a:off x="6400800" y="2663359"/>
            <a:ext cx="5029200" cy="1988481"/>
          </a:xfrm>
          <a:prstGeom prst="rect">
            <a:avLst/>
          </a:prstGeom>
          <a:ln w="12700">
            <a:solidFill>
              <a:srgbClr val="E2E8F0"/>
            </a:solidFill>
          </a:ln>
        </p:spPr>
      </p:pic>
      <p:sp>
        <p:nvSpPr>
          <p:cNvPr id="14" name="TextBox 13"/>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Cấu trúc Thẻ Chi đoàn: Mã phòng, Kíp học, Loại đại hội, Tiến độ hồ sơ &amp; Cán bộ trực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TÁC NGHIỆP CÁN BỘ TRỰC LỚP</a:t>
            </a:r>
          </a:p>
          <a:p>
            <a:pPr>
              <a:defRPr sz="1800" b="1">
                <a:solidFill>
                  <a:srgbClr val="FFFFFF"/>
                </a:solidFill>
                <a:latin typeface="Segoe UI"/>
              </a:defRPr>
            </a:pPr>
            <a:r>
              <a:t>CÁN BỘ TRỰC LỚP [2]: ĐIỂM DANH SĨ SỐ &amp; RÀNG BUỘC 2/3</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059669"/>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CÁN BỘ TRỰC LỚP</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9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Quy trình Điểm danh Sĩ số &amp; Ràng buộc Pháp lý 2/3</a:t>
            </a:r>
          </a:p>
        </p:txBody>
      </p:sp>
      <p:sp>
        <p:nvSpPr>
          <p:cNvPr id="10" name="TextBox 9"/>
          <p:cNvSpPr txBox="1"/>
          <p:nvPr/>
        </p:nvSpPr>
        <p:spPr>
          <a:xfrm>
            <a:off x="777240" y="1645920"/>
            <a:ext cx="5029200" cy="3291840"/>
          </a:xfrm>
          <a:prstGeom prst="rect">
            <a:avLst/>
          </a:prstGeom>
          <a:noFill/>
        </p:spPr>
        <p:txBody>
          <a:bodyPr wrap="square" lIns="0" tIns="0" rIns="0" bIns="0">
            <a:spAutoFit/>
          </a:bodyPr>
          <a:lstStyle/>
          <a:p>
            <a:pPr>
              <a:spcAft>
                <a:spcPts val="600"/>
              </a:spcAft>
              <a:defRPr sz="1050" b="1">
                <a:solidFill>
                  <a:srgbClr val="1E293B"/>
                </a:solidFill>
                <a:latin typeface="Segoe UI"/>
              </a:defRPr>
            </a:pPr>
            <a:r>
              <a:t>• [Bước 1] Nhận Số liệu Điểm danh: </a:t>
            </a:r>
            <a:r>
              <a:rPr sz="1050" b="0">
                <a:solidFill>
                  <a:srgbClr val="1E293B"/>
                </a:solidFill>
                <a:latin typeface="Segoe UI"/>
              </a:rPr>
              <a:t>Cán bộ trực tiếp đối soát số liệu với Ban Thẩm tra tư cách đại biểu tại phòng đại hội chi đoàn.</a:t>
            </a:r>
          </a:p>
          <a:p>
            <a:pPr>
              <a:spcAft>
                <a:spcPts val="600"/>
              </a:spcAft>
              <a:defRPr sz="1050" b="1">
                <a:solidFill>
                  <a:srgbClr val="1E293B"/>
                </a:solidFill>
                <a:latin typeface="Segoe UI"/>
              </a:defRPr>
            </a:pPr>
            <a:r>
              <a:t>• [Bước 2] Nhập [Có mặt] &amp; [Tổng số]: </a:t>
            </a:r>
            <a:r>
              <a:rPr sz="1050" b="0">
                <a:solidFill>
                  <a:srgbClr val="1E293B"/>
                </a:solidFill>
                <a:latin typeface="Segoe UI"/>
              </a:rPr>
              <a:t>Gõ số lượng đoàn viên có mặt thực tế vào ô 'Có mặt' và tổng số đoàn viên triệu tập vào ô 'Tổng số'.</a:t>
            </a:r>
          </a:p>
          <a:p>
            <a:pPr>
              <a:spcAft>
                <a:spcPts val="600"/>
              </a:spcAft>
              <a:defRPr sz="1050" b="1">
                <a:solidFill>
                  <a:srgbClr val="1E293B"/>
                </a:solidFill>
                <a:latin typeface="Segoe UI"/>
              </a:defRPr>
            </a:pPr>
            <a:r>
              <a:t>• [Bước 3] Quan sát Tính toán Tự động: </a:t>
            </a:r>
            <a:r>
              <a:rPr sz="1050" b="0">
                <a:solidFill>
                  <a:srgbClr val="1E293B"/>
                </a:solidFill>
                <a:latin typeface="Segoe UI"/>
              </a:rPr>
              <a:t>Hệ thống tự động tính tỷ lệ % và kiểm tra điều kiện pháp lý:
• ĐỦ 2/3 (Xanh lá): Khi Có mặt * 3 &gt;= Tổng số * 2.
• CHƯA ĐỦ 2/3 (Đỏ): Cảnh báo rõ: 'Còn thiếu N đoàn viên để đủ 2/3'.</a:t>
            </a:r>
          </a:p>
        </p:txBody>
      </p:sp>
      <p:sp>
        <p:nvSpPr>
          <p:cNvPr id="11" name="Rounded Rectangle 10"/>
          <p:cNvSpPr/>
          <p:nvPr/>
        </p:nvSpPr>
        <p:spPr>
          <a:xfrm>
            <a:off x="777240" y="4114800"/>
            <a:ext cx="5029200" cy="1783080"/>
          </a:xfrm>
          <a:prstGeom prst="roundRect">
            <a:avLst/>
          </a:prstGeom>
          <a:solidFill>
            <a:srgbClr val="FEF2F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 y="4471416"/>
            <a:ext cx="4700016" cy="1563624"/>
          </a:xfrm>
          <a:prstGeom prst="rect">
            <a:avLst/>
          </a:prstGeom>
          <a:noFill/>
        </p:spPr>
        <p:txBody>
          <a:bodyPr wrap="square" lIns="0" tIns="0" rIns="0" bIns="0">
            <a:spAutoFit/>
          </a:bodyPr>
          <a:lstStyle/>
          <a:p>
            <a:pPr>
              <a:spcAft>
                <a:spcPts val="300"/>
              </a:spcAft>
              <a:defRPr sz="1000" b="1">
                <a:solidFill>
                  <a:srgbClr val="B91C1C"/>
                </a:solidFill>
                <a:latin typeface="Segoe UI"/>
              </a:defRPr>
            </a:pPr>
            <a:r>
              <a:t>QUY ĐỊNH BẮT BUỘC THEO ĐIỀU LỆ ĐOÀN TNCS HỒ CHÍ MINH</a:t>
            </a:r>
          </a:p>
          <a:p>
            <a:pPr>
              <a:defRPr sz="950" b="0">
                <a:solidFill>
                  <a:srgbClr val="1E293B"/>
                </a:solidFill>
                <a:latin typeface="Segoe UI"/>
              </a:defRPr>
            </a:pPr>
            <a:r>
              <a:t>• Đại hội Chi đoàn chỉ có giá trị pháp lý khi có ít nhất 2/3 tổng số đoàn viên được triệu tập có mặt tham dự.</a:t>
            </a:r>
            <a:br/>
            <a:r>
              <a:t>• KHÓA CHẶN TỰ ĐỘNG: Nếu sĩ số chưa đạt đủ 2/3, hệ thống sẽ KHÓA CHẶN, tuyệt đối không cho phép chuyển trạng thái lớp sang 'Đang tiến hành' hoặc 'Đã xong'.</a:t>
            </a:r>
            <a:br/>
            <a:r>
              <a:t>• Nếu không tập hợp đủ 2/3: Cán bộ phải thực hiện quy trình Hủy đại hội và xin hoãn sang buổi khác.</a:t>
            </a:r>
          </a:p>
        </p:txBody>
      </p:sp>
      <p:sp>
        <p:nvSpPr>
          <p:cNvPr id="13" name="Rounded Rectangle 12"/>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Khung Điểm danh Sĩ số &amp; Huy hiệu Đủ 2/3 Hợp lệ</a:t>
            </a:r>
          </a:p>
        </p:txBody>
      </p:sp>
      <p:pic>
        <p:nvPicPr>
          <p:cNvPr id="15" name="Picture 14" descr="real_attendance_box.png"/>
          <p:cNvPicPr>
            <a:picLocks noChangeAspect="1"/>
          </p:cNvPicPr>
          <p:nvPr/>
        </p:nvPicPr>
        <p:blipFill>
          <a:blip r:embed="rId2"/>
          <a:stretch>
            <a:fillRect/>
          </a:stretch>
        </p:blipFill>
        <p:spPr>
          <a:xfrm>
            <a:off x="6400800" y="2537652"/>
            <a:ext cx="5029200" cy="2239895"/>
          </a:xfrm>
          <a:prstGeom prst="rect">
            <a:avLst/>
          </a:prstGeom>
          <a:ln w="12700">
            <a:solidFill>
              <a:srgbClr val="E2E8F0"/>
            </a:solidFill>
          </a:ln>
        </p:spPr>
      </p:pic>
      <p:sp>
        <p:nvSpPr>
          <p:cNvPr id="16" name="TextBox 15"/>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Khung Điểm danh thực tế: 42/50 ĐV (84% Đạt chuẩn), vạch Mốc 2/3 &amp; Huy hiệu Đủ 2/3 hợp lệ</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TÁC NGHIỆP CÁN BỘ TRỰC LỚP</a:t>
            </a:r>
          </a:p>
          <a:p>
            <a:pPr>
              <a:defRPr sz="1800" b="1">
                <a:solidFill>
                  <a:srgbClr val="FFFFFF"/>
                </a:solidFill>
                <a:latin typeface="Segoe UI"/>
              </a:defRPr>
            </a:pPr>
            <a:r>
              <a:t>CÁN BỘ TRỰC LỚP [3]: KIỂM TRA HỒ SƠ &amp; CHECKLIST 100%</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059669"/>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CÁN BỘ TRỰC LỚP</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10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Danh mục Hồ sơ Kiểm tra Chuẩn theo Khóa Sinh viên</a:t>
            </a:r>
          </a:p>
        </p:txBody>
      </p:sp>
      <p:sp>
        <p:nvSpPr>
          <p:cNvPr id="10" name="TextBox 9"/>
          <p:cNvSpPr txBox="1"/>
          <p:nvPr/>
        </p:nvSpPr>
        <p:spPr>
          <a:xfrm>
            <a:off x="777240" y="1645920"/>
            <a:ext cx="5029200" cy="4389120"/>
          </a:xfrm>
          <a:prstGeom prst="rect">
            <a:avLst/>
          </a:prstGeom>
          <a:noFill/>
        </p:spPr>
        <p:txBody>
          <a:bodyPr wrap="square" lIns="0" tIns="0" rIns="0" bIns="0">
            <a:spAutoFit/>
          </a:bodyPr>
          <a:lstStyle/>
          <a:p>
            <a:pPr>
              <a:spcAft>
                <a:spcPts val="800"/>
              </a:spcAft>
              <a:defRPr sz="1000" b="1">
                <a:solidFill>
                  <a:srgbClr val="1E293B"/>
                </a:solidFill>
                <a:latin typeface="Segoe UI"/>
              </a:defRPr>
            </a:pPr>
            <a:r>
              <a:t>• Danh mục Hồ sơ Khóa K71 (4 mục): </a:t>
            </a:r>
            <a:r>
              <a:rPr sz="1000" b="0">
                <a:solidFill>
                  <a:srgbClr val="1E293B"/>
                </a:solidFill>
                <a:latin typeface="Segoe UI"/>
              </a:rPr>
              <a:t>1. Phương hướng nhiệm kỳ mới
2. Nghị quyết Đại hội
3. Biên bản Đại hội
4. Danh sách Đoàn viên và Cán bộ lớp.</a:t>
            </a:r>
          </a:p>
          <a:p>
            <a:pPr>
              <a:spcAft>
                <a:spcPts val="800"/>
              </a:spcAft>
              <a:defRPr sz="1000" b="1">
                <a:solidFill>
                  <a:srgbClr val="1E293B"/>
                </a:solidFill>
                <a:latin typeface="Segoe UI"/>
              </a:defRPr>
            </a:pPr>
            <a:r>
              <a:t>• Danh mục Hồ sơ Khóa K70 (8 mục): </a:t>
            </a:r>
            <a:r>
              <a:rPr sz="1000" b="0">
                <a:solidFill>
                  <a:srgbClr val="1E293B"/>
                </a:solidFill>
                <a:latin typeface="Segoe UI"/>
              </a:rPr>
              <a:t>1. Biên bản ĐHCĐ
2. Biên bản kiểm phiếu bầu BCH
3. Biên bản họp phân công BCH
4. Bản kiểm điểm BCH nhiệm kỳ cũ
5. Nghị quyết Đại hội
6. Báo cáo tổng kết
7. Phương hướng mới
8. Danh sách Đoàn viên &amp; Cán bộ lớp.</a:t>
            </a:r>
          </a:p>
          <a:p>
            <a:pPr>
              <a:spcAft>
                <a:spcPts val="800"/>
              </a:spcAft>
              <a:defRPr sz="1000" b="1">
                <a:solidFill>
                  <a:srgbClr val="1E293B"/>
                </a:solidFill>
                <a:latin typeface="Segoe UI"/>
              </a:defRPr>
            </a:pPr>
            <a:r>
              <a:t>• [Thao tác Tick chọn Checklist]: </a:t>
            </a:r>
            <a:r>
              <a:rPr sz="1000" b="0">
                <a:solidFill>
                  <a:srgbClr val="1E293B"/>
                </a:solidFill>
                <a:latin typeface="Segoe UI"/>
              </a:rPr>
              <a:t>Chạm vào từng dòng để chuyển trạng thái xoay vòng: '☐ Chưa đủ' -&gt; '◐ Đang kiểm' -&gt; '☑ Đã đủ'.</a:t>
            </a:r>
          </a:p>
          <a:p>
            <a:pPr>
              <a:spcAft>
                <a:spcPts val="800"/>
              </a:spcAft>
              <a:defRPr sz="1000" b="1">
                <a:solidFill>
                  <a:srgbClr val="1E293B"/>
                </a:solidFill>
                <a:latin typeface="Segoe UI"/>
              </a:defRPr>
            </a:pPr>
            <a:r>
              <a:t>• Ràng buộc 100% Hồ sơ Hoàn thành: </a:t>
            </a:r>
            <a:r>
              <a:rPr sz="1000" b="0">
                <a:solidFill>
                  <a:srgbClr val="1E293B"/>
                </a:solidFill>
                <a:latin typeface="Segoe UI"/>
              </a:rPr>
              <a:t>Bắt buộc phải tích đủ 100% tất cả các mục hồ sơ trên thì hệ thống mới cho phép chuyển trạng thái lớp sang 'Đã xong'.</a:t>
            </a:r>
          </a:p>
        </p:txBody>
      </p:sp>
      <p:sp>
        <p:nvSpPr>
          <p:cNvPr id="11" name="Rounded Rectangle 10"/>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Danh sách Checklist Hồ sơ đã Tích Đủ 100%</a:t>
            </a:r>
          </a:p>
        </p:txBody>
      </p:sp>
      <p:pic>
        <p:nvPicPr>
          <p:cNvPr id="13" name="Picture 12" descr="real_checklist_100.png"/>
          <p:cNvPicPr>
            <a:picLocks noChangeAspect="1"/>
          </p:cNvPicPr>
          <p:nvPr/>
        </p:nvPicPr>
        <p:blipFill>
          <a:blip r:embed="rId2"/>
          <a:stretch>
            <a:fillRect/>
          </a:stretch>
        </p:blipFill>
        <p:spPr>
          <a:xfrm>
            <a:off x="7596265" y="1645920"/>
            <a:ext cx="2638268" cy="4023360"/>
          </a:xfrm>
          <a:prstGeom prst="rect">
            <a:avLst/>
          </a:prstGeom>
          <a:ln w="12700">
            <a:solidFill>
              <a:srgbClr val="E2E8F0"/>
            </a:solidFill>
          </a:ln>
        </p:spPr>
      </p:pic>
      <p:sp>
        <p:nvSpPr>
          <p:cNvPr id="14" name="TextBox 13"/>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Checklist 8 mục của khóa K70 đã tích đủ màu xanh lá kèm xác nhận đủ điều kiện tổ chức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TÁC NGHIỆP CÁN BỘ TRỰC LỚP</a:t>
            </a:r>
          </a:p>
          <a:p>
            <a:pPr>
              <a:defRPr sz="1800" b="1">
                <a:solidFill>
                  <a:srgbClr val="FFFFFF"/>
                </a:solidFill>
                <a:latin typeface="Segoe UI"/>
              </a:defRPr>
            </a:pPr>
            <a:r>
              <a:t>CÁN BỘ TRỰC LỚP [4]: GHI CHÚ &amp; ĐỔI MÀU TRẠNG THÁI</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059669"/>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CÁN BỘ TRỰC LỚP</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11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rPr dirty="0" err="1"/>
              <a:t>Ghi</a:t>
            </a:r>
            <a:r>
              <a:rPr dirty="0"/>
              <a:t> </a:t>
            </a:r>
            <a:r>
              <a:rPr dirty="0" err="1"/>
              <a:t>chú</a:t>
            </a:r>
            <a:r>
              <a:rPr dirty="0"/>
              <a:t> </a:t>
            </a:r>
            <a:r>
              <a:rPr dirty="0" err="1"/>
              <a:t>Kiểm</a:t>
            </a:r>
            <a:r>
              <a:rPr dirty="0"/>
              <a:t> </a:t>
            </a:r>
            <a:r>
              <a:rPr dirty="0" err="1"/>
              <a:t>tra</a:t>
            </a:r>
            <a:r>
              <a:rPr dirty="0"/>
              <a:t> &amp; Chu </a:t>
            </a:r>
            <a:r>
              <a:rPr dirty="0" err="1"/>
              <a:t>trình</a:t>
            </a:r>
            <a:r>
              <a:rPr dirty="0"/>
              <a:t> </a:t>
            </a:r>
            <a:r>
              <a:rPr dirty="0" err="1"/>
              <a:t>Trạng</a:t>
            </a:r>
            <a:r>
              <a:rPr dirty="0"/>
              <a:t> </a:t>
            </a:r>
            <a:r>
              <a:rPr dirty="0" err="1"/>
              <a:t>thái</a:t>
            </a:r>
            <a:r>
              <a:rPr dirty="0"/>
              <a:t> </a:t>
            </a:r>
            <a:r>
              <a:rPr dirty="0" err="1"/>
              <a:t>Đại</a:t>
            </a:r>
            <a:r>
              <a:rPr dirty="0"/>
              <a:t> </a:t>
            </a:r>
            <a:r>
              <a:rPr dirty="0" err="1"/>
              <a:t>hội</a:t>
            </a:r>
            <a:endParaRPr dirty="0"/>
          </a:p>
        </p:txBody>
      </p:sp>
      <p:sp>
        <p:nvSpPr>
          <p:cNvPr id="10" name="TextBox 9"/>
          <p:cNvSpPr txBox="1"/>
          <p:nvPr/>
        </p:nvSpPr>
        <p:spPr>
          <a:xfrm>
            <a:off x="777240" y="1645920"/>
            <a:ext cx="5029200" cy="4389120"/>
          </a:xfrm>
          <a:prstGeom prst="rect">
            <a:avLst/>
          </a:prstGeom>
          <a:noFill/>
        </p:spPr>
        <p:txBody>
          <a:bodyPr wrap="square" lIns="0" tIns="0" rIns="0" bIns="0">
            <a:spAutoFit/>
          </a:bodyPr>
          <a:lstStyle/>
          <a:p>
            <a:pPr>
              <a:spcAft>
                <a:spcPts val="800"/>
              </a:spcAft>
              <a:defRPr sz="1050" b="1">
                <a:solidFill>
                  <a:srgbClr val="1E293B"/>
                </a:solidFill>
                <a:latin typeface="Segoe UI"/>
              </a:defRPr>
            </a:pPr>
            <a:r>
              <a:rPr dirty="0"/>
              <a:t>• [</a:t>
            </a:r>
            <a:r>
              <a:rPr dirty="0" err="1"/>
              <a:t>Bước</a:t>
            </a:r>
            <a:r>
              <a:rPr dirty="0"/>
              <a:t> 1] </a:t>
            </a:r>
            <a:r>
              <a:rPr dirty="0" err="1"/>
              <a:t>Ghi</a:t>
            </a:r>
            <a:r>
              <a:rPr dirty="0"/>
              <a:t> </a:t>
            </a:r>
            <a:r>
              <a:rPr dirty="0" err="1"/>
              <a:t>chú</a:t>
            </a:r>
            <a:r>
              <a:rPr dirty="0"/>
              <a:t> </a:t>
            </a:r>
            <a:r>
              <a:rPr dirty="0" err="1"/>
              <a:t>Kiểm</a:t>
            </a:r>
            <a:r>
              <a:rPr dirty="0"/>
              <a:t> </a:t>
            </a:r>
            <a:r>
              <a:rPr dirty="0" err="1"/>
              <a:t>tra</a:t>
            </a:r>
            <a:r>
              <a:rPr dirty="0"/>
              <a:t> </a:t>
            </a:r>
            <a:r>
              <a:rPr dirty="0" err="1"/>
              <a:t>Hiện</a:t>
            </a:r>
            <a:r>
              <a:rPr dirty="0"/>
              <a:t> </a:t>
            </a:r>
            <a:r>
              <a:rPr dirty="0" err="1"/>
              <a:t>trường</a:t>
            </a:r>
            <a:r>
              <a:rPr dirty="0"/>
              <a:t>: </a:t>
            </a:r>
            <a:r>
              <a:rPr sz="1050" b="0" dirty="0" err="1">
                <a:solidFill>
                  <a:srgbClr val="1E293B"/>
                </a:solidFill>
                <a:latin typeface="Segoe UI"/>
              </a:rPr>
              <a:t>Cán</a:t>
            </a:r>
            <a:r>
              <a:rPr sz="1050" b="0" dirty="0">
                <a:solidFill>
                  <a:srgbClr val="1E293B"/>
                </a:solidFill>
                <a:latin typeface="Segoe UI"/>
              </a:rPr>
              <a:t> </a:t>
            </a:r>
            <a:r>
              <a:rPr sz="1050" b="0" dirty="0" err="1">
                <a:solidFill>
                  <a:srgbClr val="1E293B"/>
                </a:solidFill>
                <a:latin typeface="Segoe UI"/>
              </a:rPr>
              <a:t>bộ</a:t>
            </a:r>
            <a:r>
              <a:rPr sz="1050" b="0" dirty="0">
                <a:solidFill>
                  <a:srgbClr val="1E293B"/>
                </a:solidFill>
                <a:latin typeface="Segoe UI"/>
              </a:rPr>
              <a:t> </a:t>
            </a:r>
            <a:r>
              <a:rPr sz="1050" b="0" dirty="0" err="1">
                <a:solidFill>
                  <a:srgbClr val="1E293B"/>
                </a:solidFill>
                <a:latin typeface="Segoe UI"/>
              </a:rPr>
              <a:t>nhập</a:t>
            </a:r>
            <a:r>
              <a:rPr sz="1050" b="0" dirty="0">
                <a:solidFill>
                  <a:srgbClr val="1E293B"/>
                </a:solidFill>
                <a:latin typeface="Segoe UI"/>
              </a:rPr>
              <a:t> </a:t>
            </a:r>
            <a:r>
              <a:rPr sz="1050" b="0" dirty="0" err="1">
                <a:solidFill>
                  <a:srgbClr val="1E293B"/>
                </a:solidFill>
                <a:latin typeface="Segoe UI"/>
              </a:rPr>
              <a:t>ghi</a:t>
            </a:r>
            <a:r>
              <a:rPr sz="1050" b="0" dirty="0">
                <a:solidFill>
                  <a:srgbClr val="1E293B"/>
                </a:solidFill>
                <a:latin typeface="Segoe UI"/>
              </a:rPr>
              <a:t> </a:t>
            </a:r>
            <a:r>
              <a:rPr sz="1050" b="0" dirty="0" err="1">
                <a:solidFill>
                  <a:srgbClr val="1E293B"/>
                </a:solidFill>
                <a:latin typeface="Segoe UI"/>
              </a:rPr>
              <a:t>chú</a:t>
            </a:r>
            <a:r>
              <a:rPr sz="1050" b="0" dirty="0">
                <a:solidFill>
                  <a:srgbClr val="1E293B"/>
                </a:solidFill>
                <a:latin typeface="Segoe UI"/>
              </a:rPr>
              <a:t> </a:t>
            </a:r>
            <a:r>
              <a:rPr sz="1050" b="0" dirty="0" err="1">
                <a:solidFill>
                  <a:srgbClr val="1E293B"/>
                </a:solidFill>
                <a:latin typeface="Segoe UI"/>
              </a:rPr>
              <a:t>vào</a:t>
            </a:r>
            <a:r>
              <a:rPr sz="1050" b="0" dirty="0">
                <a:solidFill>
                  <a:srgbClr val="1E293B"/>
                </a:solidFill>
                <a:latin typeface="Segoe UI"/>
              </a:rPr>
              <a:t> ô '</a:t>
            </a:r>
            <a:r>
              <a:rPr sz="1050" b="0" dirty="0" err="1">
                <a:solidFill>
                  <a:srgbClr val="1E293B"/>
                </a:solidFill>
                <a:latin typeface="Segoe UI"/>
              </a:rPr>
              <a:t>Ghi</a:t>
            </a:r>
            <a:r>
              <a:rPr sz="1050" b="0" dirty="0">
                <a:solidFill>
                  <a:srgbClr val="1E293B"/>
                </a:solidFill>
                <a:latin typeface="Segoe UI"/>
              </a:rPr>
              <a:t> </a:t>
            </a:r>
            <a:r>
              <a:rPr sz="1050" b="0" dirty="0" err="1">
                <a:solidFill>
                  <a:srgbClr val="1E293B"/>
                </a:solidFill>
                <a:latin typeface="Segoe UI"/>
              </a:rPr>
              <a:t>chú</a:t>
            </a:r>
            <a:r>
              <a:rPr sz="1050" b="0" dirty="0">
                <a:solidFill>
                  <a:srgbClr val="1E293B"/>
                </a:solidFill>
                <a:latin typeface="Segoe UI"/>
              </a:rPr>
              <a:t> </a:t>
            </a:r>
            <a:r>
              <a:rPr sz="1050" b="0" dirty="0" err="1">
                <a:solidFill>
                  <a:srgbClr val="1E293B"/>
                </a:solidFill>
                <a:latin typeface="Segoe UI"/>
              </a:rPr>
              <a:t>kiểm</a:t>
            </a:r>
            <a:r>
              <a:rPr sz="1050" b="0" dirty="0">
                <a:solidFill>
                  <a:srgbClr val="1E293B"/>
                </a:solidFill>
                <a:latin typeface="Segoe UI"/>
              </a:rPr>
              <a:t> </a:t>
            </a:r>
            <a:r>
              <a:rPr sz="1050" b="0" dirty="0" err="1">
                <a:solidFill>
                  <a:srgbClr val="1E293B"/>
                </a:solidFill>
                <a:latin typeface="Segoe UI"/>
              </a:rPr>
              <a:t>tra</a:t>
            </a:r>
            <a:r>
              <a:rPr sz="1050" b="0" dirty="0">
                <a:solidFill>
                  <a:srgbClr val="1E293B"/>
                </a:solidFill>
                <a:latin typeface="Segoe UI"/>
              </a:rPr>
              <a:t>' (</a:t>
            </a:r>
            <a:r>
              <a:rPr sz="1050" b="0" dirty="0" err="1">
                <a:solidFill>
                  <a:srgbClr val="1E293B"/>
                </a:solidFill>
                <a:latin typeface="Segoe UI"/>
              </a:rPr>
              <a:t>tối</a:t>
            </a:r>
            <a:r>
              <a:rPr sz="1050" b="0" dirty="0">
                <a:solidFill>
                  <a:srgbClr val="1E293B"/>
                </a:solidFill>
                <a:latin typeface="Segoe UI"/>
              </a:rPr>
              <a:t> </a:t>
            </a:r>
            <a:r>
              <a:rPr sz="1050" b="0" dirty="0" err="1">
                <a:solidFill>
                  <a:srgbClr val="1E293B"/>
                </a:solidFill>
                <a:latin typeface="Segoe UI"/>
              </a:rPr>
              <a:t>đa</a:t>
            </a:r>
            <a:r>
              <a:rPr sz="1050" b="0" dirty="0">
                <a:solidFill>
                  <a:srgbClr val="1E293B"/>
                </a:solidFill>
                <a:latin typeface="Segoe UI"/>
              </a:rPr>
              <a:t> 150 </a:t>
            </a:r>
            <a:r>
              <a:rPr sz="1050" b="0" dirty="0" err="1">
                <a:solidFill>
                  <a:srgbClr val="1E293B"/>
                </a:solidFill>
                <a:latin typeface="Segoe UI"/>
              </a:rPr>
              <a:t>ký</a:t>
            </a:r>
            <a:r>
              <a:rPr sz="1050" b="0" dirty="0">
                <a:solidFill>
                  <a:srgbClr val="1E293B"/>
                </a:solidFill>
                <a:latin typeface="Segoe UI"/>
              </a:rPr>
              <a:t> </a:t>
            </a:r>
            <a:r>
              <a:rPr sz="1050" b="0" dirty="0" err="1">
                <a:solidFill>
                  <a:srgbClr val="1E293B"/>
                </a:solidFill>
                <a:latin typeface="Segoe UI"/>
              </a:rPr>
              <a:t>tự</a:t>
            </a:r>
            <a:r>
              <a:rPr sz="1050" b="0" dirty="0">
                <a:solidFill>
                  <a:srgbClr val="1E293B"/>
                </a:solidFill>
                <a:latin typeface="Segoe UI"/>
              </a:rPr>
              <a:t>). </a:t>
            </a:r>
            <a:r>
              <a:rPr sz="1050" b="0" dirty="0" err="1">
                <a:solidFill>
                  <a:srgbClr val="1E293B"/>
                </a:solidFill>
                <a:latin typeface="Segoe UI"/>
              </a:rPr>
              <a:t>Cần</a:t>
            </a:r>
            <a:r>
              <a:rPr sz="1050" b="0" dirty="0">
                <a:solidFill>
                  <a:srgbClr val="1E293B"/>
                </a:solidFill>
                <a:latin typeface="Segoe UI"/>
              </a:rPr>
              <a:t> </a:t>
            </a:r>
            <a:r>
              <a:rPr sz="1050" b="0" dirty="0" err="1">
                <a:solidFill>
                  <a:srgbClr val="1E293B"/>
                </a:solidFill>
                <a:latin typeface="Segoe UI"/>
              </a:rPr>
              <a:t>ghi</a:t>
            </a:r>
            <a:r>
              <a:rPr sz="1050" b="0" dirty="0">
                <a:solidFill>
                  <a:srgbClr val="1E293B"/>
                </a:solidFill>
                <a:latin typeface="Segoe UI"/>
              </a:rPr>
              <a:t> </a:t>
            </a:r>
            <a:r>
              <a:rPr sz="1050" b="0" dirty="0" err="1">
                <a:solidFill>
                  <a:srgbClr val="1E293B"/>
                </a:solidFill>
                <a:latin typeface="Segoe UI"/>
              </a:rPr>
              <a:t>rõ</a:t>
            </a:r>
            <a:r>
              <a:rPr sz="1050" b="0" dirty="0">
                <a:solidFill>
                  <a:srgbClr val="1E293B"/>
                </a:solidFill>
                <a:latin typeface="Segoe UI"/>
              </a:rPr>
              <a:t>: </a:t>
            </a:r>
            <a:r>
              <a:rPr sz="1050" b="0" dirty="0" err="1">
                <a:solidFill>
                  <a:srgbClr val="1E293B"/>
                </a:solidFill>
                <a:latin typeface="Segoe UI"/>
              </a:rPr>
              <a:t>Số</a:t>
            </a:r>
            <a:r>
              <a:rPr sz="1050" b="0" dirty="0">
                <a:solidFill>
                  <a:srgbClr val="1E293B"/>
                </a:solidFill>
                <a:latin typeface="Segoe UI"/>
              </a:rPr>
              <a:t> </a:t>
            </a:r>
            <a:r>
              <a:rPr sz="1050" b="0" dirty="0" err="1">
                <a:solidFill>
                  <a:srgbClr val="1E293B"/>
                </a:solidFill>
                <a:latin typeface="Segoe UI"/>
              </a:rPr>
              <a:t>lượng</a:t>
            </a:r>
            <a:r>
              <a:rPr sz="1050" b="0" dirty="0">
                <a:solidFill>
                  <a:srgbClr val="1E293B"/>
                </a:solidFill>
                <a:latin typeface="Segoe UI"/>
              </a:rPr>
              <a:t> </a:t>
            </a:r>
            <a:r>
              <a:rPr sz="1050" b="0" dirty="0" err="1">
                <a:solidFill>
                  <a:srgbClr val="1E293B"/>
                </a:solidFill>
                <a:latin typeface="Segoe UI"/>
              </a:rPr>
              <a:t>nhân</a:t>
            </a:r>
            <a:r>
              <a:rPr sz="1050" b="0" dirty="0">
                <a:solidFill>
                  <a:srgbClr val="1E293B"/>
                </a:solidFill>
                <a:latin typeface="Segoe UI"/>
              </a:rPr>
              <a:t> </a:t>
            </a:r>
            <a:r>
              <a:rPr sz="1050" b="0" dirty="0" err="1">
                <a:solidFill>
                  <a:srgbClr val="1E293B"/>
                </a:solidFill>
                <a:latin typeface="Segoe UI"/>
              </a:rPr>
              <a:t>sự</a:t>
            </a:r>
            <a:r>
              <a:rPr sz="1050" b="0" dirty="0">
                <a:solidFill>
                  <a:srgbClr val="1E293B"/>
                </a:solidFill>
                <a:latin typeface="Segoe UI"/>
              </a:rPr>
              <a:t> </a:t>
            </a:r>
            <a:r>
              <a:rPr sz="1050" b="0" dirty="0" err="1">
                <a:solidFill>
                  <a:srgbClr val="1E293B"/>
                </a:solidFill>
                <a:latin typeface="Segoe UI"/>
              </a:rPr>
              <a:t>trúng</a:t>
            </a:r>
            <a:r>
              <a:rPr sz="1050" b="0" dirty="0">
                <a:solidFill>
                  <a:srgbClr val="1E293B"/>
                </a:solidFill>
                <a:latin typeface="Segoe UI"/>
              </a:rPr>
              <a:t> </a:t>
            </a:r>
            <a:r>
              <a:rPr sz="1050" b="0" dirty="0" err="1">
                <a:solidFill>
                  <a:srgbClr val="1E293B"/>
                </a:solidFill>
                <a:latin typeface="Segoe UI"/>
              </a:rPr>
              <a:t>cử</a:t>
            </a:r>
            <a:r>
              <a:rPr sz="1050" b="0" dirty="0">
                <a:solidFill>
                  <a:srgbClr val="1E293B"/>
                </a:solidFill>
                <a:latin typeface="Segoe UI"/>
              </a:rPr>
              <a:t> BCH, </a:t>
            </a:r>
            <a:r>
              <a:rPr sz="1050" b="0" dirty="0" err="1">
                <a:solidFill>
                  <a:srgbClr val="1E293B"/>
                </a:solidFill>
                <a:latin typeface="Segoe UI"/>
              </a:rPr>
              <a:t>tên</a:t>
            </a:r>
            <a:r>
              <a:rPr sz="1050" b="0" dirty="0">
                <a:solidFill>
                  <a:srgbClr val="1E293B"/>
                </a:solidFill>
                <a:latin typeface="Segoe UI"/>
              </a:rPr>
              <a:t> </a:t>
            </a:r>
            <a:r>
              <a:rPr sz="1050" b="0" dirty="0" err="1">
                <a:solidFill>
                  <a:srgbClr val="1E293B"/>
                </a:solidFill>
                <a:latin typeface="Segoe UI"/>
              </a:rPr>
              <a:t>Bí</a:t>
            </a:r>
            <a:r>
              <a:rPr sz="1050" b="0" dirty="0">
                <a:solidFill>
                  <a:srgbClr val="1E293B"/>
                </a:solidFill>
                <a:latin typeface="Segoe UI"/>
              </a:rPr>
              <a:t> </a:t>
            </a:r>
            <a:r>
              <a:rPr sz="1050" b="0" dirty="0" err="1">
                <a:solidFill>
                  <a:srgbClr val="1E293B"/>
                </a:solidFill>
                <a:latin typeface="Segoe UI"/>
              </a:rPr>
              <a:t>thư</a:t>
            </a:r>
            <a:r>
              <a:rPr sz="1050" b="0" dirty="0">
                <a:solidFill>
                  <a:srgbClr val="1E293B"/>
                </a:solidFill>
                <a:latin typeface="Segoe UI"/>
              </a:rPr>
              <a:t>/</a:t>
            </a:r>
            <a:r>
              <a:rPr sz="1050" b="0" dirty="0" err="1">
                <a:solidFill>
                  <a:srgbClr val="1E293B"/>
                </a:solidFill>
                <a:latin typeface="Segoe UI"/>
              </a:rPr>
              <a:t>Phó</a:t>
            </a:r>
            <a:r>
              <a:rPr sz="1050" b="0" dirty="0">
                <a:solidFill>
                  <a:srgbClr val="1E293B"/>
                </a:solidFill>
                <a:latin typeface="Segoe UI"/>
              </a:rPr>
              <a:t> </a:t>
            </a:r>
            <a:r>
              <a:rPr sz="1050" b="0" dirty="0" err="1">
                <a:solidFill>
                  <a:srgbClr val="1E293B"/>
                </a:solidFill>
                <a:latin typeface="Segoe UI"/>
              </a:rPr>
              <a:t>Bí</a:t>
            </a:r>
            <a:r>
              <a:rPr sz="1050" b="0" dirty="0">
                <a:solidFill>
                  <a:srgbClr val="1E293B"/>
                </a:solidFill>
                <a:latin typeface="Segoe UI"/>
              </a:rPr>
              <a:t> </a:t>
            </a:r>
            <a:r>
              <a:rPr sz="1050" b="0" dirty="0" err="1">
                <a:solidFill>
                  <a:srgbClr val="1E293B"/>
                </a:solidFill>
                <a:latin typeface="Segoe UI"/>
              </a:rPr>
              <a:t>thư</a:t>
            </a:r>
            <a:r>
              <a:rPr sz="1050" b="0" dirty="0">
                <a:solidFill>
                  <a:srgbClr val="1E293B"/>
                </a:solidFill>
                <a:latin typeface="Segoe UI"/>
              </a:rPr>
              <a:t>, </a:t>
            </a:r>
            <a:r>
              <a:rPr sz="1050" b="0" dirty="0" err="1">
                <a:solidFill>
                  <a:srgbClr val="1E293B"/>
                </a:solidFill>
                <a:latin typeface="Segoe UI"/>
              </a:rPr>
              <a:t>hoặc</a:t>
            </a:r>
            <a:r>
              <a:rPr sz="1050" b="0" dirty="0">
                <a:solidFill>
                  <a:srgbClr val="1E293B"/>
                </a:solidFill>
                <a:latin typeface="Segoe UI"/>
              </a:rPr>
              <a:t> </a:t>
            </a:r>
            <a:r>
              <a:rPr sz="1050" b="0" dirty="0" err="1">
                <a:solidFill>
                  <a:srgbClr val="1E293B"/>
                </a:solidFill>
                <a:latin typeface="Segoe UI"/>
              </a:rPr>
              <a:t>các</a:t>
            </a:r>
            <a:r>
              <a:rPr sz="1050" b="0" dirty="0">
                <a:solidFill>
                  <a:srgbClr val="1E293B"/>
                </a:solidFill>
                <a:latin typeface="Segoe UI"/>
              </a:rPr>
              <a:t> </a:t>
            </a:r>
            <a:r>
              <a:rPr sz="1050" b="0" dirty="0" err="1">
                <a:solidFill>
                  <a:srgbClr val="1E293B"/>
                </a:solidFill>
                <a:latin typeface="Segoe UI"/>
              </a:rPr>
              <a:t>điểm</a:t>
            </a:r>
            <a:r>
              <a:rPr sz="1050" b="0" dirty="0">
                <a:solidFill>
                  <a:srgbClr val="1E293B"/>
                </a:solidFill>
                <a:latin typeface="Segoe UI"/>
              </a:rPr>
              <a:t> </a:t>
            </a:r>
            <a:r>
              <a:rPr sz="1050" b="0" dirty="0" err="1">
                <a:solidFill>
                  <a:srgbClr val="1E293B"/>
                </a:solidFill>
                <a:latin typeface="Segoe UI"/>
              </a:rPr>
              <a:t>lưu</a:t>
            </a:r>
            <a:r>
              <a:rPr sz="1050" b="0" dirty="0">
                <a:solidFill>
                  <a:srgbClr val="1E293B"/>
                </a:solidFill>
                <a:latin typeface="Segoe UI"/>
              </a:rPr>
              <a:t> ý </a:t>
            </a:r>
            <a:r>
              <a:rPr sz="1050" b="0" dirty="0" err="1">
                <a:solidFill>
                  <a:srgbClr val="1E293B"/>
                </a:solidFill>
                <a:latin typeface="Segoe UI"/>
              </a:rPr>
              <a:t>đặc</a:t>
            </a:r>
            <a:r>
              <a:rPr sz="1050" b="0" dirty="0">
                <a:solidFill>
                  <a:srgbClr val="1E293B"/>
                </a:solidFill>
                <a:latin typeface="Segoe UI"/>
              </a:rPr>
              <a:t> </a:t>
            </a:r>
            <a:r>
              <a:rPr sz="1050" b="0" dirty="0" err="1">
                <a:solidFill>
                  <a:srgbClr val="1E293B"/>
                </a:solidFill>
                <a:latin typeface="Segoe UI"/>
              </a:rPr>
              <a:t>biệt</a:t>
            </a:r>
            <a:r>
              <a:rPr sz="1050" b="0" dirty="0">
                <a:solidFill>
                  <a:srgbClr val="1E293B"/>
                </a:solidFill>
                <a:latin typeface="Segoe UI"/>
              </a:rPr>
              <a:t>.</a:t>
            </a:r>
          </a:p>
          <a:p>
            <a:pPr>
              <a:spcAft>
                <a:spcPts val="800"/>
              </a:spcAft>
              <a:defRPr sz="1050" b="1">
                <a:solidFill>
                  <a:srgbClr val="1E293B"/>
                </a:solidFill>
                <a:latin typeface="Segoe UI"/>
              </a:defRPr>
            </a:pPr>
            <a:r>
              <a:rPr dirty="0"/>
              <a:t>• [</a:t>
            </a:r>
            <a:r>
              <a:rPr dirty="0" err="1"/>
              <a:t>Bước</a:t>
            </a:r>
            <a:r>
              <a:rPr dirty="0"/>
              <a:t> 2] </a:t>
            </a:r>
            <a:r>
              <a:rPr dirty="0" err="1"/>
              <a:t>Chuyển</a:t>
            </a:r>
            <a:r>
              <a:rPr dirty="0"/>
              <a:t> </a:t>
            </a:r>
            <a:r>
              <a:rPr dirty="0" err="1"/>
              <a:t>đổi</a:t>
            </a:r>
            <a:r>
              <a:rPr dirty="0"/>
              <a:t> </a:t>
            </a:r>
            <a:r>
              <a:rPr dirty="0" err="1"/>
              <a:t>Trạng</a:t>
            </a:r>
            <a:r>
              <a:rPr dirty="0"/>
              <a:t> </a:t>
            </a:r>
            <a:r>
              <a:rPr dirty="0" err="1"/>
              <a:t>thái</a:t>
            </a:r>
            <a:r>
              <a:rPr dirty="0"/>
              <a:t> </a:t>
            </a:r>
            <a:r>
              <a:rPr dirty="0" err="1"/>
              <a:t>Đại</a:t>
            </a:r>
            <a:r>
              <a:rPr dirty="0"/>
              <a:t> </a:t>
            </a:r>
            <a:r>
              <a:rPr dirty="0" err="1"/>
              <a:t>hội</a:t>
            </a:r>
            <a:r>
              <a:rPr dirty="0"/>
              <a:t>: </a:t>
            </a:r>
            <a:r>
              <a:rPr sz="1050" b="0" dirty="0" err="1">
                <a:solidFill>
                  <a:srgbClr val="1E293B"/>
                </a:solidFill>
                <a:latin typeface="Segoe UI"/>
              </a:rPr>
              <a:t>Bấm</a:t>
            </a:r>
            <a:r>
              <a:rPr sz="1050" b="0" dirty="0">
                <a:solidFill>
                  <a:srgbClr val="1E293B"/>
                </a:solidFill>
                <a:latin typeface="Segoe UI"/>
              </a:rPr>
              <a:t> </a:t>
            </a:r>
            <a:r>
              <a:rPr sz="1050" b="0" dirty="0" err="1">
                <a:solidFill>
                  <a:srgbClr val="1E293B"/>
                </a:solidFill>
                <a:latin typeface="Segoe UI"/>
              </a:rPr>
              <a:t>vào</a:t>
            </a:r>
            <a:r>
              <a:rPr sz="1050" b="0" dirty="0">
                <a:solidFill>
                  <a:srgbClr val="1E293B"/>
                </a:solidFill>
                <a:latin typeface="Segoe UI"/>
              </a:rPr>
              <a:t> </a:t>
            </a:r>
            <a:r>
              <a:rPr sz="1050" b="0" dirty="0" err="1">
                <a:solidFill>
                  <a:srgbClr val="1E293B"/>
                </a:solidFill>
                <a:latin typeface="Segoe UI"/>
              </a:rPr>
              <a:t>nút</a:t>
            </a:r>
            <a:r>
              <a:rPr sz="1050" b="0" dirty="0">
                <a:solidFill>
                  <a:srgbClr val="1E293B"/>
                </a:solidFill>
                <a:latin typeface="Segoe UI"/>
              </a:rPr>
              <a:t> </a:t>
            </a:r>
            <a:r>
              <a:rPr sz="1050" b="0" dirty="0" err="1">
                <a:solidFill>
                  <a:srgbClr val="1E293B"/>
                </a:solidFill>
                <a:latin typeface="Segoe UI"/>
              </a:rPr>
              <a:t>Trạng</a:t>
            </a:r>
            <a:r>
              <a:rPr sz="1050" b="0" dirty="0">
                <a:solidFill>
                  <a:srgbClr val="1E293B"/>
                </a:solidFill>
                <a:latin typeface="Segoe UI"/>
              </a:rPr>
              <a:t> </a:t>
            </a:r>
            <a:r>
              <a:rPr sz="1050" b="0" dirty="0" err="1">
                <a:solidFill>
                  <a:srgbClr val="1E293B"/>
                </a:solidFill>
                <a:latin typeface="Segoe UI"/>
              </a:rPr>
              <a:t>thái</a:t>
            </a:r>
            <a:r>
              <a:rPr sz="1050" b="0" dirty="0">
                <a:solidFill>
                  <a:srgbClr val="1E293B"/>
                </a:solidFill>
                <a:latin typeface="Segoe UI"/>
              </a:rPr>
              <a:t> </a:t>
            </a:r>
            <a:r>
              <a:rPr sz="1050" b="0" dirty="0" err="1">
                <a:solidFill>
                  <a:srgbClr val="1E293B"/>
                </a:solidFill>
                <a:latin typeface="Segoe UI"/>
              </a:rPr>
              <a:t>để</a:t>
            </a:r>
            <a:r>
              <a:rPr sz="1050" b="0" dirty="0">
                <a:solidFill>
                  <a:srgbClr val="1E293B"/>
                </a:solidFill>
                <a:latin typeface="Segoe UI"/>
              </a:rPr>
              <a:t> </a:t>
            </a:r>
            <a:r>
              <a:rPr sz="1050" b="0" dirty="0" err="1">
                <a:solidFill>
                  <a:srgbClr val="1E293B"/>
                </a:solidFill>
                <a:latin typeface="Segoe UI"/>
              </a:rPr>
              <a:t>chuyển</a:t>
            </a:r>
            <a:r>
              <a:rPr sz="1050" b="0" dirty="0">
                <a:solidFill>
                  <a:srgbClr val="1E293B"/>
                </a:solidFill>
                <a:latin typeface="Segoe UI"/>
              </a:rPr>
              <a:t> </a:t>
            </a:r>
            <a:r>
              <a:rPr sz="1050" b="0" dirty="0" err="1">
                <a:solidFill>
                  <a:srgbClr val="1E293B"/>
                </a:solidFill>
                <a:latin typeface="Segoe UI"/>
              </a:rPr>
              <a:t>vòng</a:t>
            </a:r>
            <a:r>
              <a:rPr sz="1050" b="0" dirty="0">
                <a:solidFill>
                  <a:srgbClr val="1E293B"/>
                </a:solidFill>
                <a:latin typeface="Segoe UI"/>
              </a:rPr>
              <a:t> </a:t>
            </a:r>
            <a:r>
              <a:rPr sz="1050" b="0" dirty="0" err="1">
                <a:solidFill>
                  <a:srgbClr val="1E293B"/>
                </a:solidFill>
                <a:latin typeface="Segoe UI"/>
              </a:rPr>
              <a:t>tròn</a:t>
            </a:r>
            <a:r>
              <a:rPr sz="1050" b="0" dirty="0">
                <a:solidFill>
                  <a:srgbClr val="1E293B"/>
                </a:solidFill>
                <a:latin typeface="Segoe UI"/>
              </a:rPr>
              <a:t>:
• </a:t>
            </a:r>
            <a:r>
              <a:rPr sz="1050" b="0" dirty="0" err="1">
                <a:solidFill>
                  <a:srgbClr val="1E293B"/>
                </a:solidFill>
                <a:latin typeface="Segoe UI"/>
              </a:rPr>
              <a:t>Chưa</a:t>
            </a:r>
            <a:r>
              <a:rPr sz="1050" b="0" dirty="0">
                <a:solidFill>
                  <a:srgbClr val="1E293B"/>
                </a:solidFill>
                <a:latin typeface="Segoe UI"/>
              </a:rPr>
              <a:t> </a:t>
            </a:r>
            <a:r>
              <a:rPr sz="1050" b="0" dirty="0" err="1">
                <a:solidFill>
                  <a:srgbClr val="1E293B"/>
                </a:solidFill>
                <a:latin typeface="Segoe UI"/>
              </a:rPr>
              <a:t>tổ</a:t>
            </a:r>
            <a:r>
              <a:rPr sz="1050" b="0" dirty="0">
                <a:solidFill>
                  <a:srgbClr val="1E293B"/>
                </a:solidFill>
                <a:latin typeface="Segoe UI"/>
              </a:rPr>
              <a:t> </a:t>
            </a:r>
            <a:r>
              <a:rPr sz="1050" b="0" dirty="0" err="1">
                <a:solidFill>
                  <a:srgbClr val="1E293B"/>
                </a:solidFill>
                <a:latin typeface="Segoe UI"/>
              </a:rPr>
              <a:t>chức</a:t>
            </a:r>
            <a:r>
              <a:rPr sz="1050" b="0" dirty="0">
                <a:solidFill>
                  <a:srgbClr val="1E293B"/>
                </a:solidFill>
                <a:latin typeface="Segoe UI"/>
              </a:rPr>
              <a:t> (</a:t>
            </a:r>
            <a:r>
              <a:rPr sz="1050" b="0" dirty="0" err="1">
                <a:solidFill>
                  <a:srgbClr val="1E293B"/>
                </a:solidFill>
                <a:latin typeface="Segoe UI"/>
              </a:rPr>
              <a:t>Màu</a:t>
            </a:r>
            <a:r>
              <a:rPr sz="1050" b="0" dirty="0">
                <a:solidFill>
                  <a:srgbClr val="1E293B"/>
                </a:solidFill>
                <a:latin typeface="Segoe UI"/>
              </a:rPr>
              <a:t> </a:t>
            </a:r>
            <a:r>
              <a:rPr sz="1050" b="0" dirty="0" err="1">
                <a:solidFill>
                  <a:srgbClr val="1E293B"/>
                </a:solidFill>
                <a:latin typeface="Segoe UI"/>
              </a:rPr>
              <a:t>Đỏ</a:t>
            </a:r>
            <a:r>
              <a:rPr sz="1050" b="0" dirty="0">
                <a:solidFill>
                  <a:srgbClr val="1E293B"/>
                </a:solidFill>
                <a:latin typeface="Segoe UI"/>
              </a:rPr>
              <a:t>): Chi </a:t>
            </a:r>
            <a:r>
              <a:rPr sz="1050" b="0" dirty="0" err="1">
                <a:solidFill>
                  <a:srgbClr val="1E293B"/>
                </a:solidFill>
                <a:latin typeface="Segoe UI"/>
              </a:rPr>
              <a:t>đoàn</a:t>
            </a:r>
            <a:r>
              <a:rPr sz="1050" b="0" dirty="0">
                <a:solidFill>
                  <a:srgbClr val="1E293B"/>
                </a:solidFill>
                <a:latin typeface="Segoe UI"/>
              </a:rPr>
              <a:t> </a:t>
            </a:r>
            <a:r>
              <a:rPr sz="1050" b="0" dirty="0" err="1">
                <a:solidFill>
                  <a:srgbClr val="1E293B"/>
                </a:solidFill>
                <a:latin typeface="Segoe UI"/>
              </a:rPr>
              <a:t>chưa</a:t>
            </a:r>
            <a:r>
              <a:rPr sz="1050" b="0" dirty="0">
                <a:solidFill>
                  <a:srgbClr val="1E293B"/>
                </a:solidFill>
                <a:latin typeface="Segoe UI"/>
              </a:rPr>
              <a:t> </a:t>
            </a:r>
            <a:r>
              <a:rPr sz="1050" b="0" dirty="0" err="1">
                <a:solidFill>
                  <a:srgbClr val="1E293B"/>
                </a:solidFill>
                <a:latin typeface="Segoe UI"/>
              </a:rPr>
              <a:t>bắt</a:t>
            </a:r>
            <a:r>
              <a:rPr sz="1050" b="0" dirty="0">
                <a:solidFill>
                  <a:srgbClr val="1E293B"/>
                </a:solidFill>
                <a:latin typeface="Segoe UI"/>
              </a:rPr>
              <a:t> </a:t>
            </a:r>
            <a:r>
              <a:rPr sz="1050" b="0" dirty="0" err="1">
                <a:solidFill>
                  <a:srgbClr val="1E293B"/>
                </a:solidFill>
                <a:latin typeface="Segoe UI"/>
              </a:rPr>
              <a:t>đầu</a:t>
            </a:r>
            <a:r>
              <a:rPr sz="1050" b="0" dirty="0">
                <a:solidFill>
                  <a:srgbClr val="1E293B"/>
                </a:solidFill>
                <a:latin typeface="Segoe UI"/>
              </a:rPr>
              <a:t> </a:t>
            </a:r>
            <a:r>
              <a:rPr sz="1050" b="0" dirty="0" err="1">
                <a:solidFill>
                  <a:srgbClr val="1E293B"/>
                </a:solidFill>
                <a:latin typeface="Segoe UI"/>
              </a:rPr>
              <a:t>họp</a:t>
            </a:r>
            <a:r>
              <a:rPr sz="1050" b="0" dirty="0">
                <a:solidFill>
                  <a:srgbClr val="1E293B"/>
                </a:solidFill>
                <a:latin typeface="Segoe UI"/>
              </a:rPr>
              <a:t>.
• </a:t>
            </a:r>
            <a:r>
              <a:rPr sz="1050" b="0" dirty="0" err="1">
                <a:solidFill>
                  <a:srgbClr val="1E293B"/>
                </a:solidFill>
                <a:latin typeface="Segoe UI"/>
              </a:rPr>
              <a:t>Đang</a:t>
            </a:r>
            <a:r>
              <a:rPr sz="1050" b="0" dirty="0">
                <a:solidFill>
                  <a:srgbClr val="1E293B"/>
                </a:solidFill>
                <a:latin typeface="Segoe UI"/>
              </a:rPr>
              <a:t> </a:t>
            </a:r>
            <a:r>
              <a:rPr sz="1050" b="0" dirty="0" err="1">
                <a:solidFill>
                  <a:srgbClr val="1E293B"/>
                </a:solidFill>
                <a:latin typeface="Segoe UI"/>
              </a:rPr>
              <a:t>tiến</a:t>
            </a:r>
            <a:r>
              <a:rPr sz="1050" b="0" dirty="0">
                <a:solidFill>
                  <a:srgbClr val="1E293B"/>
                </a:solidFill>
                <a:latin typeface="Segoe UI"/>
              </a:rPr>
              <a:t> </a:t>
            </a:r>
            <a:r>
              <a:rPr sz="1050" b="0" dirty="0" err="1">
                <a:solidFill>
                  <a:srgbClr val="1E293B"/>
                </a:solidFill>
                <a:latin typeface="Segoe UI"/>
              </a:rPr>
              <a:t>hành</a:t>
            </a:r>
            <a:r>
              <a:rPr sz="1050" b="0" dirty="0">
                <a:solidFill>
                  <a:srgbClr val="1E293B"/>
                </a:solidFill>
                <a:latin typeface="Segoe UI"/>
              </a:rPr>
              <a:t> (</a:t>
            </a:r>
            <a:r>
              <a:rPr sz="1050" b="0" dirty="0" err="1">
                <a:solidFill>
                  <a:srgbClr val="1E293B"/>
                </a:solidFill>
                <a:latin typeface="Segoe UI"/>
              </a:rPr>
              <a:t>Màu</a:t>
            </a:r>
            <a:r>
              <a:rPr sz="1050" b="0" dirty="0">
                <a:solidFill>
                  <a:srgbClr val="1E293B"/>
                </a:solidFill>
                <a:latin typeface="Segoe UI"/>
              </a:rPr>
              <a:t> </a:t>
            </a:r>
            <a:r>
              <a:rPr sz="1050" b="0" dirty="0" err="1">
                <a:solidFill>
                  <a:srgbClr val="1E293B"/>
                </a:solidFill>
                <a:latin typeface="Segoe UI"/>
              </a:rPr>
              <a:t>Vàng</a:t>
            </a:r>
            <a:r>
              <a:rPr sz="1050" b="0" dirty="0">
                <a:solidFill>
                  <a:srgbClr val="1E293B"/>
                </a:solidFill>
                <a:latin typeface="Segoe UI"/>
              </a:rPr>
              <a:t>): Chi </a:t>
            </a:r>
            <a:r>
              <a:rPr sz="1050" b="0" dirty="0" err="1">
                <a:solidFill>
                  <a:srgbClr val="1E293B"/>
                </a:solidFill>
                <a:latin typeface="Segoe UI"/>
              </a:rPr>
              <a:t>đoàn</a:t>
            </a:r>
            <a:r>
              <a:rPr sz="1050" b="0" dirty="0">
                <a:solidFill>
                  <a:srgbClr val="1E293B"/>
                </a:solidFill>
                <a:latin typeface="Segoe UI"/>
              </a:rPr>
              <a:t> </a:t>
            </a:r>
            <a:r>
              <a:rPr sz="1050" b="0" dirty="0" err="1">
                <a:solidFill>
                  <a:srgbClr val="1E293B"/>
                </a:solidFill>
                <a:latin typeface="Segoe UI"/>
              </a:rPr>
              <a:t>đang</a:t>
            </a:r>
            <a:r>
              <a:rPr sz="1050" b="0" dirty="0">
                <a:solidFill>
                  <a:srgbClr val="1E293B"/>
                </a:solidFill>
                <a:latin typeface="Segoe UI"/>
              </a:rPr>
              <a:t> </a:t>
            </a:r>
            <a:r>
              <a:rPr sz="1050" b="0" dirty="0" err="1">
                <a:solidFill>
                  <a:srgbClr val="1E293B"/>
                </a:solidFill>
                <a:latin typeface="Segoe UI"/>
              </a:rPr>
              <a:t>họp</a:t>
            </a:r>
            <a:r>
              <a:rPr sz="1050" b="0" dirty="0">
                <a:solidFill>
                  <a:srgbClr val="1E293B"/>
                </a:solidFill>
                <a:latin typeface="Segoe UI"/>
              </a:rPr>
              <a:t> (</a:t>
            </a:r>
            <a:r>
              <a:rPr sz="1050" b="0" dirty="0" err="1">
                <a:solidFill>
                  <a:srgbClr val="1E293B"/>
                </a:solidFill>
                <a:latin typeface="Segoe UI"/>
              </a:rPr>
              <a:t>yêu</a:t>
            </a:r>
            <a:r>
              <a:rPr sz="1050" b="0" dirty="0">
                <a:solidFill>
                  <a:srgbClr val="1E293B"/>
                </a:solidFill>
                <a:latin typeface="Segoe UI"/>
              </a:rPr>
              <a:t> </a:t>
            </a:r>
            <a:r>
              <a:rPr sz="1050" b="0" dirty="0" err="1">
                <a:solidFill>
                  <a:srgbClr val="1E293B"/>
                </a:solidFill>
                <a:latin typeface="Segoe UI"/>
              </a:rPr>
              <a:t>cầu</a:t>
            </a:r>
            <a:r>
              <a:rPr sz="1050" b="0" dirty="0">
                <a:solidFill>
                  <a:srgbClr val="1E293B"/>
                </a:solidFill>
                <a:latin typeface="Segoe UI"/>
              </a:rPr>
              <a:t> </a:t>
            </a:r>
            <a:r>
              <a:rPr sz="1050" b="0" dirty="0" err="1">
                <a:solidFill>
                  <a:srgbClr val="1E293B"/>
                </a:solidFill>
                <a:latin typeface="Segoe UI"/>
              </a:rPr>
              <a:t>sĩ</a:t>
            </a:r>
            <a:r>
              <a:rPr sz="1050" b="0" dirty="0">
                <a:solidFill>
                  <a:srgbClr val="1E293B"/>
                </a:solidFill>
                <a:latin typeface="Segoe UI"/>
              </a:rPr>
              <a:t> </a:t>
            </a:r>
            <a:r>
              <a:rPr sz="1050" b="0" dirty="0" err="1">
                <a:solidFill>
                  <a:srgbClr val="1E293B"/>
                </a:solidFill>
                <a:latin typeface="Segoe UI"/>
              </a:rPr>
              <a:t>số</a:t>
            </a:r>
            <a:r>
              <a:rPr sz="1050" b="0" dirty="0">
                <a:solidFill>
                  <a:srgbClr val="1E293B"/>
                </a:solidFill>
                <a:latin typeface="Segoe UI"/>
              </a:rPr>
              <a:t> &gt;= 2/3).
• </a:t>
            </a:r>
            <a:r>
              <a:rPr sz="1050" b="0" dirty="0" err="1">
                <a:solidFill>
                  <a:srgbClr val="1E293B"/>
                </a:solidFill>
                <a:latin typeface="Segoe UI"/>
              </a:rPr>
              <a:t>Đã</a:t>
            </a:r>
            <a:r>
              <a:rPr sz="1050" b="0" dirty="0">
                <a:solidFill>
                  <a:srgbClr val="1E293B"/>
                </a:solidFill>
                <a:latin typeface="Segoe UI"/>
              </a:rPr>
              <a:t> </a:t>
            </a:r>
            <a:r>
              <a:rPr sz="1050" b="0" dirty="0" err="1">
                <a:solidFill>
                  <a:srgbClr val="1E293B"/>
                </a:solidFill>
                <a:latin typeface="Segoe UI"/>
              </a:rPr>
              <a:t>xong</a:t>
            </a:r>
            <a:r>
              <a:rPr sz="1050" b="0" dirty="0">
                <a:solidFill>
                  <a:srgbClr val="1E293B"/>
                </a:solidFill>
                <a:latin typeface="Segoe UI"/>
              </a:rPr>
              <a:t> (</a:t>
            </a:r>
            <a:r>
              <a:rPr sz="1050" b="0" dirty="0" err="1">
                <a:solidFill>
                  <a:srgbClr val="1E293B"/>
                </a:solidFill>
                <a:latin typeface="Segoe UI"/>
              </a:rPr>
              <a:t>Màu</a:t>
            </a:r>
            <a:r>
              <a:rPr sz="1050" b="0" dirty="0">
                <a:solidFill>
                  <a:srgbClr val="1E293B"/>
                </a:solidFill>
                <a:latin typeface="Segoe UI"/>
              </a:rPr>
              <a:t> Xanh </a:t>
            </a:r>
            <a:r>
              <a:rPr sz="1050" b="0" dirty="0" err="1">
                <a:solidFill>
                  <a:srgbClr val="1E293B"/>
                </a:solidFill>
                <a:latin typeface="Segoe UI"/>
              </a:rPr>
              <a:t>lá</a:t>
            </a:r>
            <a:r>
              <a:rPr sz="1050" b="0" dirty="0">
                <a:solidFill>
                  <a:srgbClr val="1E293B"/>
                </a:solidFill>
                <a:latin typeface="Segoe UI"/>
              </a:rPr>
              <a:t>): </a:t>
            </a:r>
            <a:r>
              <a:rPr sz="1050" b="0" dirty="0" err="1">
                <a:solidFill>
                  <a:srgbClr val="1E293B"/>
                </a:solidFill>
                <a:latin typeface="Segoe UI"/>
              </a:rPr>
              <a:t>Đại</a:t>
            </a:r>
            <a:r>
              <a:rPr sz="1050" b="0" dirty="0">
                <a:solidFill>
                  <a:srgbClr val="1E293B"/>
                </a:solidFill>
                <a:latin typeface="Segoe UI"/>
              </a:rPr>
              <a:t> </a:t>
            </a:r>
            <a:r>
              <a:rPr sz="1050" b="0" dirty="0" err="1">
                <a:solidFill>
                  <a:srgbClr val="1E293B"/>
                </a:solidFill>
                <a:latin typeface="Segoe UI"/>
              </a:rPr>
              <a:t>hội</a:t>
            </a:r>
            <a:r>
              <a:rPr sz="1050" b="0" dirty="0">
                <a:solidFill>
                  <a:srgbClr val="1E293B"/>
                </a:solidFill>
                <a:latin typeface="Segoe UI"/>
              </a:rPr>
              <a:t> </a:t>
            </a:r>
            <a:r>
              <a:rPr sz="1050" b="0" dirty="0" err="1">
                <a:solidFill>
                  <a:srgbClr val="1E293B"/>
                </a:solidFill>
                <a:latin typeface="Segoe UI"/>
              </a:rPr>
              <a:t>kết</a:t>
            </a:r>
            <a:r>
              <a:rPr sz="1050" b="0" dirty="0">
                <a:solidFill>
                  <a:srgbClr val="1E293B"/>
                </a:solidFill>
                <a:latin typeface="Segoe UI"/>
              </a:rPr>
              <a:t> </a:t>
            </a:r>
            <a:r>
              <a:rPr sz="1050" b="0" dirty="0" err="1">
                <a:solidFill>
                  <a:srgbClr val="1E293B"/>
                </a:solidFill>
                <a:latin typeface="Segoe UI"/>
              </a:rPr>
              <a:t>thúc</a:t>
            </a:r>
            <a:r>
              <a:rPr sz="1050" b="0" dirty="0">
                <a:solidFill>
                  <a:srgbClr val="1E293B"/>
                </a:solidFill>
                <a:latin typeface="Segoe UI"/>
              </a:rPr>
              <a:t> </a:t>
            </a:r>
            <a:r>
              <a:rPr sz="1050" b="0" dirty="0" err="1">
                <a:solidFill>
                  <a:srgbClr val="1E293B"/>
                </a:solidFill>
                <a:latin typeface="Segoe UI"/>
              </a:rPr>
              <a:t>thành</a:t>
            </a:r>
            <a:r>
              <a:rPr sz="1050" b="0" dirty="0">
                <a:solidFill>
                  <a:srgbClr val="1E293B"/>
                </a:solidFill>
                <a:latin typeface="Segoe UI"/>
              </a:rPr>
              <a:t> </a:t>
            </a:r>
            <a:r>
              <a:rPr sz="1050" b="0" dirty="0" err="1">
                <a:solidFill>
                  <a:srgbClr val="1E293B"/>
                </a:solidFill>
                <a:latin typeface="Segoe UI"/>
              </a:rPr>
              <a:t>công</a:t>
            </a:r>
            <a:r>
              <a:rPr sz="1050" b="0" dirty="0">
                <a:solidFill>
                  <a:srgbClr val="1E293B"/>
                </a:solidFill>
                <a:latin typeface="Segoe UI"/>
              </a:rPr>
              <a:t>.</a:t>
            </a:r>
          </a:p>
          <a:p>
            <a:pPr>
              <a:spcAft>
                <a:spcPts val="800"/>
              </a:spcAft>
              <a:defRPr sz="1050" b="1">
                <a:solidFill>
                  <a:srgbClr val="1E293B"/>
                </a:solidFill>
                <a:latin typeface="Segoe UI"/>
              </a:defRPr>
            </a:pPr>
            <a:r>
              <a:rPr dirty="0"/>
              <a:t>• </a:t>
            </a:r>
            <a:r>
              <a:rPr dirty="0" err="1"/>
              <a:t>Điều</a:t>
            </a:r>
            <a:r>
              <a:rPr dirty="0"/>
              <a:t> </a:t>
            </a:r>
            <a:r>
              <a:rPr dirty="0" err="1"/>
              <a:t>kiện</a:t>
            </a:r>
            <a:r>
              <a:rPr dirty="0"/>
              <a:t> </a:t>
            </a:r>
            <a:r>
              <a:rPr dirty="0" err="1"/>
              <a:t>Bắt</a:t>
            </a:r>
            <a:r>
              <a:rPr dirty="0"/>
              <a:t> </a:t>
            </a:r>
            <a:r>
              <a:rPr dirty="0" err="1"/>
              <a:t>buộc</a:t>
            </a:r>
            <a:r>
              <a:rPr dirty="0"/>
              <a:t> </a:t>
            </a:r>
            <a:r>
              <a:rPr dirty="0" err="1"/>
              <a:t>để</a:t>
            </a:r>
            <a:r>
              <a:rPr dirty="0"/>
              <a:t> Sang '</a:t>
            </a:r>
            <a:r>
              <a:rPr dirty="0" err="1"/>
              <a:t>Đã</a:t>
            </a:r>
            <a:r>
              <a:rPr dirty="0"/>
              <a:t> </a:t>
            </a:r>
            <a:r>
              <a:rPr dirty="0" err="1"/>
              <a:t>xong</a:t>
            </a:r>
            <a:r>
              <a:rPr dirty="0"/>
              <a:t>': </a:t>
            </a:r>
            <a:r>
              <a:rPr sz="1050" b="0" dirty="0">
                <a:solidFill>
                  <a:srgbClr val="1E293B"/>
                </a:solidFill>
                <a:latin typeface="Segoe UI"/>
              </a:rPr>
              <a:t>1. </a:t>
            </a:r>
            <a:r>
              <a:rPr sz="1050" b="0" dirty="0" err="1">
                <a:solidFill>
                  <a:srgbClr val="1E293B"/>
                </a:solidFill>
                <a:latin typeface="Segoe UI"/>
              </a:rPr>
              <a:t>Sĩ</a:t>
            </a:r>
            <a:r>
              <a:rPr sz="1050" b="0" dirty="0">
                <a:solidFill>
                  <a:srgbClr val="1E293B"/>
                </a:solidFill>
                <a:latin typeface="Segoe UI"/>
              </a:rPr>
              <a:t> </a:t>
            </a:r>
            <a:r>
              <a:rPr sz="1050" b="0" dirty="0" err="1">
                <a:solidFill>
                  <a:srgbClr val="1E293B"/>
                </a:solidFill>
                <a:latin typeface="Segoe UI"/>
              </a:rPr>
              <a:t>số</a:t>
            </a:r>
            <a:r>
              <a:rPr sz="1050" b="0" dirty="0">
                <a:solidFill>
                  <a:srgbClr val="1E293B"/>
                </a:solidFill>
                <a:latin typeface="Segoe UI"/>
              </a:rPr>
              <a:t> </a:t>
            </a:r>
            <a:r>
              <a:rPr sz="1050" b="0" dirty="0" err="1">
                <a:solidFill>
                  <a:srgbClr val="1E293B"/>
                </a:solidFill>
                <a:latin typeface="Segoe UI"/>
              </a:rPr>
              <a:t>có</a:t>
            </a:r>
            <a:r>
              <a:rPr sz="1050" b="0" dirty="0">
                <a:solidFill>
                  <a:srgbClr val="1E293B"/>
                </a:solidFill>
                <a:latin typeface="Segoe UI"/>
              </a:rPr>
              <a:t> </a:t>
            </a:r>
            <a:r>
              <a:rPr sz="1050" b="0" dirty="0" err="1">
                <a:solidFill>
                  <a:srgbClr val="1E293B"/>
                </a:solidFill>
                <a:latin typeface="Segoe UI"/>
              </a:rPr>
              <a:t>mặt</a:t>
            </a:r>
            <a:r>
              <a:rPr sz="1050" b="0" dirty="0">
                <a:solidFill>
                  <a:srgbClr val="1E293B"/>
                </a:solidFill>
                <a:latin typeface="Segoe UI"/>
              </a:rPr>
              <a:t> </a:t>
            </a:r>
            <a:r>
              <a:rPr sz="1050" b="0" dirty="0" err="1">
                <a:solidFill>
                  <a:srgbClr val="1E293B"/>
                </a:solidFill>
                <a:latin typeface="Segoe UI"/>
              </a:rPr>
              <a:t>phải</a:t>
            </a:r>
            <a:r>
              <a:rPr sz="1050" b="0" dirty="0">
                <a:solidFill>
                  <a:srgbClr val="1E293B"/>
                </a:solidFill>
                <a:latin typeface="Segoe UI"/>
              </a:rPr>
              <a:t> </a:t>
            </a:r>
            <a:r>
              <a:rPr sz="1050" b="0" dirty="0" err="1">
                <a:solidFill>
                  <a:srgbClr val="1E293B"/>
                </a:solidFill>
                <a:latin typeface="Segoe UI"/>
              </a:rPr>
              <a:t>đạt</a:t>
            </a:r>
            <a:r>
              <a:rPr sz="1050" b="0" dirty="0">
                <a:solidFill>
                  <a:srgbClr val="1E293B"/>
                </a:solidFill>
                <a:latin typeface="Segoe UI"/>
              </a:rPr>
              <a:t> </a:t>
            </a:r>
            <a:r>
              <a:rPr sz="1050" b="0" dirty="0" err="1">
                <a:solidFill>
                  <a:srgbClr val="1E293B"/>
                </a:solidFill>
                <a:latin typeface="Segoe UI"/>
              </a:rPr>
              <a:t>chuẩn</a:t>
            </a:r>
            <a:r>
              <a:rPr sz="1050" b="0" dirty="0">
                <a:solidFill>
                  <a:srgbClr val="1E293B"/>
                </a:solidFill>
                <a:latin typeface="Segoe UI"/>
              </a:rPr>
              <a:t> &gt;= 2/3.
2. </a:t>
            </a:r>
            <a:r>
              <a:rPr sz="1050" b="0" dirty="0" err="1">
                <a:solidFill>
                  <a:srgbClr val="1E293B"/>
                </a:solidFill>
                <a:latin typeface="Segoe UI"/>
              </a:rPr>
              <a:t>Hồ</a:t>
            </a:r>
            <a:r>
              <a:rPr sz="1050" b="0" dirty="0">
                <a:solidFill>
                  <a:srgbClr val="1E293B"/>
                </a:solidFill>
                <a:latin typeface="Segoe UI"/>
              </a:rPr>
              <a:t> </a:t>
            </a:r>
            <a:r>
              <a:rPr sz="1050" b="0" dirty="0" err="1">
                <a:solidFill>
                  <a:srgbClr val="1E293B"/>
                </a:solidFill>
                <a:latin typeface="Segoe UI"/>
              </a:rPr>
              <a:t>sơ</a:t>
            </a:r>
            <a:r>
              <a:rPr sz="1050" b="0" dirty="0">
                <a:solidFill>
                  <a:srgbClr val="1E293B"/>
                </a:solidFill>
                <a:latin typeface="Segoe UI"/>
              </a:rPr>
              <a:t> checklist </a:t>
            </a:r>
            <a:r>
              <a:rPr sz="1050" b="0" dirty="0" err="1">
                <a:solidFill>
                  <a:srgbClr val="1E293B"/>
                </a:solidFill>
                <a:latin typeface="Segoe UI"/>
              </a:rPr>
              <a:t>phải</a:t>
            </a:r>
            <a:r>
              <a:rPr sz="1050" b="0" dirty="0">
                <a:solidFill>
                  <a:srgbClr val="1E293B"/>
                </a:solidFill>
                <a:latin typeface="Segoe UI"/>
              </a:rPr>
              <a:t> </a:t>
            </a:r>
            <a:r>
              <a:rPr sz="1050" b="0" dirty="0" err="1">
                <a:solidFill>
                  <a:srgbClr val="1E293B"/>
                </a:solidFill>
                <a:latin typeface="Segoe UI"/>
              </a:rPr>
              <a:t>tích</a:t>
            </a:r>
            <a:r>
              <a:rPr sz="1050" b="0" dirty="0">
                <a:solidFill>
                  <a:srgbClr val="1E293B"/>
                </a:solidFill>
                <a:latin typeface="Segoe UI"/>
              </a:rPr>
              <a:t> </a:t>
            </a:r>
            <a:r>
              <a:rPr sz="1050" b="0" dirty="0" err="1">
                <a:solidFill>
                  <a:srgbClr val="1E293B"/>
                </a:solidFill>
                <a:latin typeface="Segoe UI"/>
              </a:rPr>
              <a:t>đủ</a:t>
            </a:r>
            <a:r>
              <a:rPr sz="1050" b="0" dirty="0">
                <a:solidFill>
                  <a:srgbClr val="1E293B"/>
                </a:solidFill>
                <a:latin typeface="Segoe UI"/>
              </a:rPr>
              <a:t> 100%.
</a:t>
            </a:r>
            <a:r>
              <a:rPr sz="1050" b="0" dirty="0" err="1">
                <a:solidFill>
                  <a:srgbClr val="1E293B"/>
                </a:solidFill>
                <a:latin typeface="Segoe UI"/>
              </a:rPr>
              <a:t>Nếu</a:t>
            </a:r>
            <a:r>
              <a:rPr sz="1050" b="0" dirty="0">
                <a:solidFill>
                  <a:srgbClr val="1E293B"/>
                </a:solidFill>
                <a:latin typeface="Segoe UI"/>
              </a:rPr>
              <a:t> </a:t>
            </a:r>
            <a:r>
              <a:rPr sz="1050" b="0" dirty="0" err="1">
                <a:solidFill>
                  <a:srgbClr val="1E293B"/>
                </a:solidFill>
                <a:latin typeface="Segoe UI"/>
              </a:rPr>
              <a:t>thiếu</a:t>
            </a:r>
            <a:r>
              <a:rPr sz="1050" b="0" dirty="0">
                <a:solidFill>
                  <a:srgbClr val="1E293B"/>
                </a:solidFill>
                <a:latin typeface="Segoe UI"/>
              </a:rPr>
              <a:t> 1 </a:t>
            </a:r>
            <a:r>
              <a:rPr sz="1050" b="0" dirty="0" err="1">
                <a:solidFill>
                  <a:srgbClr val="1E293B"/>
                </a:solidFill>
                <a:latin typeface="Segoe UI"/>
              </a:rPr>
              <a:t>trong</a:t>
            </a:r>
            <a:r>
              <a:rPr sz="1050" b="0" dirty="0">
                <a:solidFill>
                  <a:srgbClr val="1E293B"/>
                </a:solidFill>
                <a:latin typeface="Segoe UI"/>
              </a:rPr>
              <a:t> 2 </a:t>
            </a:r>
            <a:r>
              <a:rPr sz="1050" b="0" dirty="0" err="1">
                <a:solidFill>
                  <a:srgbClr val="1E293B"/>
                </a:solidFill>
                <a:latin typeface="Segoe UI"/>
              </a:rPr>
              <a:t>điều</a:t>
            </a:r>
            <a:r>
              <a:rPr sz="1050" b="0" dirty="0">
                <a:solidFill>
                  <a:srgbClr val="1E293B"/>
                </a:solidFill>
                <a:latin typeface="Segoe UI"/>
              </a:rPr>
              <a:t> </a:t>
            </a:r>
            <a:r>
              <a:rPr sz="1050" b="0" dirty="0" err="1">
                <a:solidFill>
                  <a:srgbClr val="1E293B"/>
                </a:solidFill>
                <a:latin typeface="Segoe UI"/>
              </a:rPr>
              <a:t>kiện</a:t>
            </a:r>
            <a:r>
              <a:rPr sz="1050" b="0" dirty="0">
                <a:solidFill>
                  <a:srgbClr val="1E293B"/>
                </a:solidFill>
                <a:latin typeface="Segoe UI"/>
              </a:rPr>
              <a:t>, </a:t>
            </a:r>
            <a:r>
              <a:rPr sz="1050" b="0" dirty="0" err="1">
                <a:solidFill>
                  <a:srgbClr val="1E293B"/>
                </a:solidFill>
                <a:latin typeface="Segoe UI"/>
              </a:rPr>
              <a:t>hệ</a:t>
            </a:r>
            <a:r>
              <a:rPr sz="1050" b="0" dirty="0">
                <a:solidFill>
                  <a:srgbClr val="1E293B"/>
                </a:solidFill>
                <a:latin typeface="Segoe UI"/>
              </a:rPr>
              <a:t> </a:t>
            </a:r>
            <a:r>
              <a:rPr sz="1050" b="0" dirty="0" err="1">
                <a:solidFill>
                  <a:srgbClr val="1E293B"/>
                </a:solidFill>
                <a:latin typeface="Segoe UI"/>
              </a:rPr>
              <a:t>thống</a:t>
            </a:r>
            <a:r>
              <a:rPr sz="1050" b="0" dirty="0">
                <a:solidFill>
                  <a:srgbClr val="1E293B"/>
                </a:solidFill>
                <a:latin typeface="Segoe UI"/>
              </a:rPr>
              <a:t> </a:t>
            </a:r>
            <a:r>
              <a:rPr sz="1050" b="0" dirty="0" err="1">
                <a:solidFill>
                  <a:srgbClr val="1E293B"/>
                </a:solidFill>
                <a:latin typeface="Segoe UI"/>
              </a:rPr>
              <a:t>sẽ</a:t>
            </a:r>
            <a:r>
              <a:rPr sz="1050" b="0" dirty="0">
                <a:solidFill>
                  <a:srgbClr val="1E293B"/>
                </a:solidFill>
                <a:latin typeface="Segoe UI"/>
              </a:rPr>
              <a:t> </a:t>
            </a:r>
            <a:r>
              <a:rPr sz="1050" b="0" dirty="0" err="1">
                <a:solidFill>
                  <a:srgbClr val="1E293B"/>
                </a:solidFill>
                <a:latin typeface="Segoe UI"/>
              </a:rPr>
              <a:t>từ</a:t>
            </a:r>
            <a:r>
              <a:rPr sz="1050" b="0" dirty="0">
                <a:solidFill>
                  <a:srgbClr val="1E293B"/>
                </a:solidFill>
                <a:latin typeface="Segoe UI"/>
              </a:rPr>
              <a:t> </a:t>
            </a:r>
            <a:r>
              <a:rPr sz="1050" b="0" dirty="0" err="1">
                <a:solidFill>
                  <a:srgbClr val="1E293B"/>
                </a:solidFill>
                <a:latin typeface="Segoe UI"/>
              </a:rPr>
              <a:t>chối</a:t>
            </a:r>
            <a:r>
              <a:rPr sz="1050" b="0" dirty="0">
                <a:solidFill>
                  <a:srgbClr val="1E293B"/>
                </a:solidFill>
                <a:latin typeface="Segoe UI"/>
              </a:rPr>
              <a:t> </a:t>
            </a:r>
            <a:r>
              <a:rPr sz="1050" b="0" dirty="0" err="1">
                <a:solidFill>
                  <a:srgbClr val="1E293B"/>
                </a:solidFill>
                <a:latin typeface="Segoe UI"/>
              </a:rPr>
              <a:t>và</a:t>
            </a:r>
            <a:r>
              <a:rPr sz="1050" b="0" dirty="0">
                <a:solidFill>
                  <a:srgbClr val="1E293B"/>
                </a:solidFill>
                <a:latin typeface="Segoe UI"/>
              </a:rPr>
              <a:t> </a:t>
            </a:r>
            <a:r>
              <a:rPr sz="1050" b="0" dirty="0" err="1">
                <a:solidFill>
                  <a:srgbClr val="1E293B"/>
                </a:solidFill>
                <a:latin typeface="Segoe UI"/>
              </a:rPr>
              <a:t>báo</a:t>
            </a:r>
            <a:r>
              <a:rPr sz="1050" b="0" dirty="0">
                <a:solidFill>
                  <a:srgbClr val="1E293B"/>
                </a:solidFill>
                <a:latin typeface="Segoe UI"/>
              </a:rPr>
              <a:t> </a:t>
            </a:r>
            <a:r>
              <a:rPr sz="1050" b="0" dirty="0" err="1">
                <a:solidFill>
                  <a:srgbClr val="1E293B"/>
                </a:solidFill>
                <a:latin typeface="Segoe UI"/>
              </a:rPr>
              <a:t>rõ</a:t>
            </a:r>
            <a:r>
              <a:rPr sz="1050" b="0" dirty="0">
                <a:solidFill>
                  <a:srgbClr val="1E293B"/>
                </a:solidFill>
                <a:latin typeface="Segoe UI"/>
              </a:rPr>
              <a:t> </a:t>
            </a:r>
            <a:r>
              <a:rPr sz="1050" b="0" dirty="0" err="1">
                <a:solidFill>
                  <a:srgbClr val="1E293B"/>
                </a:solidFill>
                <a:latin typeface="Segoe UI"/>
              </a:rPr>
              <a:t>điều</a:t>
            </a:r>
            <a:r>
              <a:rPr sz="1050" b="0" dirty="0">
                <a:solidFill>
                  <a:srgbClr val="1E293B"/>
                </a:solidFill>
                <a:latin typeface="Segoe UI"/>
              </a:rPr>
              <a:t> </a:t>
            </a:r>
            <a:r>
              <a:rPr sz="1050" b="0" dirty="0" err="1">
                <a:solidFill>
                  <a:srgbClr val="1E293B"/>
                </a:solidFill>
                <a:latin typeface="Segoe UI"/>
              </a:rPr>
              <a:t>kiện</a:t>
            </a:r>
            <a:r>
              <a:rPr sz="1050" b="0" dirty="0">
                <a:solidFill>
                  <a:srgbClr val="1E293B"/>
                </a:solidFill>
                <a:latin typeface="Segoe UI"/>
              </a:rPr>
              <a:t> </a:t>
            </a:r>
            <a:r>
              <a:rPr sz="1050" b="0" dirty="0" err="1">
                <a:solidFill>
                  <a:srgbClr val="1E293B"/>
                </a:solidFill>
                <a:latin typeface="Segoe UI"/>
              </a:rPr>
              <a:t>còn</a:t>
            </a:r>
            <a:r>
              <a:rPr sz="1050" b="0" dirty="0">
                <a:solidFill>
                  <a:srgbClr val="1E293B"/>
                </a:solidFill>
                <a:latin typeface="Segoe UI"/>
              </a:rPr>
              <a:t> </a:t>
            </a:r>
            <a:r>
              <a:rPr sz="1050" b="0" dirty="0" err="1">
                <a:solidFill>
                  <a:srgbClr val="1E293B"/>
                </a:solidFill>
                <a:latin typeface="Segoe UI"/>
              </a:rPr>
              <a:t>thiếu</a:t>
            </a:r>
            <a:r>
              <a:rPr sz="1050" b="0" dirty="0">
                <a:solidFill>
                  <a:srgbClr val="1E293B"/>
                </a:solidFill>
                <a:latin typeface="Segoe UI"/>
              </a:rPr>
              <a:t>.</a:t>
            </a:r>
          </a:p>
          <a:p>
            <a:pPr>
              <a:spcAft>
                <a:spcPts val="800"/>
              </a:spcAft>
              <a:defRPr sz="1050" b="1">
                <a:solidFill>
                  <a:srgbClr val="1E293B"/>
                </a:solidFill>
                <a:latin typeface="Segoe UI"/>
              </a:defRPr>
            </a:pPr>
            <a:r>
              <a:rPr dirty="0"/>
              <a:t>• </a:t>
            </a:r>
            <a:r>
              <a:rPr dirty="0" err="1"/>
              <a:t>Nút</a:t>
            </a:r>
            <a:r>
              <a:rPr dirty="0"/>
              <a:t> </a:t>
            </a:r>
            <a:r>
              <a:rPr dirty="0" err="1"/>
              <a:t>Trạng</a:t>
            </a:r>
            <a:r>
              <a:rPr dirty="0"/>
              <a:t> </a:t>
            </a:r>
            <a:r>
              <a:rPr dirty="0" err="1"/>
              <a:t>thái</a:t>
            </a:r>
            <a:r>
              <a:rPr dirty="0"/>
              <a:t> </a:t>
            </a:r>
            <a:r>
              <a:rPr dirty="0" err="1"/>
              <a:t>Đồng</a:t>
            </a:r>
            <a:r>
              <a:rPr dirty="0"/>
              <a:t> </a:t>
            </a:r>
            <a:r>
              <a:rPr dirty="0" err="1"/>
              <a:t>bộ</a:t>
            </a:r>
            <a:r>
              <a:rPr dirty="0"/>
              <a:t> Realtime: </a:t>
            </a:r>
            <a:r>
              <a:rPr sz="1050" b="0" dirty="0">
                <a:solidFill>
                  <a:srgbClr val="1E293B"/>
                </a:solidFill>
                <a:latin typeface="Segoe UI"/>
              </a:rPr>
              <a:t>Khi </a:t>
            </a:r>
            <a:r>
              <a:rPr sz="1050" b="0" dirty="0" err="1">
                <a:solidFill>
                  <a:srgbClr val="1E293B"/>
                </a:solidFill>
                <a:latin typeface="Segoe UI"/>
              </a:rPr>
              <a:t>bấm</a:t>
            </a:r>
            <a:r>
              <a:rPr sz="1050" b="0" dirty="0">
                <a:solidFill>
                  <a:srgbClr val="1E293B"/>
                </a:solidFill>
                <a:latin typeface="Segoe UI"/>
              </a:rPr>
              <a:t> </a:t>
            </a:r>
            <a:r>
              <a:rPr sz="1050" b="0" dirty="0" err="1">
                <a:solidFill>
                  <a:srgbClr val="1E293B"/>
                </a:solidFill>
                <a:latin typeface="Segoe UI"/>
              </a:rPr>
              <a:t>chuyển</a:t>
            </a:r>
            <a:r>
              <a:rPr sz="1050" b="0" dirty="0">
                <a:solidFill>
                  <a:srgbClr val="1E293B"/>
                </a:solidFill>
                <a:latin typeface="Segoe UI"/>
              </a:rPr>
              <a:t> </a:t>
            </a:r>
            <a:r>
              <a:rPr sz="1050" b="0" dirty="0" err="1">
                <a:solidFill>
                  <a:srgbClr val="1E293B"/>
                </a:solidFill>
                <a:latin typeface="Segoe UI"/>
              </a:rPr>
              <a:t>trạng</a:t>
            </a:r>
            <a:r>
              <a:rPr sz="1050" b="0" dirty="0">
                <a:solidFill>
                  <a:srgbClr val="1E293B"/>
                </a:solidFill>
                <a:latin typeface="Segoe UI"/>
              </a:rPr>
              <a:t> </a:t>
            </a:r>
            <a:r>
              <a:rPr sz="1050" b="0" dirty="0" err="1">
                <a:solidFill>
                  <a:srgbClr val="1E293B"/>
                </a:solidFill>
                <a:latin typeface="Segoe UI"/>
              </a:rPr>
              <a:t>thái</a:t>
            </a:r>
            <a:r>
              <a:rPr sz="1050" b="0" dirty="0">
                <a:solidFill>
                  <a:srgbClr val="1E293B"/>
                </a:solidFill>
                <a:latin typeface="Segoe UI"/>
              </a:rPr>
              <a:t>, </a:t>
            </a:r>
            <a:r>
              <a:rPr sz="1050" b="0" dirty="0" err="1">
                <a:solidFill>
                  <a:srgbClr val="1E293B"/>
                </a:solidFill>
                <a:latin typeface="Segoe UI"/>
              </a:rPr>
              <a:t>màu</a:t>
            </a:r>
            <a:r>
              <a:rPr sz="1050" b="0" dirty="0">
                <a:solidFill>
                  <a:srgbClr val="1E293B"/>
                </a:solidFill>
                <a:latin typeface="Segoe UI"/>
              </a:rPr>
              <a:t> </a:t>
            </a:r>
            <a:r>
              <a:rPr sz="1050" b="0" dirty="0" err="1">
                <a:solidFill>
                  <a:srgbClr val="1E293B"/>
                </a:solidFill>
                <a:latin typeface="Segoe UI"/>
              </a:rPr>
              <a:t>sắc</a:t>
            </a:r>
            <a:r>
              <a:rPr sz="1050" b="0" dirty="0">
                <a:solidFill>
                  <a:srgbClr val="1E293B"/>
                </a:solidFill>
                <a:latin typeface="Segoe UI"/>
              </a:rPr>
              <a:t> </a:t>
            </a:r>
            <a:r>
              <a:rPr sz="1050" b="0" dirty="0" err="1">
                <a:solidFill>
                  <a:srgbClr val="1E293B"/>
                </a:solidFill>
                <a:latin typeface="Segoe UI"/>
              </a:rPr>
              <a:t>của</a:t>
            </a:r>
            <a:r>
              <a:rPr sz="1050" b="0" dirty="0">
                <a:solidFill>
                  <a:srgbClr val="1E293B"/>
                </a:solidFill>
                <a:latin typeface="Segoe UI"/>
              </a:rPr>
              <a:t> </a:t>
            </a:r>
            <a:r>
              <a:rPr sz="1050" b="0" dirty="0" err="1">
                <a:solidFill>
                  <a:srgbClr val="1E293B"/>
                </a:solidFill>
                <a:latin typeface="Segoe UI"/>
              </a:rPr>
              <a:t>thẻ</a:t>
            </a:r>
            <a:r>
              <a:rPr sz="1050" b="0" dirty="0">
                <a:solidFill>
                  <a:srgbClr val="1E293B"/>
                </a:solidFill>
                <a:latin typeface="Segoe UI"/>
              </a:rPr>
              <a:t> </a:t>
            </a:r>
            <a:r>
              <a:rPr sz="1050" b="0" dirty="0" err="1">
                <a:solidFill>
                  <a:srgbClr val="1E293B"/>
                </a:solidFill>
                <a:latin typeface="Segoe UI"/>
              </a:rPr>
              <a:t>phòng</a:t>
            </a:r>
            <a:r>
              <a:rPr sz="1050" b="0" dirty="0">
                <a:solidFill>
                  <a:srgbClr val="1E293B"/>
                </a:solidFill>
                <a:latin typeface="Segoe UI"/>
              </a:rPr>
              <a:t> </a:t>
            </a:r>
            <a:r>
              <a:rPr sz="1050" b="0" dirty="0" err="1">
                <a:solidFill>
                  <a:srgbClr val="1E293B"/>
                </a:solidFill>
                <a:latin typeface="Segoe UI"/>
              </a:rPr>
              <a:t>học</a:t>
            </a:r>
            <a:r>
              <a:rPr sz="1050" b="0" dirty="0">
                <a:solidFill>
                  <a:srgbClr val="1E293B"/>
                </a:solidFill>
                <a:latin typeface="Segoe UI"/>
              </a:rPr>
              <a:t> </a:t>
            </a:r>
            <a:r>
              <a:rPr sz="1050" b="0" dirty="0" err="1">
                <a:solidFill>
                  <a:srgbClr val="1E293B"/>
                </a:solidFill>
                <a:latin typeface="Segoe UI"/>
              </a:rPr>
              <a:t>trên</a:t>
            </a:r>
            <a:r>
              <a:rPr sz="1050" b="0" dirty="0">
                <a:solidFill>
                  <a:srgbClr val="1E293B"/>
                </a:solidFill>
                <a:latin typeface="Segoe UI"/>
              </a:rPr>
              <a:t> </a:t>
            </a:r>
            <a:r>
              <a:rPr sz="1050" b="0" dirty="0" err="1">
                <a:solidFill>
                  <a:srgbClr val="1E293B"/>
                </a:solidFill>
                <a:latin typeface="Segoe UI"/>
              </a:rPr>
              <a:t>màn</a:t>
            </a:r>
            <a:r>
              <a:rPr sz="1050" b="0" dirty="0">
                <a:solidFill>
                  <a:srgbClr val="1E293B"/>
                </a:solidFill>
                <a:latin typeface="Segoe UI"/>
              </a:rPr>
              <a:t> </a:t>
            </a:r>
            <a:r>
              <a:rPr sz="1050" b="0" dirty="0" err="1">
                <a:solidFill>
                  <a:srgbClr val="1E293B"/>
                </a:solidFill>
                <a:latin typeface="Segoe UI"/>
              </a:rPr>
              <a:t>hình</a:t>
            </a:r>
            <a:r>
              <a:rPr sz="1050" b="0" dirty="0">
                <a:solidFill>
                  <a:srgbClr val="1E293B"/>
                </a:solidFill>
                <a:latin typeface="Segoe UI"/>
              </a:rPr>
              <a:t> </a:t>
            </a:r>
            <a:r>
              <a:rPr sz="1050" b="0" dirty="0" err="1">
                <a:solidFill>
                  <a:srgbClr val="1E293B"/>
                </a:solidFill>
                <a:latin typeface="Segoe UI"/>
              </a:rPr>
              <a:t>của</a:t>
            </a:r>
            <a:r>
              <a:rPr sz="1050" b="0" dirty="0">
                <a:solidFill>
                  <a:srgbClr val="1E293B"/>
                </a:solidFill>
                <a:latin typeface="Segoe UI"/>
              </a:rPr>
              <a:t> </a:t>
            </a:r>
            <a:r>
              <a:rPr sz="1050" b="0" dirty="0" err="1">
                <a:solidFill>
                  <a:srgbClr val="1E293B"/>
                </a:solidFill>
                <a:latin typeface="Segoe UI"/>
              </a:rPr>
              <a:t>tất</a:t>
            </a:r>
            <a:r>
              <a:rPr sz="1050" b="0" dirty="0">
                <a:solidFill>
                  <a:srgbClr val="1E293B"/>
                </a:solidFill>
                <a:latin typeface="Segoe UI"/>
              </a:rPr>
              <a:t> </a:t>
            </a:r>
            <a:r>
              <a:rPr sz="1050" b="0" dirty="0" err="1">
                <a:solidFill>
                  <a:srgbClr val="1E293B"/>
                </a:solidFill>
                <a:latin typeface="Segoe UI"/>
              </a:rPr>
              <a:t>cả</a:t>
            </a:r>
            <a:r>
              <a:rPr sz="1050" b="0" dirty="0">
                <a:solidFill>
                  <a:srgbClr val="1E293B"/>
                </a:solidFill>
                <a:latin typeface="Segoe UI"/>
              </a:rPr>
              <a:t> </a:t>
            </a:r>
            <a:r>
              <a:rPr sz="1050" b="0" dirty="0" err="1">
                <a:solidFill>
                  <a:srgbClr val="1E293B"/>
                </a:solidFill>
                <a:latin typeface="Segoe UI"/>
              </a:rPr>
              <a:t>các</a:t>
            </a:r>
            <a:r>
              <a:rPr sz="1050" b="0" dirty="0">
                <a:solidFill>
                  <a:srgbClr val="1E293B"/>
                </a:solidFill>
                <a:latin typeface="Segoe UI"/>
              </a:rPr>
              <a:t> </a:t>
            </a:r>
            <a:r>
              <a:rPr sz="1050" b="0" dirty="0" err="1">
                <a:solidFill>
                  <a:srgbClr val="1E293B"/>
                </a:solidFill>
                <a:latin typeface="Segoe UI"/>
              </a:rPr>
              <a:t>cấp</a:t>
            </a:r>
            <a:r>
              <a:rPr sz="1050" b="0" dirty="0">
                <a:solidFill>
                  <a:srgbClr val="1E293B"/>
                </a:solidFill>
                <a:latin typeface="Segoe UI"/>
              </a:rPr>
              <a:t> </a:t>
            </a:r>
            <a:r>
              <a:rPr sz="1050" b="0" dirty="0" err="1">
                <a:solidFill>
                  <a:srgbClr val="1E293B"/>
                </a:solidFill>
                <a:latin typeface="Segoe UI"/>
              </a:rPr>
              <a:t>sẽ</a:t>
            </a:r>
            <a:r>
              <a:rPr sz="1050" b="0" dirty="0">
                <a:solidFill>
                  <a:srgbClr val="1E293B"/>
                </a:solidFill>
                <a:latin typeface="Segoe UI"/>
              </a:rPr>
              <a:t> </a:t>
            </a:r>
            <a:r>
              <a:rPr sz="1050" b="0" dirty="0" err="1">
                <a:solidFill>
                  <a:srgbClr val="1E293B"/>
                </a:solidFill>
                <a:latin typeface="Segoe UI"/>
              </a:rPr>
              <a:t>đổi</a:t>
            </a:r>
            <a:r>
              <a:rPr sz="1050" b="0" dirty="0">
                <a:solidFill>
                  <a:srgbClr val="1E293B"/>
                </a:solidFill>
                <a:latin typeface="Segoe UI"/>
              </a:rPr>
              <a:t> </a:t>
            </a:r>
            <a:r>
              <a:rPr sz="1050" b="0" dirty="0" err="1">
                <a:solidFill>
                  <a:srgbClr val="1E293B"/>
                </a:solidFill>
                <a:latin typeface="Segoe UI"/>
              </a:rPr>
              <a:t>màu</a:t>
            </a:r>
            <a:r>
              <a:rPr sz="1050" b="0" dirty="0">
                <a:solidFill>
                  <a:srgbClr val="1E293B"/>
                </a:solidFill>
                <a:latin typeface="Segoe UI"/>
              </a:rPr>
              <a:t> </a:t>
            </a:r>
            <a:r>
              <a:rPr sz="1050" b="0" dirty="0" err="1">
                <a:solidFill>
                  <a:srgbClr val="1E293B"/>
                </a:solidFill>
                <a:latin typeface="Segoe UI"/>
              </a:rPr>
              <a:t>ngay</a:t>
            </a:r>
            <a:r>
              <a:rPr sz="1050" b="0" dirty="0">
                <a:solidFill>
                  <a:srgbClr val="1E293B"/>
                </a:solidFill>
                <a:latin typeface="Segoe UI"/>
              </a:rPr>
              <a:t> </a:t>
            </a:r>
            <a:r>
              <a:rPr sz="1050" b="0" dirty="0" err="1">
                <a:solidFill>
                  <a:srgbClr val="1E293B"/>
                </a:solidFill>
                <a:latin typeface="Segoe UI"/>
              </a:rPr>
              <a:t>lập</a:t>
            </a:r>
            <a:r>
              <a:rPr sz="1050" b="0" dirty="0">
                <a:solidFill>
                  <a:srgbClr val="1E293B"/>
                </a:solidFill>
                <a:latin typeface="Segoe UI"/>
              </a:rPr>
              <a:t> </a:t>
            </a:r>
            <a:r>
              <a:rPr sz="1050" b="0" dirty="0" err="1">
                <a:solidFill>
                  <a:srgbClr val="1E293B"/>
                </a:solidFill>
                <a:latin typeface="Segoe UI"/>
              </a:rPr>
              <a:t>tức</a:t>
            </a:r>
            <a:r>
              <a:rPr sz="1050" b="0" dirty="0">
                <a:solidFill>
                  <a:srgbClr val="1E293B"/>
                </a:solidFill>
                <a:latin typeface="Segoe UI"/>
              </a:rPr>
              <a:t>.</a:t>
            </a:r>
          </a:p>
        </p:txBody>
      </p:sp>
      <p:sp>
        <p:nvSpPr>
          <p:cNvPr id="11" name="Rounded Rectangle 10"/>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Thẻ Lớp với Ô Ghi chú &amp; Nút Trạng thái Đại hội</a:t>
            </a:r>
          </a:p>
        </p:txBody>
      </p:sp>
      <p:pic>
        <p:nvPicPr>
          <p:cNvPr id="13" name="Picture 12" descr="test_card_bottom.png"/>
          <p:cNvPicPr>
            <a:picLocks noChangeAspect="1"/>
          </p:cNvPicPr>
          <p:nvPr/>
        </p:nvPicPr>
        <p:blipFill>
          <a:blip r:embed="rId2"/>
          <a:stretch>
            <a:fillRect/>
          </a:stretch>
        </p:blipFill>
        <p:spPr>
          <a:xfrm>
            <a:off x="7596265" y="1645920"/>
            <a:ext cx="2638268" cy="4023360"/>
          </a:xfrm>
          <a:prstGeom prst="rect">
            <a:avLst/>
          </a:prstGeom>
          <a:ln w="12700">
            <a:solidFill>
              <a:srgbClr val="E2E8F0"/>
            </a:solidFill>
          </a:ln>
        </p:spPr>
      </p:pic>
      <p:sp>
        <p:nvSpPr>
          <p:cNvPr id="14" name="TextBox 13"/>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Ghi chú kiểm tra chi tiết nhân sự trúng cử, nút Lưu độc lập và nút Khóa niêm phong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TÁC NGHIỆP CÁN BỘ TRỰC LỚP</a:t>
            </a:r>
          </a:p>
          <a:p>
            <a:pPr>
              <a:defRPr sz="1800" b="1">
                <a:solidFill>
                  <a:srgbClr val="FFFFFF"/>
                </a:solidFill>
                <a:latin typeface="Segoe UI"/>
              </a:defRPr>
            </a:pPr>
            <a:r>
              <a:t>CÁN BỘ TRỰC LỚP [5]: XỬ LÝ HỦY ĐẠI HỘI &amp; LÝ DO BẮT BUỘC</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059669"/>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CÁN BỘ TRỰC LỚP</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12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Quy trình Hủy Đại hội &amp; Ràng buộc Lý do Bắt buộc</a:t>
            </a:r>
          </a:p>
        </p:txBody>
      </p:sp>
      <p:sp>
        <p:nvSpPr>
          <p:cNvPr id="10" name="TextBox 9"/>
          <p:cNvSpPr txBox="1"/>
          <p:nvPr/>
        </p:nvSpPr>
        <p:spPr>
          <a:xfrm>
            <a:off x="777240" y="1645920"/>
            <a:ext cx="5029200" cy="3291840"/>
          </a:xfrm>
          <a:prstGeom prst="rect">
            <a:avLst/>
          </a:prstGeom>
          <a:noFill/>
        </p:spPr>
        <p:txBody>
          <a:bodyPr wrap="square" lIns="0" tIns="0" rIns="0" bIns="0">
            <a:spAutoFit/>
          </a:bodyPr>
          <a:lstStyle/>
          <a:p>
            <a:pPr>
              <a:spcAft>
                <a:spcPts val="600"/>
              </a:spcAft>
              <a:defRPr sz="1000" b="1">
                <a:solidFill>
                  <a:srgbClr val="1E293B"/>
                </a:solidFill>
                <a:latin typeface="Segoe UI"/>
              </a:defRPr>
            </a:pPr>
            <a:r>
              <a:t>• [Bước 1] Khi nào chọn Hủy đại hội?: </a:t>
            </a:r>
            <a:r>
              <a:rPr sz="1000" b="0">
                <a:solidFill>
                  <a:srgbClr val="1E293B"/>
                </a:solidFill>
                <a:latin typeface="Segoe UI"/>
              </a:rPr>
              <a:t>Áp dụng khi chi đoàn không thể tổ chức đại hội: Không đủ 2/3 sĩ số sau thời gian chờ, không có đoàn viên tham gia, hoặc sự cố bất khả kháng.</a:t>
            </a:r>
          </a:p>
          <a:p>
            <a:pPr>
              <a:spcAft>
                <a:spcPts val="600"/>
              </a:spcAft>
              <a:defRPr sz="1000" b="1">
                <a:solidFill>
                  <a:srgbClr val="1E293B"/>
                </a:solidFill>
                <a:latin typeface="Segoe UI"/>
              </a:defRPr>
            </a:pPr>
            <a:r>
              <a:t>• [Bước 2] Chọn Trạng thái 'Hủy đại hội': </a:t>
            </a:r>
            <a:r>
              <a:rPr sz="1000" b="0">
                <a:solidFill>
                  <a:srgbClr val="1E293B"/>
                </a:solidFill>
                <a:latin typeface="Segoe UI"/>
              </a:rPr>
              <a:t>Cán bộ bấm chọn trạng thái 'Hủy đại hội' trên thẻ lớp.</a:t>
            </a:r>
          </a:p>
          <a:p>
            <a:pPr>
              <a:spcAft>
                <a:spcPts val="600"/>
              </a:spcAft>
              <a:defRPr sz="1000" b="1">
                <a:solidFill>
                  <a:srgbClr val="1E293B"/>
                </a:solidFill>
                <a:latin typeface="Segoe UI"/>
              </a:defRPr>
            </a:pPr>
            <a:r>
              <a:t>• [Bước 3] Nhập Lý do trong Modal Bắt buộc: </a:t>
            </a:r>
            <a:r>
              <a:rPr sz="1000" b="0">
                <a:solidFill>
                  <a:srgbClr val="1E293B"/>
                </a:solidFill>
                <a:latin typeface="Segoe UI"/>
              </a:rPr>
              <a:t>Hệ thống tự động bật hộp thoại Modal chuyên nghiệp: 'Nhập lý do hủy đại hội'. Cán bộ BẮT BUỘC phải nhập rõ nguyên nhân cụ thể (không được để trống).</a:t>
            </a:r>
          </a:p>
          <a:p>
            <a:pPr>
              <a:spcAft>
                <a:spcPts val="600"/>
              </a:spcAft>
              <a:defRPr sz="1000" b="1">
                <a:solidFill>
                  <a:srgbClr val="1E293B"/>
                </a:solidFill>
                <a:latin typeface="Segoe UI"/>
              </a:defRPr>
            </a:pPr>
            <a:r>
              <a:t>• [Bước 4] Xác nhận &amp; Tự động Niêm phong: </a:t>
            </a:r>
            <a:r>
              <a:rPr sz="1000" b="0">
                <a:solidFill>
                  <a:srgbClr val="1E293B"/>
                </a:solidFill>
                <a:latin typeface="Segoe UI"/>
              </a:rPr>
              <a:t>Bấm 'Xác nhận Hủy đại hội'. Hệ thống tự động ghi lý do vào Ghi chú kiểm tra, chuyển màu thẻ sang Màu Tím (Cancelled) và tự động KHÓA LỚP.</a:t>
            </a:r>
          </a:p>
        </p:txBody>
      </p:sp>
      <p:sp>
        <p:nvSpPr>
          <p:cNvPr id="11" name="Rounded Rectangle 10"/>
          <p:cNvSpPr/>
          <p:nvPr/>
        </p:nvSpPr>
        <p:spPr>
          <a:xfrm>
            <a:off x="777240" y="4663440"/>
            <a:ext cx="5029200" cy="1417320"/>
          </a:xfrm>
          <a:prstGeom prst="roundRect">
            <a:avLst/>
          </a:prstGeom>
          <a:solidFill>
            <a:srgbClr val="FEF2F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 y="4773168"/>
            <a:ext cx="4700016" cy="1197864"/>
          </a:xfrm>
          <a:prstGeom prst="rect">
            <a:avLst/>
          </a:prstGeom>
          <a:noFill/>
        </p:spPr>
        <p:txBody>
          <a:bodyPr wrap="square" lIns="0" tIns="0" rIns="0" bIns="0">
            <a:spAutoFit/>
          </a:bodyPr>
          <a:lstStyle/>
          <a:p>
            <a:pPr>
              <a:spcAft>
                <a:spcPts val="300"/>
              </a:spcAft>
              <a:defRPr sz="1000" b="1">
                <a:solidFill>
                  <a:srgbClr val="B91C1C"/>
                </a:solidFill>
                <a:latin typeface="Segoe UI"/>
              </a:defRPr>
            </a:pPr>
            <a:r>
              <a:t>CHỨC NĂNG CÁC NÚT BẤM TRÊN HỘP THOẠI HỦY</a:t>
            </a:r>
          </a:p>
          <a:p>
            <a:pPr>
              <a:defRPr sz="950" b="0">
                <a:solidFill>
                  <a:srgbClr val="1E293B"/>
                </a:solidFill>
                <a:latin typeface="Segoe UI"/>
              </a:defRPr>
            </a:pPr>
            <a:r>
              <a:t>• Nút 'Xác nhận Hủy đại hội': Lưu lý do, đổi trạng thái sang Tím, niêm phong thẻ lớp và phát thông báo điều hành.</a:t>
            </a:r>
            <a:br/>
            <a:r>
              <a:t>• Nút 'Hủy bỏ' [X]: Đóng hộp thoại, giữ nguyên trạng thái cũ của lớp.</a:t>
            </a:r>
            <a:br/>
            <a:r>
              <a:t>• Cảnh báo: Việc hủy đại hội sẽ được ghi vết vĩnh viễn trong Nhật ký Audit Logs.</a:t>
            </a:r>
          </a:p>
        </p:txBody>
      </p:sp>
      <p:sp>
        <p:nvSpPr>
          <p:cNvPr id="13" name="Rounded Rectangle 12"/>
          <p:cNvSpPr/>
          <p:nvPr/>
        </p:nvSpPr>
        <p:spPr>
          <a:xfrm>
            <a:off x="6217920" y="1188720"/>
            <a:ext cx="5394960" cy="2468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1. Hộp thoại Bắt buộc Nhập Lý do Hủy</a:t>
            </a:r>
          </a:p>
        </p:txBody>
      </p:sp>
      <p:pic>
        <p:nvPicPr>
          <p:cNvPr id="15" name="Picture 14" descr="cancel_prompt_modal.png"/>
          <p:cNvPicPr>
            <a:picLocks noChangeAspect="1"/>
          </p:cNvPicPr>
          <p:nvPr/>
        </p:nvPicPr>
        <p:blipFill>
          <a:blip r:embed="rId2"/>
          <a:stretch>
            <a:fillRect/>
          </a:stretch>
        </p:blipFill>
        <p:spPr>
          <a:xfrm>
            <a:off x="8260475" y="1554480"/>
            <a:ext cx="1309849" cy="1920240"/>
          </a:xfrm>
          <a:prstGeom prst="rect">
            <a:avLst/>
          </a:prstGeom>
          <a:ln w="12700">
            <a:solidFill>
              <a:srgbClr val="E2E8F0"/>
            </a:solidFill>
          </a:ln>
        </p:spPr>
      </p:pic>
      <p:sp>
        <p:nvSpPr>
          <p:cNvPr id="16" name="Rounded Rectangle 15"/>
          <p:cNvSpPr/>
          <p:nvPr/>
        </p:nvSpPr>
        <p:spPr>
          <a:xfrm>
            <a:off x="6217920" y="3794760"/>
            <a:ext cx="5394960" cy="2514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3959352"/>
            <a:ext cx="4937760" cy="347472"/>
          </a:xfrm>
          <a:prstGeom prst="rect">
            <a:avLst/>
          </a:prstGeom>
          <a:noFill/>
        </p:spPr>
        <p:txBody>
          <a:bodyPr wrap="square" lIns="0" tIns="0" rIns="0" bIns="0">
            <a:spAutoFit/>
          </a:bodyPr>
          <a:lstStyle/>
          <a:p>
            <a:pPr>
              <a:defRPr sz="1200" b="1">
                <a:solidFill>
                  <a:srgbClr val="0F172A"/>
                </a:solidFill>
                <a:latin typeface="Segoe UI"/>
              </a:defRPr>
            </a:pPr>
            <a:r>
              <a:t>2. Thẻ Lớp chuyển Màu Tím &amp; Niêm phong Lý do</a:t>
            </a:r>
          </a:p>
        </p:txBody>
      </p:sp>
      <p:pic>
        <p:nvPicPr>
          <p:cNvPr id="18" name="Picture 17" descr="cancelled_and_locked_card.png"/>
          <p:cNvPicPr>
            <a:picLocks noChangeAspect="1"/>
          </p:cNvPicPr>
          <p:nvPr/>
        </p:nvPicPr>
        <p:blipFill>
          <a:blip r:embed="rId3"/>
          <a:stretch>
            <a:fillRect/>
          </a:stretch>
        </p:blipFill>
        <p:spPr>
          <a:xfrm>
            <a:off x="7821328" y="4160520"/>
            <a:ext cx="2188143" cy="2011680"/>
          </a:xfrm>
          <a:prstGeom prst="rect">
            <a:avLst/>
          </a:prstGeom>
          <a:ln w="12700">
            <a:solidFill>
              <a:srgbClr val="E2E8F0"/>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TÁC NGHIỆP CÁN BỘ TRỰC LỚP</a:t>
            </a:r>
          </a:p>
          <a:p>
            <a:pPr>
              <a:defRPr sz="1800" b="1">
                <a:solidFill>
                  <a:srgbClr val="FFFFFF"/>
                </a:solidFill>
                <a:latin typeface="Segoe UI"/>
              </a:defRPr>
            </a:pPr>
            <a:r>
              <a:t>CÁN BỘ TRỰC LỚP [6]: NÚT LƯU TIẾN ĐỘ ĐỘC LẬP TỪNG LỚP</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059669"/>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CÁN BỘ TRỰC LỚP</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13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Quy tắc 'Xong Lớp nào Bấm Lưu Lớp đó'</a:t>
            </a:r>
          </a:p>
        </p:txBody>
      </p:sp>
      <p:sp>
        <p:nvSpPr>
          <p:cNvPr id="10" name="TextBox 9"/>
          <p:cNvSpPr txBox="1"/>
          <p:nvPr/>
        </p:nvSpPr>
        <p:spPr>
          <a:xfrm>
            <a:off x="777240" y="1645920"/>
            <a:ext cx="5029200" cy="3291840"/>
          </a:xfrm>
          <a:prstGeom prst="rect">
            <a:avLst/>
          </a:prstGeom>
          <a:noFill/>
        </p:spPr>
        <p:txBody>
          <a:bodyPr wrap="square" lIns="0" tIns="0" rIns="0" bIns="0">
            <a:spAutoFit/>
          </a:bodyPr>
          <a:lstStyle/>
          <a:p>
            <a:pPr>
              <a:spcAft>
                <a:spcPts val="800"/>
              </a:spcAft>
              <a:defRPr sz="1050" b="1">
                <a:solidFill>
                  <a:srgbClr val="1E293B"/>
                </a:solidFill>
                <a:latin typeface="Segoe UI"/>
              </a:defRPr>
            </a:pPr>
            <a:r>
              <a:t>• Vị trí Nút LƯU: </a:t>
            </a:r>
            <a:r>
              <a:rPr sz="1050" b="0">
                <a:solidFill>
                  <a:srgbClr val="1E293B"/>
                </a:solidFill>
                <a:latin typeface="Segoe UI"/>
              </a:rPr>
              <a:t>Nằm ở góc dưới bên trái của mỗi thẻ lớp: Nút màu xanh ngọc có biểu tượng đĩa mềm: [💾 Lưu thông tin lớp].</a:t>
            </a:r>
          </a:p>
          <a:p>
            <a:pPr>
              <a:spcAft>
                <a:spcPts val="800"/>
              </a:spcAft>
              <a:defRPr sz="1050" b="1">
                <a:solidFill>
                  <a:srgbClr val="1E293B"/>
                </a:solidFill>
                <a:latin typeface="Segoe UI"/>
              </a:defRPr>
            </a:pPr>
            <a:r>
              <a:t>• Tác vụ Thực hiện: </a:t>
            </a:r>
            <a:r>
              <a:rPr sz="1050" b="0">
                <a:solidFill>
                  <a:srgbClr val="1E293B"/>
                </a:solidFill>
                <a:latin typeface="Segoe UI"/>
              </a:rPr>
              <a:t>Khi bấm Lưu, hệ thống gửi dữ liệu (Sĩ số, danh mục checklist đã tích, ghi chú kiểm tra) ngay lập tức lên cơ sở dữ liệu máy chủ trung tâm.</a:t>
            </a:r>
          </a:p>
          <a:p>
            <a:pPr>
              <a:spcAft>
                <a:spcPts val="800"/>
              </a:spcAft>
              <a:defRPr sz="1050" b="1">
                <a:solidFill>
                  <a:srgbClr val="1E293B"/>
                </a:solidFill>
                <a:latin typeface="Segoe UI"/>
              </a:defRPr>
            </a:pPr>
            <a:r>
              <a:t>• Cơ chế Lưu Độc lập: </a:t>
            </a:r>
            <a:r>
              <a:rPr sz="1050" b="0">
                <a:solidFill>
                  <a:srgbClr val="1E293B"/>
                </a:solidFill>
                <a:latin typeface="Segoe UI"/>
              </a:rPr>
              <a:t>Mỗi chi đoàn được lưu độc lập, hoàn toàn không phụ thuộc vào các lớp khác trong cùng phòng hay cùng tầng.</a:t>
            </a:r>
          </a:p>
          <a:p>
            <a:pPr>
              <a:spcAft>
                <a:spcPts val="800"/>
              </a:spcAft>
              <a:defRPr sz="1050" b="1">
                <a:solidFill>
                  <a:srgbClr val="1E293B"/>
                </a:solidFill>
                <a:latin typeface="Segoe UI"/>
              </a:defRPr>
            </a:pPr>
            <a:r>
              <a:t>• Phản hồi Thông báo (Toast): </a:t>
            </a:r>
            <a:r>
              <a:rPr sz="1050" b="0">
                <a:solidFill>
                  <a:srgbClr val="1E293B"/>
                </a:solidFill>
                <a:latin typeface="Segoe UI"/>
              </a:rPr>
              <a:t>Màn hình xuất hiện thông báo ngắn màu xanh: 'Đã lưu tiến độ chi đoàn thành công'.</a:t>
            </a:r>
          </a:p>
        </p:txBody>
      </p:sp>
      <p:sp>
        <p:nvSpPr>
          <p:cNvPr id="11" name="Rounded Rectangle 10"/>
          <p:cNvSpPr/>
          <p:nvPr/>
        </p:nvSpPr>
        <p:spPr>
          <a:xfrm>
            <a:off x="777240" y="4572000"/>
            <a:ext cx="5029200" cy="1508760"/>
          </a:xfrm>
          <a:prstGeom prst="roundRect">
            <a:avLst/>
          </a:prstGeom>
          <a:solidFill>
            <a:srgbClr val="FEF2F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 y="4681728"/>
            <a:ext cx="4700016" cy="1289304"/>
          </a:xfrm>
          <a:prstGeom prst="rect">
            <a:avLst/>
          </a:prstGeom>
          <a:noFill/>
        </p:spPr>
        <p:txBody>
          <a:bodyPr wrap="square" lIns="0" tIns="0" rIns="0" bIns="0">
            <a:spAutoFit/>
          </a:bodyPr>
          <a:lstStyle/>
          <a:p>
            <a:pPr>
              <a:spcAft>
                <a:spcPts val="300"/>
              </a:spcAft>
              <a:defRPr sz="1000" b="1">
                <a:solidFill>
                  <a:srgbClr val="B91C1C"/>
                </a:solidFill>
                <a:latin typeface="Segoe UI"/>
              </a:defRPr>
            </a:pPr>
            <a:r>
              <a:t>LƯU Ý NGHIỆP VỤ SỐ 1 CHO CÁN BỘ HIỆN TRƯỜNG</a:t>
            </a:r>
          </a:p>
          <a:p>
            <a:pPr>
              <a:defRPr sz="950" b="0">
                <a:solidFill>
                  <a:srgbClr val="1E293B"/>
                </a:solidFill>
                <a:latin typeface="Segoe UI"/>
              </a:defRPr>
            </a:pPr>
            <a:r>
              <a:t>• BẤM LƯU NHIỀU LẦN: Cán bộ có thể bấm nút Lưu nhiều lần trong suốt quá trình đại hội mà không sợ bị khóa dữ liệu.</a:t>
            </a:r>
            <a:br/>
            <a:r>
              <a:t>• NGUY CƠ NẾU QUÊN LƯU: Nếu thoát trình duyệt hoặc chuyển trang khi chưa bấm Lưu, dữ liệu mới nhập sẽ bị mất.</a:t>
            </a:r>
            <a:br/>
            <a:r>
              <a:t>• NGUYÊN TẮC VÀNG: 'Kiểm tra xong mục nào hoặc xong lớp nào - Chạm ngay nút Lưu lớp đó!'.</a:t>
            </a:r>
          </a:p>
        </p:txBody>
      </p:sp>
      <p:sp>
        <p:nvSpPr>
          <p:cNvPr id="13" name="Rounded Rectangle 12"/>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Vị trí &amp; Giao diện Nút 'Lưu thông tin lớp'</a:t>
            </a:r>
          </a:p>
        </p:txBody>
      </p:sp>
      <p:pic>
        <p:nvPicPr>
          <p:cNvPr id="15" name="Picture 14" descr="real_save_button_focus.png"/>
          <p:cNvPicPr>
            <a:picLocks noChangeAspect="1"/>
          </p:cNvPicPr>
          <p:nvPr/>
        </p:nvPicPr>
        <p:blipFill>
          <a:blip r:embed="rId2"/>
          <a:stretch>
            <a:fillRect/>
          </a:stretch>
        </p:blipFill>
        <p:spPr>
          <a:xfrm>
            <a:off x="6400800" y="2253615"/>
            <a:ext cx="5029200" cy="2807970"/>
          </a:xfrm>
          <a:prstGeom prst="rect">
            <a:avLst/>
          </a:prstGeom>
          <a:ln w="12700">
            <a:solidFill>
              <a:srgbClr val="E2E8F0"/>
            </a:solidFill>
          </a:ln>
        </p:spPr>
      </p:pic>
      <p:sp>
        <p:nvSpPr>
          <p:cNvPr id="16" name="TextBox 15"/>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Nút 'Lưu thông tin lớp' màu trắng viền xám nổi bật ở chân thẻ lớp, ghi nhận tức thời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TÁC NGHIỆP CÁN BỘ TRỰC LỚP</a:t>
            </a:r>
          </a:p>
          <a:p>
            <a:pPr>
              <a:defRPr sz="1800" b="1">
                <a:solidFill>
                  <a:srgbClr val="FFFFFF"/>
                </a:solidFill>
                <a:latin typeface="Segoe UI"/>
              </a:defRPr>
            </a:pPr>
            <a:r>
              <a:t>CÁN BỘ TRỰC LỚP [7]: NÚT KHÓA HỒ SƠ &amp; NIÊM PHONG</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059669"/>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CÁN BỘ TRỰC LỚP</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14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Phân biệt Nút LƯU vs Nút KHÓA &amp; Cơ chế Niêm phong</a:t>
            </a:r>
          </a:p>
        </p:txBody>
      </p:sp>
      <p:sp>
        <p:nvSpPr>
          <p:cNvPr id="10" name="TextBox 9"/>
          <p:cNvSpPr txBox="1"/>
          <p:nvPr/>
        </p:nvSpPr>
        <p:spPr>
          <a:xfrm>
            <a:off x="777240" y="1645920"/>
            <a:ext cx="5029200" cy="3291840"/>
          </a:xfrm>
          <a:prstGeom prst="rect">
            <a:avLst/>
          </a:prstGeom>
          <a:noFill/>
        </p:spPr>
        <p:txBody>
          <a:bodyPr wrap="square" lIns="0" tIns="0" rIns="0" bIns="0">
            <a:spAutoFit/>
          </a:bodyPr>
          <a:lstStyle/>
          <a:p>
            <a:pPr>
              <a:spcAft>
                <a:spcPts val="600"/>
              </a:spcAft>
              <a:defRPr sz="1000" b="1">
                <a:solidFill>
                  <a:srgbClr val="1E293B"/>
                </a:solidFill>
                <a:latin typeface="Segoe UI"/>
              </a:defRPr>
            </a:pPr>
            <a:r>
              <a:t>• Nút KHÓA (Lock): </a:t>
            </a:r>
            <a:r>
              <a:rPr sz="1000" b="0">
                <a:solidFill>
                  <a:srgbClr val="1E293B"/>
                </a:solidFill>
                <a:latin typeface="Segoe UI"/>
              </a:rPr>
              <a:t>Nút màu cam có biểu tượng ổ khóa: [🔒 Khóa hồ sơ &amp; Sĩ số]. Chỉ bấm khi ĐẠI HỘI ĐÃ HOÀN TẤT VÀ KIỂM TRA ĐỦ HỒ SƠ.</a:t>
            </a:r>
          </a:p>
          <a:p>
            <a:pPr>
              <a:spcAft>
                <a:spcPts val="600"/>
              </a:spcAft>
              <a:defRPr sz="1000" b="1">
                <a:solidFill>
                  <a:srgbClr val="1E293B"/>
                </a:solidFill>
                <a:latin typeface="Segoe UI"/>
              </a:defRPr>
            </a:pPr>
            <a:r>
              <a:t>• Hộp thoại Xác nhận Khóa: </a:t>
            </a:r>
            <a:r>
              <a:rPr sz="1000" b="0">
                <a:solidFill>
                  <a:srgbClr val="1E293B"/>
                </a:solidFill>
                <a:latin typeface="Segoe UI"/>
              </a:rPr>
              <a:t>Bấm Khóa sẽ bật Modal xác nhận giải thích: Checklist và sĩ số sẽ bị niêm phong, cán bộ không thể tự sửa nếu chưa có sự cho phép của cấp trên.</a:t>
            </a:r>
          </a:p>
          <a:p>
            <a:pPr>
              <a:spcAft>
                <a:spcPts val="600"/>
              </a:spcAft>
              <a:defRPr sz="1000" b="1">
                <a:solidFill>
                  <a:srgbClr val="1E293B"/>
                </a:solidFill>
                <a:latin typeface="Segoe UI"/>
              </a:defRPr>
            </a:pPr>
            <a:r>
              <a:t>• Dải Banner Niêm phong: </a:t>
            </a:r>
            <a:r>
              <a:rPr sz="1000" b="0">
                <a:solidFill>
                  <a:srgbClr val="1E293B"/>
                </a:solidFill>
                <a:latin typeface="Segoe UI"/>
              </a:rPr>
              <a:t>Thẻ lớp xuất hiện banner xám: 'Hồ sơ và sĩ số đã được lưu &amp; khóa (bởi Cán bộ ABC). Cần cấp trên mở khóa để chỉnh sửa.'</a:t>
            </a:r>
          </a:p>
          <a:p>
            <a:pPr>
              <a:spcAft>
                <a:spcPts val="600"/>
              </a:spcAft>
              <a:defRPr sz="1000" b="1">
                <a:solidFill>
                  <a:srgbClr val="1E293B"/>
                </a:solidFill>
                <a:latin typeface="Segoe UI"/>
              </a:defRPr>
            </a:pPr>
            <a:r>
              <a:t>• ĐẶC QUYỀN ĐIỀU CHỈNH TRẠNG THÁI: </a:t>
            </a:r>
            <a:r>
              <a:rPr sz="1000" b="0">
                <a:solidFill>
                  <a:srgbClr val="1E293B"/>
                </a:solidFill>
                <a:latin typeface="Segoe UI"/>
              </a:rPr>
              <a:t>Sau khi khóa, toàn bộ checklist và sĩ số bị đóng băng, NHƯNG cán bộ VẪN ĐƯỢC PHÉP thay đổi Trạng thái Đại hội nếu cần thiết.</a:t>
            </a:r>
          </a:p>
        </p:txBody>
      </p:sp>
      <p:sp>
        <p:nvSpPr>
          <p:cNvPr id="11" name="Rounded Rectangle 10"/>
          <p:cNvSpPr/>
          <p:nvPr/>
        </p:nvSpPr>
        <p:spPr>
          <a:xfrm>
            <a:off x="777240" y="4572000"/>
            <a:ext cx="5029200" cy="1508760"/>
          </a:xfrm>
          <a:prstGeom prst="roundRect">
            <a:avLst/>
          </a:prstGeom>
          <a:solidFill>
            <a:srgbClr val="FEF2F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 y="4681728"/>
            <a:ext cx="4700016" cy="1289304"/>
          </a:xfrm>
          <a:prstGeom prst="rect">
            <a:avLst/>
          </a:prstGeom>
          <a:noFill/>
        </p:spPr>
        <p:txBody>
          <a:bodyPr wrap="square" lIns="0" tIns="0" rIns="0" bIns="0">
            <a:spAutoFit/>
          </a:bodyPr>
          <a:lstStyle/>
          <a:p>
            <a:pPr>
              <a:spcAft>
                <a:spcPts val="300"/>
              </a:spcAft>
              <a:defRPr sz="1000" b="1">
                <a:solidFill>
                  <a:srgbClr val="B91C1C"/>
                </a:solidFill>
                <a:latin typeface="Segoe UI"/>
              </a:defRPr>
            </a:pPr>
            <a:r>
              <a:t>QUY TẮC MỞ KHÓA (UNLOCK) KHI PHÁT HIỆN SAI SÓT</a:t>
            </a:r>
          </a:p>
          <a:p>
            <a:pPr>
              <a:defRPr sz="950" b="0">
                <a:solidFill>
                  <a:srgbClr val="1E293B"/>
                </a:solidFill>
                <a:latin typeface="Segoe UI"/>
              </a:defRPr>
            </a:pPr>
            <a:r>
              <a:t>• Nếu cán bộ trực lớp phát hiện ghi nhầm sĩ số hoặc thiếu giấy tờ sau khi đã bấm Khóa:</a:t>
            </a:r>
            <a:br/>
            <a:r>
              <a:t>• Cán bộ KHÔNG THỂ tự mở khóa.</a:t>
            </a:r>
            <a:br/>
            <a:r>
              <a:t>• Cán bộ phải liên hệ Phụ trách Tầng / Phụ trách Tòa nhà / Ban Quản trị đến kiểm tra biên bản gốc và bấm nút 'Mở khóa' trên thẻ lớp.</a:t>
            </a:r>
          </a:p>
        </p:txBody>
      </p:sp>
      <p:sp>
        <p:nvSpPr>
          <p:cNvPr id="13" name="Rounded Rectangle 12"/>
          <p:cNvSpPr/>
          <p:nvPr/>
        </p:nvSpPr>
        <p:spPr>
          <a:xfrm>
            <a:off x="6217920" y="1188720"/>
            <a:ext cx="5394960" cy="2468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1. Hộp thoại Xác nhận Niêm phong &amp; Khóa Lớp</a:t>
            </a:r>
          </a:p>
        </p:txBody>
      </p:sp>
      <p:pic>
        <p:nvPicPr>
          <p:cNvPr id="15" name="Picture 14" descr="lock_confirm_modal.png"/>
          <p:cNvPicPr>
            <a:picLocks noChangeAspect="1"/>
          </p:cNvPicPr>
          <p:nvPr/>
        </p:nvPicPr>
        <p:blipFill>
          <a:blip r:embed="rId2"/>
          <a:stretch>
            <a:fillRect/>
          </a:stretch>
        </p:blipFill>
        <p:spPr>
          <a:xfrm>
            <a:off x="8260475" y="1554480"/>
            <a:ext cx="1309849" cy="1920240"/>
          </a:xfrm>
          <a:prstGeom prst="rect">
            <a:avLst/>
          </a:prstGeom>
          <a:ln w="12700">
            <a:solidFill>
              <a:srgbClr val="E2E8F0"/>
            </a:solidFill>
          </a:ln>
        </p:spPr>
      </p:pic>
      <p:sp>
        <p:nvSpPr>
          <p:cNvPr id="16" name="Rounded Rectangle 15"/>
          <p:cNvSpPr/>
          <p:nvPr/>
        </p:nvSpPr>
        <p:spPr>
          <a:xfrm>
            <a:off x="6217920" y="3794760"/>
            <a:ext cx="5394960" cy="2514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3959352"/>
            <a:ext cx="4937760" cy="347472"/>
          </a:xfrm>
          <a:prstGeom prst="rect">
            <a:avLst/>
          </a:prstGeom>
          <a:noFill/>
        </p:spPr>
        <p:txBody>
          <a:bodyPr wrap="square" lIns="0" tIns="0" rIns="0" bIns="0">
            <a:spAutoFit/>
          </a:bodyPr>
          <a:lstStyle/>
          <a:p>
            <a:pPr>
              <a:defRPr sz="1200" b="1">
                <a:solidFill>
                  <a:srgbClr val="0F172A"/>
                </a:solidFill>
                <a:latin typeface="Segoe UI"/>
              </a:defRPr>
            </a:pPr>
            <a:r>
              <a:t>2. Banner Niêm phong &amp; Nút Mở khóa của Cấp trên</a:t>
            </a:r>
          </a:p>
        </p:txBody>
      </p:sp>
      <p:pic>
        <p:nvPicPr>
          <p:cNvPr id="18" name="Picture 17" descr="lock_banner_and_unlock_btn.png"/>
          <p:cNvPicPr>
            <a:picLocks noChangeAspect="1"/>
          </p:cNvPicPr>
          <p:nvPr/>
        </p:nvPicPr>
        <p:blipFill>
          <a:blip r:embed="rId3"/>
          <a:stretch>
            <a:fillRect/>
          </a:stretch>
        </p:blipFill>
        <p:spPr>
          <a:xfrm>
            <a:off x="7053845" y="4160520"/>
            <a:ext cx="3723109" cy="2011680"/>
          </a:xfrm>
          <a:prstGeom prst="rect">
            <a:avLst/>
          </a:prstGeom>
          <a:ln w="12700">
            <a:solidFill>
              <a:srgbClr val="E2E8F0"/>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TÁC NGHIỆP PHỤ TRÁCH TẦNG</a:t>
            </a:r>
          </a:p>
          <a:p>
            <a:pPr>
              <a:defRPr sz="1800" b="1">
                <a:solidFill>
                  <a:srgbClr val="FFFFFF"/>
                </a:solidFill>
                <a:latin typeface="Segoe UI"/>
              </a:defRPr>
            </a:pPr>
            <a:r>
              <a:t>PHỤ TRÁCH TẦNG: GIÁM SÁT TẦNG &amp; QUYỀN MỞ KHÓA</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D97706"/>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PHỤ TRÁCH TẦNG</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15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Trách nhiệm Điều hành Tầng &amp; Thẩm quyền Mở khóa</a:t>
            </a:r>
          </a:p>
        </p:txBody>
      </p:sp>
      <p:sp>
        <p:nvSpPr>
          <p:cNvPr id="10" name="TextBox 9"/>
          <p:cNvSpPr txBox="1"/>
          <p:nvPr/>
        </p:nvSpPr>
        <p:spPr>
          <a:xfrm>
            <a:off x="777240" y="1645920"/>
            <a:ext cx="5029200" cy="4389120"/>
          </a:xfrm>
          <a:prstGeom prst="rect">
            <a:avLst/>
          </a:prstGeom>
          <a:noFill/>
        </p:spPr>
        <p:txBody>
          <a:bodyPr wrap="square" lIns="0" tIns="0" rIns="0" bIns="0">
            <a:spAutoFit/>
          </a:bodyPr>
          <a:lstStyle/>
          <a:p>
            <a:pPr>
              <a:spcAft>
                <a:spcPts val="800"/>
              </a:spcAft>
              <a:defRPr sz="1050" b="1">
                <a:solidFill>
                  <a:srgbClr val="1E293B"/>
                </a:solidFill>
                <a:latin typeface="Segoe UI"/>
              </a:defRPr>
            </a:pPr>
            <a:r>
              <a:t>• [Bước 1] Đăng nhập Tài khoản Phụ trách Tầng: </a:t>
            </a:r>
            <a:r>
              <a:rPr sz="1050" b="0">
                <a:solidFill>
                  <a:srgbClr val="1E293B"/>
                </a:solidFill>
                <a:latin typeface="Segoe UI"/>
              </a:rPr>
              <a:t>Hệ thống tự động kích hoạt quyền quản trị trên toàn bộ các phòng học và chi đoàn thuộc tầng được phân công.</a:t>
            </a:r>
          </a:p>
          <a:p>
            <a:pPr>
              <a:spcAft>
                <a:spcPts val="800"/>
              </a:spcAft>
              <a:defRPr sz="1050" b="1">
                <a:solidFill>
                  <a:srgbClr val="1E293B"/>
                </a:solidFill>
                <a:latin typeface="Segoe UI"/>
              </a:defRPr>
            </a:pPr>
            <a:r>
              <a:t>• [Bước 2] Theo dõi Tiến độ Tổng thể của Tầng: </a:t>
            </a:r>
            <a:r>
              <a:rPr sz="1050" b="0">
                <a:solidFill>
                  <a:srgbClr val="1E293B"/>
                </a:solidFill>
                <a:latin typeface="Segoe UI"/>
              </a:rPr>
              <a:t>Quan sát thanh thống kê tầng để nắm bắt: Có bao nhiêu lớp chưa họp, bao nhiêu lớp đang họp, bao nhiêu lớp đã xong, lớp nào bị chậm tiến độ.</a:t>
            </a:r>
          </a:p>
          <a:p>
            <a:pPr>
              <a:spcAft>
                <a:spcPts val="800"/>
              </a:spcAft>
              <a:defRPr sz="1050" b="1">
                <a:solidFill>
                  <a:srgbClr val="1E293B"/>
                </a:solidFill>
                <a:latin typeface="Segoe UI"/>
              </a:defRPr>
            </a:pPr>
            <a:r>
              <a:t>• [Bước 3] Điều phối Cán bộ Hỗ trợ Hiện trường: </a:t>
            </a:r>
            <a:r>
              <a:rPr sz="1050" b="0">
                <a:solidFill>
                  <a:srgbClr val="1E293B"/>
                </a:solidFill>
                <a:latin typeface="Segoe UI"/>
              </a:rPr>
              <a:t>Phát hiện các phòng có sĩ số đông hoặc thời gian bầu cử kéo dài để phân công thêm nhân sự hỗ trợ kiểm phiếu và kiểm tra hồ sơ.</a:t>
            </a:r>
          </a:p>
          <a:p>
            <a:pPr>
              <a:spcAft>
                <a:spcPts val="800"/>
              </a:spcAft>
              <a:defRPr sz="1050" b="1">
                <a:solidFill>
                  <a:srgbClr val="1E293B"/>
                </a:solidFill>
                <a:latin typeface="Segoe UI"/>
              </a:defRPr>
            </a:pPr>
            <a:r>
              <a:t>• [Bước 4] Thực hiện Thẩm quyền MỞ KHÓA (Unlock): </a:t>
            </a:r>
            <a:r>
              <a:rPr sz="1050" b="0">
                <a:solidFill>
                  <a:srgbClr val="1E293B"/>
                </a:solidFill>
                <a:latin typeface="Segoe UI"/>
              </a:rPr>
              <a:t>Khi cán bộ trực lớp báo cáo sai số liệu cần sửa:
1. Phụ trách Tầng trực tiếp kiểm tra biên bản giấy của chi đoàn.
2. Nếu đúng, bấm nút 'Mở khóa' [🔓 Mở khóa] trên banner niêm phong.
3. Hệ thống mở khóa tức thì, cho phép cán bộ trực cập nhật lại dữ liệu.</a:t>
            </a:r>
          </a:p>
          <a:p>
            <a:pPr>
              <a:spcAft>
                <a:spcPts val="800"/>
              </a:spcAft>
              <a:defRPr sz="1050" b="1">
                <a:solidFill>
                  <a:srgbClr val="1E293B"/>
                </a:solidFill>
                <a:latin typeface="Segoe UI"/>
              </a:defRPr>
            </a:pPr>
            <a:r>
              <a:t>• Quy định Phân cấp: </a:t>
            </a:r>
            <a:r>
              <a:rPr sz="1050" b="0">
                <a:solidFill>
                  <a:srgbClr val="1E293B"/>
                </a:solidFill>
                <a:latin typeface="Segoe UI"/>
              </a:rPr>
              <a:t>Nút 'Mở khóa' CHỈ hiển thị với Phụ trách Tầng, Phụ trách Tòa và Ban Quản trị. Cán bộ trực lớp bình thường không có nút này.</a:t>
            </a:r>
          </a:p>
        </p:txBody>
      </p:sp>
      <p:sp>
        <p:nvSpPr>
          <p:cNvPr id="11" name="Rounded Rectangle 10"/>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Giao diện Banner Khóa &amp; Nút Mở khóa Phân quyền</a:t>
            </a:r>
          </a:p>
        </p:txBody>
      </p:sp>
      <p:pic>
        <p:nvPicPr>
          <p:cNvPr id="13" name="Picture 12" descr="lock_banner_and_unlock_btn.png"/>
          <p:cNvPicPr>
            <a:picLocks noChangeAspect="1"/>
          </p:cNvPicPr>
          <p:nvPr/>
        </p:nvPicPr>
        <p:blipFill>
          <a:blip r:embed="rId2"/>
          <a:stretch>
            <a:fillRect/>
          </a:stretch>
        </p:blipFill>
        <p:spPr>
          <a:xfrm>
            <a:off x="6400800" y="2298904"/>
            <a:ext cx="5029200" cy="2717390"/>
          </a:xfrm>
          <a:prstGeom prst="rect">
            <a:avLst/>
          </a:prstGeom>
          <a:ln w="12700">
            <a:solidFill>
              <a:srgbClr val="E2E8F0"/>
            </a:solidFill>
          </a:ln>
        </p:spPr>
      </p:pic>
      <p:sp>
        <p:nvSpPr>
          <p:cNvPr id="14" name="TextBox 13"/>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Nút 'Mở khóa' độc quyền dành cho cấp quản lý để gỡ niêm phong khi cần sửa dữ liệu</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TÁC NGHIỆP PHỤ TRÁCH TÒA</a:t>
            </a:r>
          </a:p>
          <a:p>
            <a:pPr>
              <a:defRPr sz="1800" b="1">
                <a:solidFill>
                  <a:srgbClr val="FFFFFF"/>
                </a:solidFill>
                <a:latin typeface="Segoe UI"/>
              </a:defRPr>
            </a:pPr>
            <a:r>
              <a:t>PHỤ TRÁCH TÒA NHÀ &amp; ĐƠN VỊ: ĐIỀU HÀNH CỤM PHÒNG</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7C3AED"/>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PHỤ TRÁCH TÒA NHÀ</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16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Quy trình Điều hành Đơn vị &amp; Cụm Tòa nhà</a:t>
            </a:r>
          </a:p>
        </p:txBody>
      </p:sp>
      <p:sp>
        <p:nvSpPr>
          <p:cNvPr id="10" name="TextBox 9"/>
          <p:cNvSpPr txBox="1"/>
          <p:nvPr/>
        </p:nvSpPr>
        <p:spPr>
          <a:xfrm>
            <a:off x="777240" y="1645920"/>
            <a:ext cx="5029200" cy="4389120"/>
          </a:xfrm>
          <a:prstGeom prst="rect">
            <a:avLst/>
          </a:prstGeom>
          <a:noFill/>
        </p:spPr>
        <p:txBody>
          <a:bodyPr wrap="square" lIns="0" tIns="0" rIns="0" bIns="0">
            <a:spAutoFit/>
          </a:bodyPr>
          <a:lstStyle/>
          <a:p>
            <a:pPr>
              <a:spcAft>
                <a:spcPts val="800"/>
              </a:spcAft>
              <a:defRPr sz="1050" b="1">
                <a:solidFill>
                  <a:srgbClr val="1E293B"/>
                </a:solidFill>
                <a:latin typeface="Segoe UI"/>
              </a:defRPr>
            </a:pPr>
            <a:r>
              <a:t>• [Bước 1] Chọn Đơn vị trên Thanh Sidebar: </a:t>
            </a:r>
            <a:r>
              <a:rPr sz="1050" b="0">
                <a:solidFill>
                  <a:srgbClr val="1E293B"/>
                </a:solidFill>
                <a:latin typeface="Segoe UI"/>
              </a:rPr>
              <a:t>Chọn Liên chi đoàn (VD: Trường Điện-Điện tử, Trường Cơ khí...) hoặc cụm Tòa nhà (Tòa D3, D5, D7...) phụ trách.</a:t>
            </a:r>
          </a:p>
          <a:p>
            <a:pPr>
              <a:spcAft>
                <a:spcPts val="800"/>
              </a:spcAft>
              <a:defRPr sz="1050" b="1">
                <a:solidFill>
                  <a:srgbClr val="1E293B"/>
                </a:solidFill>
                <a:latin typeface="Segoe UI"/>
              </a:defRPr>
            </a:pPr>
            <a:r>
              <a:t>• [Bước 2] Bao quát Bức tranh Toàn Tòa: </a:t>
            </a:r>
            <a:r>
              <a:rPr sz="1050" b="0">
                <a:solidFill>
                  <a:srgbClr val="1E293B"/>
                </a:solidFill>
                <a:latin typeface="Segoe UI"/>
              </a:rPr>
              <a:t>Theo dõi đồng thời tiến độ của tất cả các tầng học trong tòa nhà; quan sát tỷ lệ phần trăm hoàn thành chung của toàn đơn vị trên Topbar.</a:t>
            </a:r>
          </a:p>
          <a:p>
            <a:pPr>
              <a:spcAft>
                <a:spcPts val="800"/>
              </a:spcAft>
              <a:defRPr sz="1050" b="1">
                <a:solidFill>
                  <a:srgbClr val="1E293B"/>
                </a:solidFill>
                <a:latin typeface="Segoe UI"/>
              </a:defRPr>
            </a:pPr>
            <a:r>
              <a:t>• [Bước 3] Thẩm quyền Mở khóa Bao trùm: </a:t>
            </a:r>
            <a:r>
              <a:rPr sz="1050" b="0">
                <a:solidFill>
                  <a:srgbClr val="1E293B"/>
                </a:solidFill>
                <a:latin typeface="Segoe UI"/>
              </a:rPr>
              <a:t>Phụ trách Tòa nhà có quyền Mở khóa cho bất kỳ chi đoàn nào trong phạm vi tòa nhà/đơn vị khi Phụ trách Tầng vắng mặt hoặc bận việc.</a:t>
            </a:r>
          </a:p>
          <a:p>
            <a:pPr>
              <a:spcAft>
                <a:spcPts val="800"/>
              </a:spcAft>
              <a:defRPr sz="1050" b="1">
                <a:solidFill>
                  <a:srgbClr val="1E293B"/>
                </a:solidFill>
                <a:latin typeface="Segoe UI"/>
              </a:defRPr>
            </a:pPr>
            <a:r>
              <a:t>• [Bước 4] Báo cáo Ban Chỉ đạo Đại hội Trường: </a:t>
            </a:r>
            <a:r>
              <a:rPr sz="1050" b="0">
                <a:solidFill>
                  <a:srgbClr val="1E293B"/>
                </a:solidFill>
                <a:latin typeface="Segoe UI"/>
              </a:rPr>
              <a:t>Tổng hợp nhanh các trường hợp hủy đại hội hoặc chi đoàn phát sinh sự cố về nhân sự để báo cáo trực tiếp Thường trực Đoàn trường.</a:t>
            </a:r>
          </a:p>
          <a:p>
            <a:pPr>
              <a:spcAft>
                <a:spcPts val="800"/>
              </a:spcAft>
              <a:defRPr sz="1050" b="1">
                <a:solidFill>
                  <a:srgbClr val="1E293B"/>
                </a:solidFill>
                <a:latin typeface="Segoe UI"/>
              </a:defRPr>
            </a:pPr>
            <a:r>
              <a:t>• Gửi Thông báo Cấp Đơn vị: </a:t>
            </a:r>
            <a:r>
              <a:rPr sz="1050" b="0">
                <a:solidFill>
                  <a:srgbClr val="1E293B"/>
                </a:solidFill>
                <a:latin typeface="Segoe UI"/>
              </a:rPr>
              <a:t>Sử dụng tính năng thông báo để phát mệnh lệnh điều hành tới toàn bộ cán bộ trực trong tòa nhà cùng lúc.</a:t>
            </a:r>
          </a:p>
        </p:txBody>
      </p:sp>
      <p:sp>
        <p:nvSpPr>
          <p:cNvPr id="11" name="Rounded Rectangle 10"/>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Bảng Giám sát Đa tầng Toàn diện Toàn Tòa nhà</a:t>
            </a:r>
          </a:p>
        </p:txBody>
      </p:sp>
      <p:pic>
        <p:nvPicPr>
          <p:cNvPr id="13" name="Picture 12" descr="real_building_floors.png"/>
          <p:cNvPicPr>
            <a:picLocks noChangeAspect="1"/>
          </p:cNvPicPr>
          <p:nvPr/>
        </p:nvPicPr>
        <p:blipFill>
          <a:blip r:embed="rId2"/>
          <a:stretch>
            <a:fillRect/>
          </a:stretch>
        </p:blipFill>
        <p:spPr>
          <a:xfrm>
            <a:off x="6400800" y="2430780"/>
            <a:ext cx="5029200" cy="2453640"/>
          </a:xfrm>
          <a:prstGeom prst="rect">
            <a:avLst/>
          </a:prstGeom>
          <a:ln w="12700">
            <a:solidFill>
              <a:srgbClr val="E2E8F0"/>
            </a:solidFill>
          </a:ln>
        </p:spPr>
      </p:pic>
      <p:sp>
        <p:nvSpPr>
          <p:cNvPr id="14" name="TextBox 13"/>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Bảng Giám sát Đa tầng Tòa D9: Theo dõi đồng thời từ Tầng 1 đến Tầng 10 và các phòng học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TRUYỀN THÔNG ĐIỀU HÀNH</a:t>
            </a:r>
          </a:p>
          <a:p>
            <a:pPr>
              <a:defRPr sz="1800" b="1">
                <a:solidFill>
                  <a:srgbClr val="FFFFFF"/>
                </a:solidFill>
                <a:latin typeface="Segoe UI"/>
              </a:defRPr>
            </a:pPr>
            <a:r>
              <a:t>TRUNG TÂM THÔNG BÁO ĐA CẤP &amp; CẢNH BÁO TỨC THỜI</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B91C1C"/>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CÁN BỘ CÁC CẤP</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17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Quy trình Phát Thông báo &amp; Nhận Cảnh báo Khẩn cấp</a:t>
            </a:r>
          </a:p>
        </p:txBody>
      </p:sp>
      <p:sp>
        <p:nvSpPr>
          <p:cNvPr id="10" name="TextBox 9"/>
          <p:cNvSpPr txBox="1"/>
          <p:nvPr/>
        </p:nvSpPr>
        <p:spPr>
          <a:xfrm>
            <a:off x="777240" y="1645920"/>
            <a:ext cx="5029200" cy="3291840"/>
          </a:xfrm>
          <a:prstGeom prst="rect">
            <a:avLst/>
          </a:prstGeom>
          <a:noFill/>
        </p:spPr>
        <p:txBody>
          <a:bodyPr wrap="square" lIns="0" tIns="0" rIns="0" bIns="0">
            <a:spAutoFit/>
          </a:bodyPr>
          <a:lstStyle/>
          <a:p>
            <a:pPr>
              <a:spcAft>
                <a:spcPts val="600"/>
              </a:spcAft>
              <a:defRPr sz="1000" b="1">
                <a:solidFill>
                  <a:srgbClr val="1E293B"/>
                </a:solidFill>
                <a:latin typeface="Segoe UI"/>
              </a:defRPr>
            </a:pPr>
            <a:r>
              <a:t>• [Bước 1] Mở Trung tâm Thông báo: </a:t>
            </a:r>
            <a:r>
              <a:rPr sz="1000" b="0">
                <a:solidFill>
                  <a:srgbClr val="1E293B"/>
                </a:solidFill>
                <a:latin typeface="Segoe UI"/>
              </a:rPr>
              <a:t>Bấm vào biểu tượng Chuông [🔔] trên Header. Nút có huy hiệu đỏ hiển thị số lượng tin nhắn chưa đọc.</a:t>
            </a:r>
          </a:p>
          <a:p>
            <a:pPr>
              <a:spcAft>
                <a:spcPts val="600"/>
              </a:spcAft>
              <a:defRPr sz="1000" b="1">
                <a:solidFill>
                  <a:srgbClr val="1E293B"/>
                </a:solidFill>
                <a:latin typeface="Segoe UI"/>
              </a:defRPr>
            </a:pPr>
            <a:r>
              <a:t>• [Bước 2] Chọn Phạm vi Phân cấp Phát thông báo: </a:t>
            </a:r>
            <a:r>
              <a:rPr sz="1000" b="0">
                <a:solidFill>
                  <a:srgbClr val="1E293B"/>
                </a:solidFill>
                <a:latin typeface="Segoe UI"/>
              </a:rPr>
              <a:t>Khi soạn thông báo, chọn đúng phạm vi:
• Toàn trường: Chỉ Ban Quản trị Admin được gửi.
• Một Tòa nhà: Dành cho Phụ trách Tòa nhà.
• Một Tầng: Dành cho Phụ trách Tầng.
• Cá nhân: Gửi đích danh cho 1 cán bộ cụ thể.</a:t>
            </a:r>
          </a:p>
          <a:p>
            <a:pPr>
              <a:spcAft>
                <a:spcPts val="600"/>
              </a:spcAft>
              <a:defRPr sz="1000" b="1">
                <a:solidFill>
                  <a:srgbClr val="1E293B"/>
                </a:solidFill>
                <a:latin typeface="Segoe UI"/>
              </a:defRPr>
            </a:pPr>
            <a:r>
              <a:t>• [Bước 3] Chọn Mức độ Ưu tiên: </a:t>
            </a:r>
            <a:r>
              <a:rPr sz="1000" b="0">
                <a:solidFill>
                  <a:srgbClr val="1E293B"/>
                </a:solidFill>
                <a:latin typeface="Segoe UI"/>
              </a:rPr>
              <a:t>Gồm 3 mức: Thông thường, Quan trọng và KHẨN CẤP (Urgent).</a:t>
            </a:r>
          </a:p>
          <a:p>
            <a:pPr>
              <a:spcAft>
                <a:spcPts val="600"/>
              </a:spcAft>
              <a:defRPr sz="1000" b="1">
                <a:solidFill>
                  <a:srgbClr val="1E293B"/>
                </a:solidFill>
                <a:latin typeface="Segoe UI"/>
              </a:defRPr>
            </a:pPr>
            <a:r>
              <a:t>• [Bước 4] Cơ chế Pop-up Cảnh báo Khẩn cấp (Incoming Alert): </a:t>
            </a:r>
            <a:r>
              <a:rPr sz="1000" b="0">
                <a:solidFill>
                  <a:srgbClr val="1E293B"/>
                </a:solidFill>
                <a:latin typeface="Segoe UI"/>
              </a:rPr>
              <a:t>Khi có thông báo 'Khẩn cấp', màn hình của người nhận sẽ lập tức bật Pop-up Cảnh báo màu đỏ rực kèm âm thanh, bảo đảm không ai bị sót tin.</a:t>
            </a:r>
          </a:p>
        </p:txBody>
      </p:sp>
      <p:sp>
        <p:nvSpPr>
          <p:cNvPr id="11" name="Rounded Rectangle 10"/>
          <p:cNvSpPr/>
          <p:nvPr/>
        </p:nvSpPr>
        <p:spPr>
          <a:xfrm>
            <a:off x="777240" y="4663440"/>
            <a:ext cx="5029200" cy="1417320"/>
          </a:xfrm>
          <a:prstGeom prst="roundRect">
            <a:avLst/>
          </a:prstGeom>
          <a:solidFill>
            <a:srgbClr val="FEF2F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 y="4773168"/>
            <a:ext cx="4700016" cy="1197864"/>
          </a:xfrm>
          <a:prstGeom prst="rect">
            <a:avLst/>
          </a:prstGeom>
          <a:noFill/>
        </p:spPr>
        <p:txBody>
          <a:bodyPr wrap="square" lIns="0" tIns="0" rIns="0" bIns="0">
            <a:spAutoFit/>
          </a:bodyPr>
          <a:lstStyle/>
          <a:p>
            <a:pPr>
              <a:spcAft>
                <a:spcPts val="300"/>
              </a:spcAft>
              <a:defRPr sz="1000" b="1">
                <a:solidFill>
                  <a:srgbClr val="B91C1C"/>
                </a:solidFill>
                <a:latin typeface="Segoe UI"/>
              </a:defRPr>
            </a:pPr>
            <a:r>
              <a:t>CÁC NÚT BẤM CHÍNH TRONG TRUNG TÂM THÔNG BÁO</a:t>
            </a:r>
          </a:p>
          <a:p>
            <a:pPr>
              <a:defRPr sz="950" b="0">
                <a:solidFill>
                  <a:srgbClr val="1E293B"/>
                </a:solidFill>
                <a:latin typeface="Segoe UI"/>
              </a:defRPr>
            </a:pPr>
            <a:r>
              <a:t>• Nút Chuông [🔔]: Mở danh sách thông báo và bộ đếm tin chưa đọc.</a:t>
            </a:r>
            <a:br/>
            <a:r>
              <a:t>• Tab 'Soạn thông báo': Dành cho cấp quản trị tạo tin điều hành.</a:t>
            </a:r>
            <a:br/>
            <a:r>
              <a:t>• Nút 'Phát thông báo ngay': Gửi tin tức thời qua Server-Sent Events dưới 0.1 giây.</a:t>
            </a:r>
            <a:br/>
            <a:r>
              <a:t>• Nút 'Đã hiểu và Đóng': Đóng pop-up cảnh báo khẩn cấp trên màn hình.</a:t>
            </a:r>
          </a:p>
        </p:txBody>
      </p:sp>
      <p:sp>
        <p:nvSpPr>
          <p:cNvPr id="13" name="Rounded Rectangle 12"/>
          <p:cNvSpPr/>
          <p:nvPr/>
        </p:nvSpPr>
        <p:spPr>
          <a:xfrm>
            <a:off x="6217920" y="1188720"/>
            <a:ext cx="5394960" cy="2468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1. Giao diện Soạn Thông báo Đa cấp</a:t>
            </a:r>
          </a:p>
        </p:txBody>
      </p:sp>
      <p:pic>
        <p:nvPicPr>
          <p:cNvPr id="15" name="Picture 14" descr="notif_desktop_compose.png"/>
          <p:cNvPicPr>
            <a:picLocks noChangeAspect="1"/>
          </p:cNvPicPr>
          <p:nvPr/>
        </p:nvPicPr>
        <p:blipFill>
          <a:blip r:embed="rId2"/>
          <a:stretch>
            <a:fillRect/>
          </a:stretch>
        </p:blipFill>
        <p:spPr>
          <a:xfrm>
            <a:off x="7023491" y="1554480"/>
            <a:ext cx="3783817" cy="1920240"/>
          </a:xfrm>
          <a:prstGeom prst="rect">
            <a:avLst/>
          </a:prstGeom>
          <a:ln w="12700">
            <a:solidFill>
              <a:srgbClr val="E2E8F0"/>
            </a:solidFill>
          </a:ln>
        </p:spPr>
      </p:pic>
      <p:sp>
        <p:nvSpPr>
          <p:cNvPr id="16" name="Rounded Rectangle 15"/>
          <p:cNvSpPr/>
          <p:nvPr/>
        </p:nvSpPr>
        <p:spPr>
          <a:xfrm>
            <a:off x="6217920" y="3794760"/>
            <a:ext cx="5394960" cy="2514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3959352"/>
            <a:ext cx="4937760" cy="347472"/>
          </a:xfrm>
          <a:prstGeom prst="rect">
            <a:avLst/>
          </a:prstGeom>
          <a:noFill/>
        </p:spPr>
        <p:txBody>
          <a:bodyPr wrap="square" lIns="0" tIns="0" rIns="0" bIns="0">
            <a:spAutoFit/>
          </a:bodyPr>
          <a:lstStyle/>
          <a:p>
            <a:pPr>
              <a:defRPr sz="1200" b="1">
                <a:solidFill>
                  <a:srgbClr val="0F172A"/>
                </a:solidFill>
                <a:latin typeface="Segoe UI"/>
              </a:defRPr>
            </a:pPr>
            <a:r>
              <a:t>2. Pop-up Cảnh báo Khẩn cấp Tức thời</a:t>
            </a:r>
          </a:p>
        </p:txBody>
      </p:sp>
      <p:pic>
        <p:nvPicPr>
          <p:cNvPr id="18" name="Picture 17" descr="notif_incoming_alert.png"/>
          <p:cNvPicPr>
            <a:picLocks noChangeAspect="1"/>
          </p:cNvPicPr>
          <p:nvPr/>
        </p:nvPicPr>
        <p:blipFill>
          <a:blip r:embed="rId3"/>
          <a:stretch>
            <a:fillRect/>
          </a:stretch>
        </p:blipFill>
        <p:spPr>
          <a:xfrm>
            <a:off x="8229288" y="4160520"/>
            <a:ext cx="1372223" cy="2011680"/>
          </a:xfrm>
          <a:prstGeom prst="rect">
            <a:avLst/>
          </a:prstGeom>
          <a:ln w="12700">
            <a:solidFill>
              <a:srgbClr val="E2E8F0"/>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QUẢN TRỊ HỆ THỐNG</a:t>
            </a:r>
          </a:p>
          <a:p>
            <a:pPr>
              <a:defRPr sz="1800" b="1">
                <a:solidFill>
                  <a:srgbClr val="FFFFFF"/>
                </a:solidFill>
                <a:latin typeface="Segoe UI"/>
              </a:defRPr>
            </a:pPr>
            <a:r>
              <a:t>BAN QUẢN TRỊ [1]: QUẢN LÝ TÀI KHOẢN &amp; PHÂN QUYỀN</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B91C1C"/>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BAN QUẢN TRỊ ADMIN</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18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Quản lý Nhân sự, Cấp lại Mật khẩu &amp; Magic Link</a:t>
            </a:r>
          </a:p>
        </p:txBody>
      </p:sp>
      <p:sp>
        <p:nvSpPr>
          <p:cNvPr id="10" name="TextBox 9"/>
          <p:cNvSpPr txBox="1"/>
          <p:nvPr/>
        </p:nvSpPr>
        <p:spPr>
          <a:xfrm>
            <a:off x="777240" y="1645920"/>
            <a:ext cx="5029200" cy="3291840"/>
          </a:xfrm>
          <a:prstGeom prst="rect">
            <a:avLst/>
          </a:prstGeom>
          <a:noFill/>
        </p:spPr>
        <p:txBody>
          <a:bodyPr wrap="square" lIns="0" tIns="0" rIns="0" bIns="0">
            <a:spAutoFit/>
          </a:bodyPr>
          <a:lstStyle/>
          <a:p>
            <a:pPr>
              <a:spcAft>
                <a:spcPts val="600"/>
              </a:spcAft>
              <a:defRPr sz="1000" b="1">
                <a:solidFill>
                  <a:srgbClr val="1E293B"/>
                </a:solidFill>
                <a:latin typeface="Segoe UI"/>
              </a:defRPr>
            </a:pPr>
            <a:r>
              <a:t>• [Bước 1] Truy cập Trang Quản lý: </a:t>
            </a:r>
            <a:r>
              <a:rPr sz="1000" b="0">
                <a:solidFill>
                  <a:srgbClr val="1E293B"/>
                </a:solidFill>
                <a:latin typeface="Segoe UI"/>
              </a:rPr>
              <a:t>Admin bấm vào mục 'Quản lý (Manage)' trên menu điều hướng để vào trung tâm điều hành nhân sự.</a:t>
            </a:r>
          </a:p>
          <a:p>
            <a:pPr>
              <a:spcAft>
                <a:spcPts val="600"/>
              </a:spcAft>
              <a:defRPr sz="1000" b="1">
                <a:solidFill>
                  <a:srgbClr val="1E293B"/>
                </a:solidFill>
                <a:latin typeface="Segoe UI"/>
              </a:defRPr>
            </a:pPr>
            <a:r>
              <a:t>• [Bước 2] Thêm Cán bộ &amp; Phân quyền: </a:t>
            </a:r>
            <a:r>
              <a:rPr sz="1000" b="0">
                <a:solidFill>
                  <a:srgbClr val="1E293B"/>
                </a:solidFill>
                <a:latin typeface="Segoe UI"/>
              </a:rPr>
              <a:t>Bấm nút 'Thêm Cán bộ', nhập email @sis.hust.edu.vn và chọn vai trò (Cán bộ trực lớp, Phụ trách Tầng, Phụ trách Tòa nhà, Admin).</a:t>
            </a:r>
          </a:p>
          <a:p>
            <a:pPr>
              <a:spcAft>
                <a:spcPts val="600"/>
              </a:spcAft>
              <a:defRPr sz="1000" b="1">
                <a:solidFill>
                  <a:srgbClr val="1E293B"/>
                </a:solidFill>
                <a:latin typeface="Segoe UI"/>
              </a:defRPr>
            </a:pPr>
            <a:r>
              <a:t>• [Bước 3] Phân công Phòng học &amp; Tầng nhà: </a:t>
            </a:r>
            <a:r>
              <a:rPr sz="1000" b="0">
                <a:solidFill>
                  <a:srgbClr val="1E293B"/>
                </a:solidFill>
                <a:latin typeface="Segoe UI"/>
              </a:rPr>
              <a:t>Gán danh sách các chi đoàn hoặc tầng cụ thể mà cán bộ đó được phép phụ trách chỉnh sửa.</a:t>
            </a:r>
          </a:p>
          <a:p>
            <a:pPr>
              <a:spcAft>
                <a:spcPts val="600"/>
              </a:spcAft>
              <a:defRPr sz="1000" b="1">
                <a:solidFill>
                  <a:srgbClr val="1E293B"/>
                </a:solidFill>
                <a:latin typeface="Segoe UI"/>
              </a:defRPr>
            </a:pPr>
            <a:r>
              <a:t>• [Bước 4] Nút Đặt lại Mật khẩu [KeyRound]: </a:t>
            </a:r>
            <a:r>
              <a:rPr sz="1000" b="0">
                <a:solidFill>
                  <a:srgbClr val="1E293B"/>
                </a:solidFill>
                <a:latin typeface="Segoe UI"/>
              </a:rPr>
              <a:t>Khi cán bộ quên mật khẩu, Admin bấm nút biểu tượng Chìa khóa để khôi phục mật khẩu mặc định ngay lập tức.</a:t>
            </a:r>
          </a:p>
        </p:txBody>
      </p:sp>
      <p:sp>
        <p:nvSpPr>
          <p:cNvPr id="11" name="Rounded Rectangle 10"/>
          <p:cNvSpPr/>
          <p:nvPr/>
        </p:nvSpPr>
        <p:spPr>
          <a:xfrm>
            <a:off x="777240" y="4480560"/>
            <a:ext cx="5029200" cy="1600200"/>
          </a:xfrm>
          <a:prstGeom prst="roundRect">
            <a:avLst/>
          </a:prstGeom>
          <a:solidFill>
            <a:srgbClr val="FEF2F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 y="4590288"/>
            <a:ext cx="4700016" cy="923330"/>
          </a:xfrm>
          <a:prstGeom prst="rect">
            <a:avLst/>
          </a:prstGeom>
          <a:noFill/>
        </p:spPr>
        <p:txBody>
          <a:bodyPr wrap="square" lIns="0" tIns="0" rIns="0" bIns="0">
            <a:spAutoFit/>
          </a:bodyPr>
          <a:lstStyle/>
          <a:p>
            <a:pPr>
              <a:spcAft>
                <a:spcPts val="300"/>
              </a:spcAft>
              <a:defRPr sz="1000" b="1">
                <a:solidFill>
                  <a:srgbClr val="B91C1C"/>
                </a:solidFill>
                <a:latin typeface="Segoe UI"/>
              </a:defRPr>
            </a:pPr>
            <a:r>
              <a:rPr dirty="0"/>
              <a:t>TÍNH NĂNG ĐĂNG NHẬP 1-CHẠM (MAGIC LINK) &amp; BẢO VỆ TÀI KHOẢN</a:t>
            </a:r>
          </a:p>
          <a:p>
            <a:pPr>
              <a:defRPr sz="950" b="0">
                <a:solidFill>
                  <a:srgbClr val="1E293B"/>
                </a:solidFill>
                <a:latin typeface="Segoe UI"/>
              </a:defRPr>
            </a:pPr>
            <a:r>
              <a:rPr dirty="0"/>
              <a:t>• NÚT TẠO LINK [Link]: Admin </a:t>
            </a:r>
            <a:r>
              <a:rPr dirty="0" err="1"/>
              <a:t>bấm</a:t>
            </a:r>
            <a:r>
              <a:rPr dirty="0"/>
              <a:t> </a:t>
            </a:r>
            <a:r>
              <a:rPr dirty="0" err="1"/>
              <a:t>tạo</a:t>
            </a:r>
            <a:r>
              <a:rPr dirty="0"/>
              <a:t> link </a:t>
            </a:r>
            <a:r>
              <a:rPr dirty="0" err="1"/>
              <a:t>đăng</a:t>
            </a:r>
            <a:r>
              <a:rPr dirty="0"/>
              <a:t> </a:t>
            </a:r>
            <a:r>
              <a:rPr dirty="0" err="1"/>
              <a:t>nhập</a:t>
            </a:r>
            <a:r>
              <a:rPr dirty="0"/>
              <a:t> </a:t>
            </a:r>
            <a:r>
              <a:rPr dirty="0" err="1"/>
              <a:t>nhanh</a:t>
            </a:r>
            <a:r>
              <a:rPr dirty="0"/>
              <a:t> 1-chạm </a:t>
            </a:r>
            <a:r>
              <a:rPr dirty="0" err="1"/>
              <a:t>gửi</a:t>
            </a:r>
            <a:r>
              <a:rPr dirty="0"/>
              <a:t> qua </a:t>
            </a:r>
            <a:r>
              <a:rPr dirty="0" err="1"/>
              <a:t>Zalo</a:t>
            </a:r>
            <a:r>
              <a:rPr dirty="0"/>
              <a:t>. </a:t>
            </a:r>
            <a:r>
              <a:rPr dirty="0" err="1"/>
              <a:t>Cán</a:t>
            </a:r>
            <a:r>
              <a:rPr dirty="0"/>
              <a:t> </a:t>
            </a:r>
            <a:r>
              <a:rPr dirty="0" err="1"/>
              <a:t>bộ</a:t>
            </a:r>
            <a:r>
              <a:rPr dirty="0"/>
              <a:t> </a:t>
            </a:r>
            <a:r>
              <a:rPr dirty="0" err="1"/>
              <a:t>chỉ</a:t>
            </a:r>
            <a:r>
              <a:rPr dirty="0"/>
              <a:t> </a:t>
            </a:r>
            <a:r>
              <a:rPr dirty="0" err="1"/>
              <a:t>cần</a:t>
            </a:r>
            <a:r>
              <a:rPr dirty="0"/>
              <a:t> </a:t>
            </a:r>
            <a:r>
              <a:rPr dirty="0" err="1"/>
              <a:t>chạm</a:t>
            </a:r>
            <a:r>
              <a:rPr dirty="0"/>
              <a:t> </a:t>
            </a:r>
            <a:r>
              <a:rPr dirty="0" err="1"/>
              <a:t>vào</a:t>
            </a:r>
            <a:r>
              <a:rPr dirty="0"/>
              <a:t> link </a:t>
            </a:r>
            <a:r>
              <a:rPr dirty="0" err="1"/>
              <a:t>là</a:t>
            </a:r>
            <a:r>
              <a:rPr dirty="0"/>
              <a:t> </a:t>
            </a:r>
            <a:r>
              <a:rPr dirty="0" err="1"/>
              <a:t>tự</a:t>
            </a:r>
            <a:r>
              <a:rPr dirty="0"/>
              <a:t> </a:t>
            </a:r>
            <a:r>
              <a:rPr dirty="0" err="1"/>
              <a:t>động</a:t>
            </a:r>
            <a:r>
              <a:rPr dirty="0"/>
              <a:t> </a:t>
            </a:r>
            <a:r>
              <a:rPr dirty="0" err="1"/>
              <a:t>đăng</a:t>
            </a:r>
            <a:r>
              <a:rPr dirty="0"/>
              <a:t> </a:t>
            </a:r>
            <a:r>
              <a:rPr dirty="0" err="1"/>
              <a:t>nhập</a:t>
            </a:r>
            <a:r>
              <a:rPr dirty="0"/>
              <a:t> </a:t>
            </a:r>
            <a:r>
              <a:rPr dirty="0" err="1"/>
              <a:t>đúng</a:t>
            </a:r>
            <a:r>
              <a:rPr dirty="0"/>
              <a:t> </a:t>
            </a:r>
            <a:r>
              <a:rPr dirty="0" err="1"/>
              <a:t>quyền</a:t>
            </a:r>
            <a:r>
              <a:rPr dirty="0"/>
              <a:t> </a:t>
            </a:r>
            <a:r>
              <a:rPr dirty="0" err="1"/>
              <a:t>mà</a:t>
            </a:r>
            <a:r>
              <a:rPr dirty="0"/>
              <a:t> </a:t>
            </a:r>
            <a:r>
              <a:rPr dirty="0" err="1"/>
              <a:t>không</a:t>
            </a:r>
            <a:r>
              <a:rPr dirty="0"/>
              <a:t> </a:t>
            </a:r>
            <a:r>
              <a:rPr dirty="0" err="1"/>
              <a:t>cần</a:t>
            </a:r>
            <a:r>
              <a:rPr dirty="0"/>
              <a:t> </a:t>
            </a:r>
            <a:r>
              <a:rPr dirty="0" err="1"/>
              <a:t>gõ</a:t>
            </a:r>
            <a:r>
              <a:rPr dirty="0"/>
              <a:t> </a:t>
            </a:r>
            <a:r>
              <a:rPr dirty="0" err="1"/>
              <a:t>mật</a:t>
            </a:r>
            <a:r>
              <a:rPr dirty="0"/>
              <a:t> </a:t>
            </a:r>
            <a:r>
              <a:rPr dirty="0" err="1"/>
              <a:t>khẩu</a:t>
            </a:r>
            <a:r>
              <a:rPr dirty="0"/>
              <a:t>.</a:t>
            </a:r>
            <a:br>
              <a:rPr dirty="0"/>
            </a:br>
            <a:r>
              <a:rPr dirty="0"/>
              <a:t>• BẢO VỆ TÀI KHOẢN ADMIN: </a:t>
            </a:r>
            <a:r>
              <a:rPr dirty="0" err="1"/>
              <a:t>Hệ</a:t>
            </a:r>
            <a:r>
              <a:rPr dirty="0"/>
              <a:t> </a:t>
            </a:r>
            <a:r>
              <a:rPr dirty="0" err="1"/>
              <a:t>thống</a:t>
            </a:r>
            <a:r>
              <a:rPr dirty="0"/>
              <a:t> </a:t>
            </a:r>
            <a:r>
              <a:rPr dirty="0" err="1"/>
              <a:t>khóa</a:t>
            </a:r>
            <a:r>
              <a:rPr dirty="0"/>
              <a:t> </a:t>
            </a:r>
            <a:r>
              <a:rPr dirty="0" err="1"/>
              <a:t>cứng</a:t>
            </a:r>
            <a:r>
              <a:rPr dirty="0"/>
              <a:t>, </a:t>
            </a:r>
            <a:r>
              <a:rPr dirty="0" err="1"/>
              <a:t>không</a:t>
            </a:r>
            <a:r>
              <a:rPr dirty="0"/>
              <a:t> ai </a:t>
            </a:r>
            <a:r>
              <a:rPr dirty="0" err="1"/>
              <a:t>có</a:t>
            </a:r>
            <a:r>
              <a:rPr dirty="0"/>
              <a:t> </a:t>
            </a:r>
            <a:r>
              <a:rPr dirty="0" err="1"/>
              <a:t>thể</a:t>
            </a:r>
            <a:r>
              <a:rPr dirty="0"/>
              <a:t> </a:t>
            </a:r>
            <a:r>
              <a:rPr dirty="0" err="1"/>
              <a:t>xóa</a:t>
            </a:r>
            <a:r>
              <a:rPr dirty="0"/>
              <a:t> </a:t>
            </a:r>
            <a:r>
              <a:rPr dirty="0" err="1"/>
              <a:t>tài</a:t>
            </a:r>
            <a:r>
              <a:rPr dirty="0"/>
              <a:t> </a:t>
            </a:r>
            <a:r>
              <a:rPr dirty="0" err="1"/>
              <a:t>khoản</a:t>
            </a:r>
            <a:r>
              <a:rPr dirty="0"/>
              <a:t> Quản </a:t>
            </a:r>
            <a:r>
              <a:rPr dirty="0" err="1"/>
              <a:t>trị</a:t>
            </a:r>
            <a:r>
              <a:rPr dirty="0"/>
              <a:t> </a:t>
            </a:r>
            <a:r>
              <a:rPr dirty="0" err="1"/>
              <a:t>viên</a:t>
            </a:r>
            <a:r>
              <a:rPr dirty="0"/>
              <a:t> </a:t>
            </a:r>
            <a:r>
              <a:rPr dirty="0" err="1"/>
              <a:t>vĩnh</a:t>
            </a:r>
            <a:r>
              <a:rPr dirty="0"/>
              <a:t> </a:t>
            </a:r>
            <a:r>
              <a:rPr dirty="0" err="1"/>
              <a:t>viễn</a:t>
            </a:r>
            <a:endParaRPr dirty="0"/>
          </a:p>
        </p:txBody>
      </p:sp>
      <p:sp>
        <p:nvSpPr>
          <p:cNvPr id="13" name="Rounded Rectangle 12"/>
          <p:cNvSpPr/>
          <p:nvPr/>
        </p:nvSpPr>
        <p:spPr>
          <a:xfrm>
            <a:off x="6217920" y="1188720"/>
            <a:ext cx="539496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Giao diện Quản trị Nhân sự &amp; Phân quyền Cán bộ</a:t>
            </a:r>
          </a:p>
        </p:txBody>
      </p:sp>
      <p:pic>
        <p:nvPicPr>
          <p:cNvPr id="15" name="Picture 14" descr="real_manage_users_page.png"/>
          <p:cNvPicPr>
            <a:picLocks noChangeAspect="1"/>
          </p:cNvPicPr>
          <p:nvPr/>
        </p:nvPicPr>
        <p:blipFill>
          <a:blip r:embed="rId2"/>
          <a:stretch>
            <a:fillRect/>
          </a:stretch>
        </p:blipFill>
        <p:spPr>
          <a:xfrm>
            <a:off x="6400800" y="2462348"/>
            <a:ext cx="5029200" cy="2390502"/>
          </a:xfrm>
          <a:prstGeom prst="rect">
            <a:avLst/>
          </a:prstGeom>
          <a:ln w="12700">
            <a:solidFill>
              <a:srgbClr val="E2E8F0"/>
            </a:solidFill>
          </a:ln>
        </p:spPr>
      </p:pic>
      <p:sp>
        <p:nvSpPr>
          <p:cNvPr id="16" name="TextBox 15"/>
          <p:cNvSpPr txBox="1"/>
          <p:nvPr/>
        </p:nvSpPr>
        <p:spPr>
          <a:xfrm>
            <a:off x="6400800" y="5852160"/>
            <a:ext cx="5029200" cy="365760"/>
          </a:xfrm>
          <a:prstGeom prst="rect">
            <a:avLst/>
          </a:prstGeom>
          <a:noFill/>
        </p:spPr>
        <p:txBody>
          <a:bodyPr wrap="square" lIns="0" tIns="0" rIns="0" bIns="0">
            <a:spAutoFit/>
          </a:bodyPr>
          <a:lstStyle/>
          <a:p>
            <a:pPr>
              <a:defRPr sz="950" i="1">
                <a:solidFill>
                  <a:srgbClr val="64748B"/>
                </a:solidFill>
                <a:latin typeface="Segoe UI"/>
              </a:defRPr>
            </a:pPr>
            <a:r>
              <a:t>📷 Trung tâm Quản trị Cán bộ: Phân cấp vai trò, Magic Link 1-chạm &amp; Đặt lại mật khẩu</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QUẢN TRỊ HỆ THỐNG</a:t>
            </a:r>
          </a:p>
          <a:p>
            <a:pPr>
              <a:defRPr sz="1800" b="1">
                <a:solidFill>
                  <a:srgbClr val="FFFFFF"/>
                </a:solidFill>
                <a:latin typeface="Segoe UI"/>
              </a:defRPr>
            </a:pPr>
            <a:r>
              <a:t>BAN QUẢN TRỊ [2]: MA TRẬN TIẾN ĐỘ, EXCEL &amp; AUDIT LOGS</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B91C1C"/>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BAN QUẢN TRỊ ADMIN</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19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Ma trận Tổng thể, Nhập Excel &amp; Nhật ký Hoạt động (Logs)</a:t>
            </a:r>
          </a:p>
        </p:txBody>
      </p:sp>
      <p:sp>
        <p:nvSpPr>
          <p:cNvPr id="10" name="TextBox 9"/>
          <p:cNvSpPr txBox="1"/>
          <p:nvPr/>
        </p:nvSpPr>
        <p:spPr>
          <a:xfrm>
            <a:off x="777240" y="1645920"/>
            <a:ext cx="5029200" cy="3291840"/>
          </a:xfrm>
          <a:prstGeom prst="rect">
            <a:avLst/>
          </a:prstGeom>
          <a:noFill/>
        </p:spPr>
        <p:txBody>
          <a:bodyPr wrap="square" lIns="0" tIns="0" rIns="0" bIns="0">
            <a:spAutoFit/>
          </a:bodyPr>
          <a:lstStyle/>
          <a:p>
            <a:pPr>
              <a:spcAft>
                <a:spcPts val="600"/>
              </a:spcAft>
              <a:defRPr sz="1000" b="1">
                <a:solidFill>
                  <a:srgbClr val="1E293B"/>
                </a:solidFill>
                <a:latin typeface="Segoe UI"/>
              </a:defRPr>
            </a:pPr>
            <a:r>
              <a:t>• Bảng Thống kê Ma trận Tổng thể: </a:t>
            </a:r>
            <a:r>
              <a:rPr sz="1000" b="0">
                <a:solidFill>
                  <a:srgbClr val="1E293B"/>
                </a:solidFill>
                <a:latin typeface="Segoe UI"/>
              </a:rPr>
              <a:t>Bảng ma trận tổng hợp đa chiều tỷ lệ hoàn thành theo từng Khoa/Viện/Trường, phục vụ báo cáo nhanh cho Ban Thường vụ Đoàn trường.</a:t>
            </a:r>
          </a:p>
          <a:p>
            <a:pPr>
              <a:spcAft>
                <a:spcPts val="600"/>
              </a:spcAft>
              <a:defRPr sz="1000" b="1">
                <a:solidFill>
                  <a:srgbClr val="1E293B"/>
                </a:solidFill>
                <a:latin typeface="Segoe UI"/>
              </a:defRPr>
            </a:pPr>
            <a:r>
              <a:t>• Nút Nhập Danh sách từ Excel: </a:t>
            </a:r>
            <a:r>
              <a:rPr sz="1000" b="0">
                <a:solidFill>
                  <a:srgbClr val="1E293B"/>
                </a:solidFill>
                <a:latin typeface="Segoe UI"/>
              </a:rPr>
              <a:t>Admin có thể tải file danh sách phòng học, chi đoàn và phân công cán bộ từ Excel để khởi tạo tự động 500+ lớp chỉ trong 3 giây.</a:t>
            </a:r>
          </a:p>
          <a:p>
            <a:pPr>
              <a:spcAft>
                <a:spcPts val="600"/>
              </a:spcAft>
              <a:defRPr sz="1000" b="1">
                <a:solidFill>
                  <a:srgbClr val="1E293B"/>
                </a:solidFill>
                <a:latin typeface="Segoe UI"/>
              </a:defRPr>
            </a:pPr>
            <a:r>
              <a:t>• NHẬT KÝ HOẠT ĐỘNG (AUDIT LOGS) TRÊN SIDEBAR: </a:t>
            </a:r>
            <a:r>
              <a:rPr sz="1000" b="0">
                <a:solidFill>
                  <a:srgbClr val="1E293B"/>
                </a:solidFill>
                <a:latin typeface="Segoe UI"/>
              </a:rPr>
              <a:t>Mục 'Nhật ký hoạt động' nằm ở thanh Sidebar (hỗ trợ cả giao diện PC và Mobile dạng Card).</a:t>
            </a:r>
          </a:p>
          <a:p>
            <a:pPr>
              <a:spcAft>
                <a:spcPts val="600"/>
              </a:spcAft>
              <a:defRPr sz="1000" b="1">
                <a:solidFill>
                  <a:srgbClr val="1E293B"/>
                </a:solidFill>
                <a:latin typeface="Segoe UI"/>
              </a:defRPr>
            </a:pPr>
            <a:r>
              <a:t>• Truy vết Minh bạch Mọi Thao tác: </a:t>
            </a:r>
            <a:r>
              <a:rPr sz="1000" b="0">
                <a:solidFill>
                  <a:srgbClr val="1E293B"/>
                </a:solidFill>
                <a:latin typeface="Segoe UI"/>
              </a:rPr>
              <a:t>Ghi nhận đầy đủ: Ai thao tác (email/tên), Lúc mấy giờ (giờ:phút:giây), Ở lớp nào, Hành động gì (Sửa sĩ số, Tick checklist, Lưu, Khóa, Mở khóa, Hủy đại hội).</a:t>
            </a:r>
          </a:p>
        </p:txBody>
      </p:sp>
      <p:sp>
        <p:nvSpPr>
          <p:cNvPr id="11" name="Rounded Rectangle 10"/>
          <p:cNvSpPr/>
          <p:nvPr/>
        </p:nvSpPr>
        <p:spPr>
          <a:xfrm>
            <a:off x="777240" y="4572000"/>
            <a:ext cx="5029200" cy="1508760"/>
          </a:xfrm>
          <a:prstGeom prst="roundRect">
            <a:avLst/>
          </a:prstGeom>
          <a:solidFill>
            <a:srgbClr val="FEF2F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 y="4681728"/>
            <a:ext cx="4700016" cy="1289304"/>
          </a:xfrm>
          <a:prstGeom prst="rect">
            <a:avLst/>
          </a:prstGeom>
          <a:noFill/>
        </p:spPr>
        <p:txBody>
          <a:bodyPr wrap="square" lIns="0" tIns="0" rIns="0" bIns="0">
            <a:spAutoFit/>
          </a:bodyPr>
          <a:lstStyle/>
          <a:p>
            <a:pPr>
              <a:spcAft>
                <a:spcPts val="300"/>
              </a:spcAft>
              <a:defRPr sz="1000" b="1">
                <a:solidFill>
                  <a:srgbClr val="B91C1C"/>
                </a:solidFill>
                <a:latin typeface="Segoe UI"/>
              </a:defRPr>
            </a:pPr>
            <a:r>
              <a:t>GIÁ TRỊ KIỂM TOÁN CỦA HỆ THỐNG AUDIT LOGS</a:t>
            </a:r>
          </a:p>
          <a:p>
            <a:pPr>
              <a:defRPr sz="950" b="0">
                <a:solidFill>
                  <a:srgbClr val="1E293B"/>
                </a:solidFill>
                <a:latin typeface="Segoe UI"/>
              </a:defRPr>
            </a:pPr>
            <a:r>
              <a:t>• Không thể chối bỏ: Mọi hành vi sửa đổi dữ liệu đều được lưu vết vĩnh viễn trong cơ sở dữ liệu SQLite ACID.</a:t>
            </a:r>
            <a:br/>
            <a:r>
              <a:t>• Phát hiện gian lận: Cảnh báo ngay nếu có sự can thiệp trái phép hoặc sửa đổi sau giờ bế mạc.</a:t>
            </a:r>
            <a:br/>
            <a:r>
              <a:t>• Tối ưu Mobile: Cán bộ quản lý xem nhật ký dạng thẻ vuốt mượt mà trên điện thoại.</a:t>
            </a:r>
          </a:p>
        </p:txBody>
      </p:sp>
      <p:sp>
        <p:nvSpPr>
          <p:cNvPr id="13" name="Rounded Rectangle 12"/>
          <p:cNvSpPr/>
          <p:nvPr/>
        </p:nvSpPr>
        <p:spPr>
          <a:xfrm>
            <a:off x="6217920" y="1188720"/>
            <a:ext cx="5394960" cy="2468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1. Nhật ký Hoạt động (Audit Logs) trên Desktop</a:t>
            </a:r>
          </a:p>
        </p:txBody>
      </p:sp>
      <p:pic>
        <p:nvPicPr>
          <p:cNvPr id="15" name="Picture 14" descr="audit_logs.png"/>
          <p:cNvPicPr>
            <a:picLocks noChangeAspect="1"/>
          </p:cNvPicPr>
          <p:nvPr/>
        </p:nvPicPr>
        <p:blipFill>
          <a:blip r:embed="rId2"/>
          <a:stretch>
            <a:fillRect/>
          </a:stretch>
        </p:blipFill>
        <p:spPr>
          <a:xfrm>
            <a:off x="6726052" y="1554480"/>
            <a:ext cx="4378694" cy="1920240"/>
          </a:xfrm>
          <a:prstGeom prst="rect">
            <a:avLst/>
          </a:prstGeom>
          <a:ln w="12700">
            <a:solidFill>
              <a:srgbClr val="E2E8F0"/>
            </a:solidFill>
          </a:ln>
        </p:spPr>
      </p:pic>
      <p:sp>
        <p:nvSpPr>
          <p:cNvPr id="16" name="Rounded Rectangle 15"/>
          <p:cNvSpPr/>
          <p:nvPr/>
        </p:nvSpPr>
        <p:spPr>
          <a:xfrm>
            <a:off x="6217920" y="3794760"/>
            <a:ext cx="5394960" cy="2514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3959352"/>
            <a:ext cx="4937760" cy="347472"/>
          </a:xfrm>
          <a:prstGeom prst="rect">
            <a:avLst/>
          </a:prstGeom>
          <a:noFill/>
        </p:spPr>
        <p:txBody>
          <a:bodyPr wrap="square" lIns="0" tIns="0" rIns="0" bIns="0">
            <a:spAutoFit/>
          </a:bodyPr>
          <a:lstStyle/>
          <a:p>
            <a:pPr>
              <a:defRPr sz="1200" b="1">
                <a:solidFill>
                  <a:srgbClr val="0F172A"/>
                </a:solidFill>
                <a:latin typeface="Segoe UI"/>
              </a:defRPr>
            </a:pPr>
            <a:r>
              <a:t>2. Nhật ký Hoạt động Dạng Card trên Mobile</a:t>
            </a:r>
          </a:p>
        </p:txBody>
      </p:sp>
      <p:pic>
        <p:nvPicPr>
          <p:cNvPr id="18" name="Picture 17" descr="mobile_audit_logs_cards.png"/>
          <p:cNvPicPr>
            <a:picLocks noChangeAspect="1"/>
          </p:cNvPicPr>
          <p:nvPr/>
        </p:nvPicPr>
        <p:blipFill>
          <a:blip r:embed="rId3"/>
          <a:stretch>
            <a:fillRect/>
          </a:stretch>
        </p:blipFill>
        <p:spPr>
          <a:xfrm>
            <a:off x="8225052" y="4160520"/>
            <a:ext cx="1380694" cy="2011680"/>
          </a:xfrm>
          <a:prstGeom prst="rect">
            <a:avLst/>
          </a:prstGeom>
          <a:ln w="12700">
            <a:solidFill>
              <a:srgbClr val="E2E8F0"/>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wrap="square" lIns="731520" tIns="146304" rIns="2926080" bIns="0" rtlCol="0" anchor="ctr"/>
          <a:lstStyle/>
          <a:p>
            <a:pPr algn="ctr">
              <a:defRPr sz="950" b="1">
                <a:solidFill>
                  <a:srgbClr val="FEE2E2"/>
                </a:solidFill>
                <a:latin typeface="Segoe UI"/>
              </a:defRPr>
            </a:pPr>
            <a:r>
              <a:t>VẬN HÀNH KHẨN CẤP</a:t>
            </a:r>
          </a:p>
          <a:p>
            <a:pPr>
              <a:defRPr sz="1800" b="1">
                <a:solidFill>
                  <a:srgbClr val="FFFFFF"/>
                </a:solidFill>
                <a:latin typeface="Segoe UI"/>
              </a:defRPr>
            </a:pPr>
            <a:r>
              <a:t>QUY TRÌNH XỬ LÝ SỰ CỐ HIỆN TRƯỜNG &amp; ĐẦU MỐI CHỈ HUY</a:t>
            </a:r>
          </a:p>
        </p:txBody>
      </p:sp>
      <p:sp>
        <p:nvSpPr>
          <p:cNvPr id="3" name="Rectangle 2"/>
          <p:cNvSpPr/>
          <p:nvPr/>
        </p:nvSpPr>
        <p:spPr>
          <a:xfrm>
            <a:off x="0" y="1051560"/>
            <a:ext cx="1219169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320040"/>
            <a:ext cx="2194560" cy="384048"/>
          </a:xfrm>
          <a:prstGeom prst="roundRect">
            <a:avLst/>
          </a:prstGeom>
          <a:solidFill>
            <a:srgbClr val="475569"/>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1000" b="1">
                <a:solidFill>
                  <a:srgbClr val="FFFFFF"/>
                </a:solidFill>
                <a:latin typeface="Segoe UI"/>
              </a:defRPr>
            </a:pPr>
            <a:r>
              <a:t>TOÀN THỂ NGƯỜI DÙNG</a:t>
            </a:r>
          </a:p>
        </p:txBody>
      </p:sp>
      <p:sp>
        <p:nvSpPr>
          <p:cNvPr id="5" name="Rectangle 4"/>
          <p:cNvSpPr/>
          <p:nvPr/>
        </p:nvSpPr>
        <p:spPr>
          <a:xfrm>
            <a:off x="0" y="6446520"/>
            <a:ext cx="12191695"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492240"/>
            <a:ext cx="8686800" cy="320040"/>
          </a:xfrm>
          <a:prstGeom prst="rect">
            <a:avLst/>
          </a:prstGeom>
          <a:noFill/>
        </p:spPr>
        <p:txBody>
          <a:bodyPr wrap="none" lIns="0" tIns="0" rIns="0" bIns="0">
            <a:spAutoFit/>
          </a:bodyPr>
          <a:lstStyle/>
          <a:p>
            <a:pPr>
              <a:defRPr sz="900">
                <a:solidFill>
                  <a:srgbClr val="94A3B8"/>
                </a:solidFill>
                <a:latin typeface="Segoe UI"/>
              </a:defRPr>
            </a:pPr>
            <a:r>
              <a:t>Ban Tổ chức - Kiểm tra Đoàn ĐHBK Hà Nội • Hệ thống Theo dõi Đại hội Chi đoàn • https://event-tracker-pied.vercel.app/</a:t>
            </a:r>
          </a:p>
        </p:txBody>
      </p:sp>
      <p:sp>
        <p:nvSpPr>
          <p:cNvPr id="7" name="TextBox 6"/>
          <p:cNvSpPr txBox="1"/>
          <p:nvPr/>
        </p:nvSpPr>
        <p:spPr>
          <a:xfrm>
            <a:off x="10241280" y="6492240"/>
            <a:ext cx="1188720" cy="320040"/>
          </a:xfrm>
          <a:prstGeom prst="rect">
            <a:avLst/>
          </a:prstGeom>
          <a:noFill/>
        </p:spPr>
        <p:txBody>
          <a:bodyPr wrap="none" lIns="0" tIns="0" rIns="0" bIns="0">
            <a:spAutoFit/>
          </a:bodyPr>
          <a:lstStyle/>
          <a:p>
            <a:pPr algn="r">
              <a:defRPr sz="950" b="1">
                <a:solidFill>
                  <a:srgbClr val="FFFFFF"/>
                </a:solidFill>
                <a:latin typeface="Segoe UI"/>
              </a:defRPr>
            </a:pPr>
            <a:r>
              <a:t>20 / 20</a:t>
            </a:r>
          </a:p>
        </p:txBody>
      </p:sp>
      <p:sp>
        <p:nvSpPr>
          <p:cNvPr id="8" name="Rounded Rectangle 7"/>
          <p:cNvSpPr/>
          <p:nvPr/>
        </p:nvSpPr>
        <p:spPr>
          <a:xfrm>
            <a:off x="548640" y="1188720"/>
            <a:ext cx="5486400" cy="5120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353312"/>
            <a:ext cx="5029200" cy="347472"/>
          </a:xfrm>
          <a:prstGeom prst="rect">
            <a:avLst/>
          </a:prstGeom>
          <a:noFill/>
        </p:spPr>
        <p:txBody>
          <a:bodyPr wrap="square" lIns="0" tIns="0" rIns="0" bIns="0">
            <a:spAutoFit/>
          </a:bodyPr>
          <a:lstStyle/>
          <a:p>
            <a:pPr>
              <a:defRPr sz="1200" b="1">
                <a:solidFill>
                  <a:srgbClr val="0F172A"/>
                </a:solidFill>
                <a:latin typeface="Segoe UI"/>
              </a:defRPr>
            </a:pPr>
            <a:r>
              <a:t>Kịch bản 4 Tình huống Sự cố Thường gặp &amp; Cách Xử lý</a:t>
            </a:r>
          </a:p>
        </p:txBody>
      </p:sp>
      <p:sp>
        <p:nvSpPr>
          <p:cNvPr id="10" name="TextBox 9"/>
          <p:cNvSpPr txBox="1"/>
          <p:nvPr/>
        </p:nvSpPr>
        <p:spPr>
          <a:xfrm>
            <a:off x="777240" y="1645920"/>
            <a:ext cx="5029200" cy="4389120"/>
          </a:xfrm>
          <a:prstGeom prst="rect">
            <a:avLst/>
          </a:prstGeom>
          <a:noFill/>
        </p:spPr>
        <p:txBody>
          <a:bodyPr wrap="square" lIns="0" tIns="0" rIns="0" bIns="0">
            <a:spAutoFit/>
          </a:bodyPr>
          <a:lstStyle/>
          <a:p>
            <a:pPr>
              <a:spcAft>
                <a:spcPts val="800"/>
              </a:spcAft>
              <a:defRPr sz="1050" b="1">
                <a:solidFill>
                  <a:srgbClr val="1E293B"/>
                </a:solidFill>
                <a:latin typeface="Segoe UI"/>
              </a:defRPr>
            </a:pPr>
            <a:r>
              <a:rPr dirty="0"/>
              <a:t>• [</a:t>
            </a:r>
            <a:r>
              <a:rPr dirty="0" err="1"/>
              <a:t>Tình</a:t>
            </a:r>
            <a:r>
              <a:rPr dirty="0"/>
              <a:t> </a:t>
            </a:r>
            <a:r>
              <a:rPr dirty="0" err="1"/>
              <a:t>huống</a:t>
            </a:r>
            <a:r>
              <a:rPr dirty="0"/>
              <a:t> 1] </a:t>
            </a:r>
            <a:r>
              <a:rPr dirty="0" err="1"/>
              <a:t>Mất</a:t>
            </a:r>
            <a:r>
              <a:rPr dirty="0"/>
              <a:t> </a:t>
            </a:r>
            <a:r>
              <a:rPr dirty="0" err="1"/>
              <a:t>mạng</a:t>
            </a:r>
            <a:r>
              <a:rPr dirty="0"/>
              <a:t> </a:t>
            </a:r>
            <a:r>
              <a:rPr dirty="0" err="1"/>
              <a:t>Wifi</a:t>
            </a:r>
            <a:r>
              <a:rPr dirty="0"/>
              <a:t> / </a:t>
            </a:r>
            <a:r>
              <a:rPr dirty="0" err="1"/>
              <a:t>Sóng</a:t>
            </a:r>
            <a:r>
              <a:rPr dirty="0"/>
              <a:t> 4G </a:t>
            </a:r>
            <a:r>
              <a:rPr dirty="0" err="1"/>
              <a:t>yếu</a:t>
            </a:r>
            <a:r>
              <a:rPr dirty="0"/>
              <a:t>: </a:t>
            </a:r>
            <a:r>
              <a:rPr sz="1050" b="0" dirty="0" err="1">
                <a:solidFill>
                  <a:srgbClr val="1E293B"/>
                </a:solidFill>
                <a:latin typeface="Segoe UI"/>
              </a:rPr>
              <a:t>Hệ</a:t>
            </a:r>
            <a:r>
              <a:rPr sz="1050" b="0" dirty="0">
                <a:solidFill>
                  <a:srgbClr val="1E293B"/>
                </a:solidFill>
                <a:latin typeface="Segoe UI"/>
              </a:rPr>
              <a:t> </a:t>
            </a:r>
            <a:r>
              <a:rPr sz="1050" b="0" dirty="0" err="1">
                <a:solidFill>
                  <a:srgbClr val="1E293B"/>
                </a:solidFill>
                <a:latin typeface="Segoe UI"/>
              </a:rPr>
              <a:t>thống</a:t>
            </a:r>
            <a:r>
              <a:rPr sz="1050" b="0" dirty="0">
                <a:solidFill>
                  <a:srgbClr val="1E293B"/>
                </a:solidFill>
                <a:latin typeface="Segoe UI"/>
              </a:rPr>
              <a:t> </a:t>
            </a:r>
            <a:r>
              <a:rPr sz="1050" b="0" dirty="0" err="1">
                <a:solidFill>
                  <a:srgbClr val="1E293B"/>
                </a:solidFill>
                <a:latin typeface="Segoe UI"/>
              </a:rPr>
              <a:t>hỗ</a:t>
            </a:r>
            <a:r>
              <a:rPr sz="1050" b="0" dirty="0">
                <a:solidFill>
                  <a:srgbClr val="1E293B"/>
                </a:solidFill>
                <a:latin typeface="Segoe UI"/>
              </a:rPr>
              <a:t> </a:t>
            </a:r>
            <a:r>
              <a:rPr sz="1050" b="0" dirty="0" err="1">
                <a:solidFill>
                  <a:srgbClr val="1E293B"/>
                </a:solidFill>
                <a:latin typeface="Segoe UI"/>
              </a:rPr>
              <a:t>trợ</a:t>
            </a:r>
            <a:r>
              <a:rPr sz="1050" b="0" dirty="0">
                <a:solidFill>
                  <a:srgbClr val="1E293B"/>
                </a:solidFill>
                <a:latin typeface="Segoe UI"/>
              </a:rPr>
              <a:t> </a:t>
            </a:r>
            <a:r>
              <a:rPr sz="1050" b="0" dirty="0" err="1">
                <a:solidFill>
                  <a:srgbClr val="1E293B"/>
                </a:solidFill>
                <a:latin typeface="Segoe UI"/>
              </a:rPr>
              <a:t>cơ</a:t>
            </a:r>
            <a:r>
              <a:rPr sz="1050" b="0" dirty="0">
                <a:solidFill>
                  <a:srgbClr val="1E293B"/>
                </a:solidFill>
                <a:latin typeface="Segoe UI"/>
              </a:rPr>
              <a:t> </a:t>
            </a:r>
            <a:r>
              <a:rPr sz="1050" b="0" dirty="0" err="1">
                <a:solidFill>
                  <a:srgbClr val="1E293B"/>
                </a:solidFill>
                <a:latin typeface="Segoe UI"/>
              </a:rPr>
              <a:t>chế</a:t>
            </a:r>
            <a:r>
              <a:rPr sz="1050" b="0" dirty="0">
                <a:solidFill>
                  <a:srgbClr val="1E293B"/>
                </a:solidFill>
                <a:latin typeface="Segoe UI"/>
              </a:rPr>
              <a:t> Optimistic UI </a:t>
            </a:r>
            <a:r>
              <a:rPr sz="1050" b="0" dirty="0" err="1">
                <a:solidFill>
                  <a:srgbClr val="1E293B"/>
                </a:solidFill>
                <a:latin typeface="Segoe UI"/>
              </a:rPr>
              <a:t>và</a:t>
            </a:r>
            <a:r>
              <a:rPr sz="1050" b="0" dirty="0">
                <a:solidFill>
                  <a:srgbClr val="1E293B"/>
                </a:solidFill>
                <a:latin typeface="Segoe UI"/>
              </a:rPr>
              <a:t> Offline-first. </a:t>
            </a:r>
            <a:r>
              <a:rPr sz="1050" b="0" dirty="0" err="1">
                <a:solidFill>
                  <a:srgbClr val="1E293B"/>
                </a:solidFill>
                <a:latin typeface="Segoe UI"/>
              </a:rPr>
              <a:t>Cán</a:t>
            </a:r>
            <a:r>
              <a:rPr sz="1050" b="0" dirty="0">
                <a:solidFill>
                  <a:srgbClr val="1E293B"/>
                </a:solidFill>
                <a:latin typeface="Segoe UI"/>
              </a:rPr>
              <a:t> </a:t>
            </a:r>
            <a:r>
              <a:rPr sz="1050" b="0" dirty="0" err="1">
                <a:solidFill>
                  <a:srgbClr val="1E293B"/>
                </a:solidFill>
                <a:latin typeface="Segoe UI"/>
              </a:rPr>
              <a:t>bộ</a:t>
            </a:r>
            <a:r>
              <a:rPr sz="1050" b="0" dirty="0">
                <a:solidFill>
                  <a:srgbClr val="1E293B"/>
                </a:solidFill>
                <a:latin typeface="Segoe UI"/>
              </a:rPr>
              <a:t> </a:t>
            </a:r>
            <a:r>
              <a:rPr sz="1050" b="0" dirty="0" err="1">
                <a:solidFill>
                  <a:srgbClr val="1E293B"/>
                </a:solidFill>
                <a:latin typeface="Segoe UI"/>
              </a:rPr>
              <a:t>vẫn</a:t>
            </a:r>
            <a:r>
              <a:rPr sz="1050" b="0" dirty="0">
                <a:solidFill>
                  <a:srgbClr val="1E293B"/>
                </a:solidFill>
                <a:latin typeface="Segoe UI"/>
              </a:rPr>
              <a:t> </a:t>
            </a:r>
            <a:r>
              <a:rPr sz="1050" b="0" dirty="0" err="1">
                <a:solidFill>
                  <a:srgbClr val="1E293B"/>
                </a:solidFill>
                <a:latin typeface="Segoe UI"/>
              </a:rPr>
              <a:t>thao</a:t>
            </a:r>
            <a:r>
              <a:rPr sz="1050" b="0" dirty="0">
                <a:solidFill>
                  <a:srgbClr val="1E293B"/>
                </a:solidFill>
                <a:latin typeface="Segoe UI"/>
              </a:rPr>
              <a:t> </a:t>
            </a:r>
            <a:r>
              <a:rPr sz="1050" b="0" dirty="0" err="1">
                <a:solidFill>
                  <a:srgbClr val="1E293B"/>
                </a:solidFill>
                <a:latin typeface="Segoe UI"/>
              </a:rPr>
              <a:t>tác</a:t>
            </a:r>
            <a:r>
              <a:rPr sz="1050" b="0" dirty="0">
                <a:solidFill>
                  <a:srgbClr val="1E293B"/>
                </a:solidFill>
                <a:latin typeface="Segoe UI"/>
              </a:rPr>
              <a:t> tick checklist </a:t>
            </a:r>
            <a:r>
              <a:rPr sz="1050" b="0" dirty="0" err="1">
                <a:solidFill>
                  <a:srgbClr val="1E293B"/>
                </a:solidFill>
                <a:latin typeface="Segoe UI"/>
              </a:rPr>
              <a:t>và</a:t>
            </a:r>
            <a:r>
              <a:rPr sz="1050" b="0" dirty="0">
                <a:solidFill>
                  <a:srgbClr val="1E293B"/>
                </a:solidFill>
                <a:latin typeface="Segoe UI"/>
              </a:rPr>
              <a:t> </a:t>
            </a:r>
            <a:r>
              <a:rPr sz="1050" b="0" dirty="0" err="1">
                <a:solidFill>
                  <a:srgbClr val="1E293B"/>
                </a:solidFill>
                <a:latin typeface="Segoe UI"/>
              </a:rPr>
              <a:t>nhập</a:t>
            </a:r>
            <a:r>
              <a:rPr sz="1050" b="0" dirty="0">
                <a:solidFill>
                  <a:srgbClr val="1E293B"/>
                </a:solidFill>
                <a:latin typeface="Segoe UI"/>
              </a:rPr>
              <a:t> </a:t>
            </a:r>
            <a:r>
              <a:rPr sz="1050" b="0" dirty="0" err="1">
                <a:solidFill>
                  <a:srgbClr val="1E293B"/>
                </a:solidFill>
                <a:latin typeface="Segoe UI"/>
              </a:rPr>
              <a:t>điểm</a:t>
            </a:r>
            <a:r>
              <a:rPr sz="1050" b="0" dirty="0">
                <a:solidFill>
                  <a:srgbClr val="1E293B"/>
                </a:solidFill>
                <a:latin typeface="Segoe UI"/>
              </a:rPr>
              <a:t> </a:t>
            </a:r>
            <a:r>
              <a:rPr sz="1050" b="0" dirty="0" err="1">
                <a:solidFill>
                  <a:srgbClr val="1E293B"/>
                </a:solidFill>
                <a:latin typeface="Segoe UI"/>
              </a:rPr>
              <a:t>danh</a:t>
            </a:r>
            <a:r>
              <a:rPr sz="1050" b="0" dirty="0">
                <a:solidFill>
                  <a:srgbClr val="1E293B"/>
                </a:solidFill>
                <a:latin typeface="Segoe UI"/>
              </a:rPr>
              <a:t> </a:t>
            </a:r>
            <a:r>
              <a:rPr sz="1050" b="0" dirty="0" err="1">
                <a:solidFill>
                  <a:srgbClr val="1E293B"/>
                </a:solidFill>
                <a:latin typeface="Segoe UI"/>
              </a:rPr>
              <a:t>bình</a:t>
            </a:r>
            <a:r>
              <a:rPr sz="1050" b="0" dirty="0">
                <a:solidFill>
                  <a:srgbClr val="1E293B"/>
                </a:solidFill>
                <a:latin typeface="Segoe UI"/>
              </a:rPr>
              <a:t> </a:t>
            </a:r>
            <a:r>
              <a:rPr sz="1050" b="0" dirty="0" err="1">
                <a:solidFill>
                  <a:srgbClr val="1E293B"/>
                </a:solidFill>
                <a:latin typeface="Segoe UI"/>
              </a:rPr>
              <a:t>thường</a:t>
            </a:r>
            <a:r>
              <a:rPr sz="1050" b="0" dirty="0">
                <a:solidFill>
                  <a:srgbClr val="1E293B"/>
                </a:solidFill>
                <a:latin typeface="Segoe UI"/>
              </a:rPr>
              <a:t> </a:t>
            </a:r>
            <a:r>
              <a:rPr sz="1050" b="0" dirty="0" err="1">
                <a:solidFill>
                  <a:srgbClr val="1E293B"/>
                </a:solidFill>
                <a:latin typeface="Segoe UI"/>
              </a:rPr>
              <a:t>trên</a:t>
            </a:r>
            <a:r>
              <a:rPr sz="1050" b="0" dirty="0">
                <a:solidFill>
                  <a:srgbClr val="1E293B"/>
                </a:solidFill>
                <a:latin typeface="Segoe UI"/>
              </a:rPr>
              <a:t> </a:t>
            </a:r>
            <a:r>
              <a:rPr sz="1050" b="0" dirty="0" err="1">
                <a:solidFill>
                  <a:srgbClr val="1E293B"/>
                </a:solidFill>
                <a:latin typeface="Segoe UI"/>
              </a:rPr>
              <a:t>màn</a:t>
            </a:r>
            <a:r>
              <a:rPr sz="1050" b="0" dirty="0">
                <a:solidFill>
                  <a:srgbClr val="1E293B"/>
                </a:solidFill>
                <a:latin typeface="Segoe UI"/>
              </a:rPr>
              <a:t> </a:t>
            </a:r>
            <a:r>
              <a:rPr sz="1050" b="0" dirty="0" err="1">
                <a:solidFill>
                  <a:srgbClr val="1E293B"/>
                </a:solidFill>
                <a:latin typeface="Segoe UI"/>
              </a:rPr>
              <a:t>hình</a:t>
            </a:r>
            <a:r>
              <a:rPr sz="1050" b="0" dirty="0">
                <a:solidFill>
                  <a:srgbClr val="1E293B"/>
                </a:solidFill>
                <a:latin typeface="Segoe UI"/>
              </a:rPr>
              <a:t>. Khi </a:t>
            </a:r>
            <a:r>
              <a:rPr sz="1050" b="0" dirty="0" err="1">
                <a:solidFill>
                  <a:srgbClr val="1E293B"/>
                </a:solidFill>
                <a:latin typeface="Segoe UI"/>
              </a:rPr>
              <a:t>có</a:t>
            </a:r>
            <a:r>
              <a:rPr sz="1050" b="0" dirty="0">
                <a:solidFill>
                  <a:srgbClr val="1E293B"/>
                </a:solidFill>
                <a:latin typeface="Segoe UI"/>
              </a:rPr>
              <a:t> </a:t>
            </a:r>
            <a:r>
              <a:rPr sz="1050" b="0" dirty="0" err="1">
                <a:solidFill>
                  <a:srgbClr val="1E293B"/>
                </a:solidFill>
                <a:latin typeface="Segoe UI"/>
              </a:rPr>
              <a:t>mạng</a:t>
            </a:r>
            <a:r>
              <a:rPr sz="1050" b="0" dirty="0">
                <a:solidFill>
                  <a:srgbClr val="1E293B"/>
                </a:solidFill>
                <a:latin typeface="Segoe UI"/>
              </a:rPr>
              <a:t> </a:t>
            </a:r>
            <a:r>
              <a:rPr sz="1050" b="0" dirty="0" err="1">
                <a:solidFill>
                  <a:srgbClr val="1E293B"/>
                </a:solidFill>
                <a:latin typeface="Segoe UI"/>
              </a:rPr>
              <a:t>trở</a:t>
            </a:r>
            <a:r>
              <a:rPr sz="1050" b="0" dirty="0">
                <a:solidFill>
                  <a:srgbClr val="1E293B"/>
                </a:solidFill>
                <a:latin typeface="Segoe UI"/>
              </a:rPr>
              <a:t> </a:t>
            </a:r>
            <a:r>
              <a:rPr sz="1050" b="0" dirty="0" err="1">
                <a:solidFill>
                  <a:srgbClr val="1E293B"/>
                </a:solidFill>
                <a:latin typeface="Segoe UI"/>
              </a:rPr>
              <a:t>lại</a:t>
            </a:r>
            <a:r>
              <a:rPr sz="1050" b="0" dirty="0">
                <a:solidFill>
                  <a:srgbClr val="1E293B"/>
                </a:solidFill>
                <a:latin typeface="Segoe UI"/>
              </a:rPr>
              <a:t>, </a:t>
            </a:r>
            <a:r>
              <a:rPr sz="1050" b="0" dirty="0" err="1">
                <a:solidFill>
                  <a:srgbClr val="1E293B"/>
                </a:solidFill>
                <a:latin typeface="Segoe UI"/>
              </a:rPr>
              <a:t>hệ</a:t>
            </a:r>
            <a:r>
              <a:rPr sz="1050" b="0" dirty="0">
                <a:solidFill>
                  <a:srgbClr val="1E293B"/>
                </a:solidFill>
                <a:latin typeface="Segoe UI"/>
              </a:rPr>
              <a:t> </a:t>
            </a:r>
            <a:r>
              <a:rPr sz="1050" b="0" dirty="0" err="1">
                <a:solidFill>
                  <a:srgbClr val="1E293B"/>
                </a:solidFill>
                <a:latin typeface="Segoe UI"/>
              </a:rPr>
              <a:t>thống</a:t>
            </a:r>
            <a:r>
              <a:rPr sz="1050" b="0" dirty="0">
                <a:solidFill>
                  <a:srgbClr val="1E293B"/>
                </a:solidFill>
                <a:latin typeface="Segoe UI"/>
              </a:rPr>
              <a:t> </a:t>
            </a:r>
            <a:r>
              <a:rPr sz="1050" b="0" dirty="0" err="1">
                <a:solidFill>
                  <a:srgbClr val="1E293B"/>
                </a:solidFill>
                <a:latin typeface="Segoe UI"/>
              </a:rPr>
              <a:t>sẽ</a:t>
            </a:r>
            <a:r>
              <a:rPr sz="1050" b="0" dirty="0">
                <a:solidFill>
                  <a:srgbClr val="1E293B"/>
                </a:solidFill>
                <a:latin typeface="Segoe UI"/>
              </a:rPr>
              <a:t> </a:t>
            </a:r>
            <a:r>
              <a:rPr sz="1050" b="0" dirty="0" err="1">
                <a:solidFill>
                  <a:srgbClr val="1E293B"/>
                </a:solidFill>
                <a:latin typeface="Segoe UI"/>
              </a:rPr>
              <a:t>tự</a:t>
            </a:r>
            <a:r>
              <a:rPr sz="1050" b="0" dirty="0">
                <a:solidFill>
                  <a:srgbClr val="1E293B"/>
                </a:solidFill>
                <a:latin typeface="Segoe UI"/>
              </a:rPr>
              <a:t> </a:t>
            </a:r>
            <a:r>
              <a:rPr sz="1050" b="0" dirty="0" err="1">
                <a:solidFill>
                  <a:srgbClr val="1E293B"/>
                </a:solidFill>
                <a:latin typeface="Segoe UI"/>
              </a:rPr>
              <a:t>động</a:t>
            </a:r>
            <a:r>
              <a:rPr sz="1050" b="0" dirty="0">
                <a:solidFill>
                  <a:srgbClr val="1E293B"/>
                </a:solidFill>
                <a:latin typeface="Segoe UI"/>
              </a:rPr>
              <a:t> </a:t>
            </a:r>
            <a:r>
              <a:rPr sz="1050" b="0" dirty="0" err="1">
                <a:solidFill>
                  <a:srgbClr val="1E293B"/>
                </a:solidFill>
                <a:latin typeface="Segoe UI"/>
              </a:rPr>
              <a:t>đồng</a:t>
            </a:r>
            <a:r>
              <a:rPr sz="1050" b="0" dirty="0">
                <a:solidFill>
                  <a:srgbClr val="1E293B"/>
                </a:solidFill>
                <a:latin typeface="Segoe UI"/>
              </a:rPr>
              <a:t> </a:t>
            </a:r>
            <a:r>
              <a:rPr sz="1050" b="0" dirty="0" err="1">
                <a:solidFill>
                  <a:srgbClr val="1E293B"/>
                </a:solidFill>
                <a:latin typeface="Segoe UI"/>
              </a:rPr>
              <a:t>bộ</a:t>
            </a:r>
            <a:r>
              <a:rPr sz="1050" b="0" dirty="0">
                <a:solidFill>
                  <a:srgbClr val="1E293B"/>
                </a:solidFill>
                <a:latin typeface="Segoe UI"/>
              </a:rPr>
              <a:t> </a:t>
            </a:r>
            <a:r>
              <a:rPr sz="1050" b="0" dirty="0" err="1">
                <a:solidFill>
                  <a:srgbClr val="1E293B"/>
                </a:solidFill>
                <a:latin typeface="Segoe UI"/>
              </a:rPr>
              <a:t>ngay</a:t>
            </a:r>
            <a:r>
              <a:rPr sz="1050" b="0" dirty="0">
                <a:solidFill>
                  <a:srgbClr val="1E293B"/>
                </a:solidFill>
                <a:latin typeface="Segoe UI"/>
              </a:rPr>
              <a:t> </a:t>
            </a:r>
            <a:r>
              <a:rPr sz="1050" b="0" dirty="0" err="1">
                <a:solidFill>
                  <a:srgbClr val="1E293B"/>
                </a:solidFill>
                <a:latin typeface="Segoe UI"/>
              </a:rPr>
              <a:t>lập</a:t>
            </a:r>
            <a:r>
              <a:rPr sz="1050" b="0" dirty="0">
                <a:solidFill>
                  <a:srgbClr val="1E293B"/>
                </a:solidFill>
                <a:latin typeface="Segoe UI"/>
              </a:rPr>
              <a:t> </a:t>
            </a:r>
            <a:r>
              <a:rPr sz="1050" b="0" dirty="0" err="1">
                <a:solidFill>
                  <a:srgbClr val="1E293B"/>
                </a:solidFill>
                <a:latin typeface="Segoe UI"/>
              </a:rPr>
              <a:t>tức</a:t>
            </a:r>
            <a:r>
              <a:rPr sz="1050" b="0" dirty="0">
                <a:solidFill>
                  <a:srgbClr val="1E293B"/>
                </a:solidFill>
                <a:latin typeface="Segoe UI"/>
              </a:rPr>
              <a:t>.</a:t>
            </a:r>
          </a:p>
          <a:p>
            <a:pPr>
              <a:spcAft>
                <a:spcPts val="800"/>
              </a:spcAft>
              <a:defRPr sz="1050" b="1">
                <a:solidFill>
                  <a:srgbClr val="1E293B"/>
                </a:solidFill>
                <a:latin typeface="Segoe UI"/>
              </a:defRPr>
            </a:pPr>
            <a:r>
              <a:rPr dirty="0"/>
              <a:t>• [</a:t>
            </a:r>
            <a:r>
              <a:rPr dirty="0" err="1"/>
              <a:t>Tình</a:t>
            </a:r>
            <a:r>
              <a:rPr dirty="0"/>
              <a:t> </a:t>
            </a:r>
            <a:r>
              <a:rPr dirty="0" err="1"/>
              <a:t>huống</a:t>
            </a:r>
            <a:r>
              <a:rPr dirty="0"/>
              <a:t> 2] Chi </a:t>
            </a:r>
            <a:r>
              <a:rPr dirty="0" err="1"/>
              <a:t>đoàn</a:t>
            </a:r>
            <a:r>
              <a:rPr dirty="0"/>
              <a:t> </a:t>
            </a:r>
            <a:r>
              <a:rPr dirty="0" err="1"/>
              <a:t>Không</a:t>
            </a:r>
            <a:r>
              <a:rPr dirty="0"/>
              <a:t> </a:t>
            </a:r>
            <a:r>
              <a:rPr dirty="0" err="1"/>
              <a:t>đủ</a:t>
            </a:r>
            <a:r>
              <a:rPr dirty="0"/>
              <a:t> 2/3 </a:t>
            </a:r>
            <a:r>
              <a:rPr dirty="0" err="1"/>
              <a:t>Sĩ</a:t>
            </a:r>
            <a:r>
              <a:rPr dirty="0"/>
              <a:t> </a:t>
            </a:r>
            <a:r>
              <a:rPr dirty="0" err="1"/>
              <a:t>số</a:t>
            </a:r>
            <a:r>
              <a:rPr dirty="0"/>
              <a:t>: </a:t>
            </a:r>
            <a:r>
              <a:rPr sz="1050" b="0" dirty="0">
                <a:solidFill>
                  <a:srgbClr val="1E293B"/>
                </a:solidFill>
                <a:latin typeface="Segoe UI"/>
              </a:rPr>
              <a:t>Báo </a:t>
            </a:r>
            <a:r>
              <a:rPr sz="1050" b="0" dirty="0" err="1">
                <a:solidFill>
                  <a:srgbClr val="1E293B"/>
                </a:solidFill>
                <a:latin typeface="Segoe UI"/>
              </a:rPr>
              <a:t>ngay</a:t>
            </a:r>
            <a:r>
              <a:rPr sz="1050" b="0" dirty="0">
                <a:solidFill>
                  <a:srgbClr val="1E293B"/>
                </a:solidFill>
                <a:latin typeface="Segoe UI"/>
              </a:rPr>
              <a:t> </a:t>
            </a:r>
            <a:r>
              <a:rPr sz="1050" b="0" dirty="0" err="1">
                <a:solidFill>
                  <a:srgbClr val="1E293B"/>
                </a:solidFill>
                <a:latin typeface="Segoe UI"/>
              </a:rPr>
              <a:t>Phụ</a:t>
            </a:r>
            <a:r>
              <a:rPr sz="1050" b="0" dirty="0">
                <a:solidFill>
                  <a:srgbClr val="1E293B"/>
                </a:solidFill>
                <a:latin typeface="Segoe UI"/>
              </a:rPr>
              <a:t> </a:t>
            </a:r>
            <a:r>
              <a:rPr sz="1050" b="0" dirty="0" err="1">
                <a:solidFill>
                  <a:srgbClr val="1E293B"/>
                </a:solidFill>
                <a:latin typeface="Segoe UI"/>
              </a:rPr>
              <a:t>trách</a:t>
            </a:r>
            <a:r>
              <a:rPr sz="1050" b="0" dirty="0">
                <a:solidFill>
                  <a:srgbClr val="1E293B"/>
                </a:solidFill>
                <a:latin typeface="Segoe UI"/>
              </a:rPr>
              <a:t> </a:t>
            </a:r>
            <a:r>
              <a:rPr sz="1050" b="0" dirty="0" err="1">
                <a:solidFill>
                  <a:srgbClr val="1E293B"/>
                </a:solidFill>
                <a:latin typeface="Segoe UI"/>
              </a:rPr>
              <a:t>Tầng</a:t>
            </a:r>
            <a:r>
              <a:rPr sz="1050" b="0" dirty="0">
                <a:solidFill>
                  <a:srgbClr val="1E293B"/>
                </a:solidFill>
                <a:latin typeface="Segoe UI"/>
              </a:rPr>
              <a:t>. Chi </a:t>
            </a:r>
            <a:r>
              <a:rPr sz="1050" b="0" dirty="0" err="1">
                <a:solidFill>
                  <a:srgbClr val="1E293B"/>
                </a:solidFill>
                <a:latin typeface="Segoe UI"/>
              </a:rPr>
              <a:t>đoàn</a:t>
            </a:r>
            <a:r>
              <a:rPr sz="1050" b="0" dirty="0">
                <a:solidFill>
                  <a:srgbClr val="1E293B"/>
                </a:solidFill>
                <a:latin typeface="Segoe UI"/>
              </a:rPr>
              <a:t> </a:t>
            </a:r>
            <a:r>
              <a:rPr sz="1050" b="0" dirty="0" err="1">
                <a:solidFill>
                  <a:srgbClr val="1E293B"/>
                </a:solidFill>
                <a:latin typeface="Segoe UI"/>
              </a:rPr>
              <a:t>được</a:t>
            </a:r>
            <a:r>
              <a:rPr sz="1050" b="0" dirty="0">
                <a:solidFill>
                  <a:srgbClr val="1E293B"/>
                </a:solidFill>
                <a:latin typeface="Segoe UI"/>
              </a:rPr>
              <a:t> </a:t>
            </a:r>
            <a:r>
              <a:rPr sz="1050" b="0" dirty="0" err="1">
                <a:solidFill>
                  <a:srgbClr val="1E293B"/>
                </a:solidFill>
                <a:latin typeface="Segoe UI"/>
              </a:rPr>
              <a:t>phép</a:t>
            </a:r>
            <a:r>
              <a:rPr sz="1050" b="0" dirty="0">
                <a:solidFill>
                  <a:srgbClr val="1E293B"/>
                </a:solidFill>
                <a:latin typeface="Segoe UI"/>
              </a:rPr>
              <a:t> </a:t>
            </a:r>
            <a:r>
              <a:rPr sz="1050" b="0" dirty="0" err="1">
                <a:solidFill>
                  <a:srgbClr val="1E293B"/>
                </a:solidFill>
                <a:latin typeface="Segoe UI"/>
              </a:rPr>
              <a:t>chờ</a:t>
            </a:r>
            <a:r>
              <a:rPr sz="1050" b="0" dirty="0">
                <a:solidFill>
                  <a:srgbClr val="1E293B"/>
                </a:solidFill>
                <a:latin typeface="Segoe UI"/>
              </a:rPr>
              <a:t> </a:t>
            </a:r>
            <a:r>
              <a:rPr sz="1050" b="0" dirty="0" err="1">
                <a:solidFill>
                  <a:srgbClr val="1E293B"/>
                </a:solidFill>
                <a:latin typeface="Segoe UI"/>
              </a:rPr>
              <a:t>tối</a:t>
            </a:r>
            <a:r>
              <a:rPr sz="1050" b="0" dirty="0">
                <a:solidFill>
                  <a:srgbClr val="1E293B"/>
                </a:solidFill>
                <a:latin typeface="Segoe UI"/>
              </a:rPr>
              <a:t> </a:t>
            </a:r>
            <a:r>
              <a:rPr sz="1050" b="0" dirty="0" err="1">
                <a:solidFill>
                  <a:srgbClr val="1E293B"/>
                </a:solidFill>
                <a:latin typeface="Segoe UI"/>
              </a:rPr>
              <a:t>đa</a:t>
            </a:r>
            <a:r>
              <a:rPr sz="1050" b="0" dirty="0">
                <a:solidFill>
                  <a:srgbClr val="1E293B"/>
                </a:solidFill>
                <a:latin typeface="Segoe UI"/>
              </a:rPr>
              <a:t> 15-30 </a:t>
            </a:r>
            <a:r>
              <a:rPr sz="1050" b="0" dirty="0" err="1">
                <a:solidFill>
                  <a:srgbClr val="1E293B"/>
                </a:solidFill>
                <a:latin typeface="Segoe UI"/>
              </a:rPr>
              <a:t>phút</a:t>
            </a:r>
            <a:r>
              <a:rPr sz="1050" b="0" dirty="0">
                <a:solidFill>
                  <a:srgbClr val="1E293B"/>
                </a:solidFill>
                <a:latin typeface="Segoe UI"/>
              </a:rPr>
              <a:t> </a:t>
            </a:r>
            <a:r>
              <a:rPr sz="1050" b="0" dirty="0" err="1">
                <a:solidFill>
                  <a:srgbClr val="1E293B"/>
                </a:solidFill>
                <a:latin typeface="Segoe UI"/>
              </a:rPr>
              <a:t>để</a:t>
            </a:r>
            <a:r>
              <a:rPr sz="1050" b="0" dirty="0">
                <a:solidFill>
                  <a:srgbClr val="1E293B"/>
                </a:solidFill>
                <a:latin typeface="Segoe UI"/>
              </a:rPr>
              <a:t> </a:t>
            </a:r>
            <a:r>
              <a:rPr sz="1050" b="0" dirty="0" err="1">
                <a:solidFill>
                  <a:srgbClr val="1E293B"/>
                </a:solidFill>
                <a:latin typeface="Segoe UI"/>
              </a:rPr>
              <a:t>tập</a:t>
            </a:r>
            <a:r>
              <a:rPr sz="1050" b="0" dirty="0">
                <a:solidFill>
                  <a:srgbClr val="1E293B"/>
                </a:solidFill>
                <a:latin typeface="Segoe UI"/>
              </a:rPr>
              <a:t> </a:t>
            </a:r>
            <a:r>
              <a:rPr sz="1050" b="0" dirty="0" err="1">
                <a:solidFill>
                  <a:srgbClr val="1E293B"/>
                </a:solidFill>
                <a:latin typeface="Segoe UI"/>
              </a:rPr>
              <a:t>hợp</a:t>
            </a:r>
            <a:r>
              <a:rPr sz="1050" b="0" dirty="0">
                <a:solidFill>
                  <a:srgbClr val="1E293B"/>
                </a:solidFill>
                <a:latin typeface="Segoe UI"/>
              </a:rPr>
              <a:t> </a:t>
            </a:r>
            <a:r>
              <a:rPr sz="1050" b="0" dirty="0" err="1">
                <a:solidFill>
                  <a:srgbClr val="1E293B"/>
                </a:solidFill>
                <a:latin typeface="Segoe UI"/>
              </a:rPr>
              <a:t>thêm</a:t>
            </a:r>
            <a:r>
              <a:rPr sz="1050" b="0" dirty="0">
                <a:solidFill>
                  <a:srgbClr val="1E293B"/>
                </a:solidFill>
                <a:latin typeface="Segoe UI"/>
              </a:rPr>
              <a:t> </a:t>
            </a:r>
            <a:r>
              <a:rPr sz="1050" b="0" dirty="0" err="1">
                <a:solidFill>
                  <a:srgbClr val="1E293B"/>
                </a:solidFill>
                <a:latin typeface="Segoe UI"/>
              </a:rPr>
              <a:t>đoàn</a:t>
            </a:r>
            <a:r>
              <a:rPr sz="1050" b="0" dirty="0">
                <a:solidFill>
                  <a:srgbClr val="1E293B"/>
                </a:solidFill>
                <a:latin typeface="Segoe UI"/>
              </a:rPr>
              <a:t> </a:t>
            </a:r>
            <a:r>
              <a:rPr sz="1050" b="0" dirty="0" err="1">
                <a:solidFill>
                  <a:srgbClr val="1E293B"/>
                </a:solidFill>
                <a:latin typeface="Segoe UI"/>
              </a:rPr>
              <a:t>viên</a:t>
            </a:r>
            <a:r>
              <a:rPr sz="1050" b="0" dirty="0">
                <a:solidFill>
                  <a:srgbClr val="1E293B"/>
                </a:solidFill>
                <a:latin typeface="Segoe UI"/>
              </a:rPr>
              <a:t>. </a:t>
            </a:r>
            <a:r>
              <a:rPr sz="1050" b="0" dirty="0" err="1">
                <a:solidFill>
                  <a:srgbClr val="1E293B"/>
                </a:solidFill>
                <a:latin typeface="Segoe UI"/>
              </a:rPr>
              <a:t>Nếu</a:t>
            </a:r>
            <a:r>
              <a:rPr sz="1050" b="0" dirty="0">
                <a:solidFill>
                  <a:srgbClr val="1E293B"/>
                </a:solidFill>
                <a:latin typeface="Segoe UI"/>
              </a:rPr>
              <a:t> </a:t>
            </a:r>
            <a:r>
              <a:rPr sz="1050" b="0" dirty="0" err="1">
                <a:solidFill>
                  <a:srgbClr val="1E293B"/>
                </a:solidFill>
                <a:latin typeface="Segoe UI"/>
              </a:rPr>
              <a:t>vẫn</a:t>
            </a:r>
            <a:r>
              <a:rPr sz="1050" b="0" dirty="0">
                <a:solidFill>
                  <a:srgbClr val="1E293B"/>
                </a:solidFill>
                <a:latin typeface="Segoe UI"/>
              </a:rPr>
              <a:t> </a:t>
            </a:r>
            <a:r>
              <a:rPr sz="1050" b="0" dirty="0" err="1">
                <a:solidFill>
                  <a:srgbClr val="1E293B"/>
                </a:solidFill>
                <a:latin typeface="Segoe UI"/>
              </a:rPr>
              <a:t>không</a:t>
            </a:r>
            <a:r>
              <a:rPr sz="1050" b="0" dirty="0">
                <a:solidFill>
                  <a:srgbClr val="1E293B"/>
                </a:solidFill>
                <a:latin typeface="Segoe UI"/>
              </a:rPr>
              <a:t> </a:t>
            </a:r>
            <a:r>
              <a:rPr sz="1050" b="0" dirty="0" err="1">
                <a:solidFill>
                  <a:srgbClr val="1E293B"/>
                </a:solidFill>
                <a:latin typeface="Segoe UI"/>
              </a:rPr>
              <a:t>đủ</a:t>
            </a:r>
            <a:r>
              <a:rPr sz="1050" b="0" dirty="0">
                <a:solidFill>
                  <a:srgbClr val="1E293B"/>
                </a:solidFill>
                <a:latin typeface="Segoe UI"/>
              </a:rPr>
              <a:t>: Báo </a:t>
            </a:r>
            <a:r>
              <a:rPr sz="1050" b="0" dirty="0" err="1">
                <a:solidFill>
                  <a:srgbClr val="1E293B"/>
                </a:solidFill>
                <a:latin typeface="Segoe UI"/>
              </a:rPr>
              <a:t>cáo</a:t>
            </a:r>
            <a:r>
              <a:rPr sz="1050" b="0" dirty="0">
                <a:solidFill>
                  <a:srgbClr val="1E293B"/>
                </a:solidFill>
                <a:latin typeface="Segoe UI"/>
              </a:rPr>
              <a:t> Thường </a:t>
            </a:r>
            <a:r>
              <a:rPr sz="1050" b="0" dirty="0" err="1">
                <a:solidFill>
                  <a:srgbClr val="1E293B"/>
                </a:solidFill>
                <a:latin typeface="Segoe UI"/>
              </a:rPr>
              <a:t>trực</a:t>
            </a:r>
            <a:r>
              <a:rPr sz="1050" b="0" dirty="0">
                <a:solidFill>
                  <a:srgbClr val="1E293B"/>
                </a:solidFill>
                <a:latin typeface="Segoe UI"/>
              </a:rPr>
              <a:t> </a:t>
            </a:r>
            <a:r>
              <a:rPr sz="1050" b="0" dirty="0" err="1">
                <a:solidFill>
                  <a:srgbClr val="1E293B"/>
                </a:solidFill>
                <a:latin typeface="Segoe UI"/>
              </a:rPr>
              <a:t>xin</a:t>
            </a:r>
            <a:r>
              <a:rPr sz="1050" b="0" dirty="0">
                <a:solidFill>
                  <a:srgbClr val="1E293B"/>
                </a:solidFill>
                <a:latin typeface="Segoe UI"/>
              </a:rPr>
              <a:t> ý </a:t>
            </a:r>
            <a:r>
              <a:rPr sz="1050" b="0" dirty="0" err="1">
                <a:solidFill>
                  <a:srgbClr val="1E293B"/>
                </a:solidFill>
                <a:latin typeface="Segoe UI"/>
              </a:rPr>
              <a:t>kiến</a:t>
            </a:r>
            <a:r>
              <a:rPr sz="1050" b="0" dirty="0">
                <a:solidFill>
                  <a:srgbClr val="1E293B"/>
                </a:solidFill>
                <a:latin typeface="Segoe UI"/>
              </a:rPr>
              <a:t>, </a:t>
            </a:r>
            <a:r>
              <a:rPr sz="1050" b="0" dirty="0" err="1">
                <a:solidFill>
                  <a:srgbClr val="1E293B"/>
                </a:solidFill>
                <a:latin typeface="Segoe UI"/>
              </a:rPr>
              <a:t>chuyển</a:t>
            </a:r>
            <a:r>
              <a:rPr sz="1050" b="0" dirty="0">
                <a:solidFill>
                  <a:srgbClr val="1E293B"/>
                </a:solidFill>
                <a:latin typeface="Segoe UI"/>
              </a:rPr>
              <a:t> </a:t>
            </a:r>
            <a:r>
              <a:rPr sz="1050" b="0" dirty="0" err="1">
                <a:solidFill>
                  <a:srgbClr val="1E293B"/>
                </a:solidFill>
                <a:latin typeface="Segoe UI"/>
              </a:rPr>
              <a:t>trạng</a:t>
            </a:r>
            <a:r>
              <a:rPr sz="1050" b="0" dirty="0">
                <a:solidFill>
                  <a:srgbClr val="1E293B"/>
                </a:solidFill>
                <a:latin typeface="Segoe UI"/>
              </a:rPr>
              <a:t> </a:t>
            </a:r>
            <a:r>
              <a:rPr sz="1050" b="0" dirty="0" err="1">
                <a:solidFill>
                  <a:srgbClr val="1E293B"/>
                </a:solidFill>
                <a:latin typeface="Segoe UI"/>
              </a:rPr>
              <a:t>thái</a:t>
            </a:r>
            <a:r>
              <a:rPr sz="1050" b="0" dirty="0">
                <a:solidFill>
                  <a:srgbClr val="1E293B"/>
                </a:solidFill>
                <a:latin typeface="Segoe UI"/>
              </a:rPr>
              <a:t> sang '</a:t>
            </a:r>
            <a:r>
              <a:rPr sz="1050" b="0" dirty="0" err="1">
                <a:solidFill>
                  <a:srgbClr val="1E293B"/>
                </a:solidFill>
                <a:latin typeface="Segoe UI"/>
              </a:rPr>
              <a:t>Hủy</a:t>
            </a:r>
            <a:r>
              <a:rPr sz="1050" b="0" dirty="0">
                <a:solidFill>
                  <a:srgbClr val="1E293B"/>
                </a:solidFill>
                <a:latin typeface="Segoe UI"/>
              </a:rPr>
              <a:t> </a:t>
            </a:r>
            <a:r>
              <a:rPr sz="1050" b="0" dirty="0" err="1">
                <a:solidFill>
                  <a:srgbClr val="1E293B"/>
                </a:solidFill>
                <a:latin typeface="Segoe UI"/>
              </a:rPr>
              <a:t>đại</a:t>
            </a:r>
            <a:r>
              <a:rPr sz="1050" b="0" dirty="0">
                <a:solidFill>
                  <a:srgbClr val="1E293B"/>
                </a:solidFill>
                <a:latin typeface="Segoe UI"/>
              </a:rPr>
              <a:t> </a:t>
            </a:r>
            <a:r>
              <a:rPr sz="1050" b="0" dirty="0" err="1">
                <a:solidFill>
                  <a:srgbClr val="1E293B"/>
                </a:solidFill>
                <a:latin typeface="Segoe UI"/>
              </a:rPr>
              <a:t>hội</a:t>
            </a:r>
            <a:r>
              <a:rPr sz="1050" b="0" dirty="0">
                <a:solidFill>
                  <a:srgbClr val="1E293B"/>
                </a:solidFill>
                <a:latin typeface="Segoe UI"/>
              </a:rPr>
              <a:t>' </a:t>
            </a:r>
            <a:r>
              <a:rPr sz="1050" b="0" dirty="0" err="1">
                <a:solidFill>
                  <a:srgbClr val="1E293B"/>
                </a:solidFill>
                <a:latin typeface="Segoe UI"/>
              </a:rPr>
              <a:t>và</a:t>
            </a:r>
            <a:r>
              <a:rPr sz="1050" b="0" dirty="0">
                <a:solidFill>
                  <a:srgbClr val="1E293B"/>
                </a:solidFill>
                <a:latin typeface="Segoe UI"/>
              </a:rPr>
              <a:t> </a:t>
            </a:r>
            <a:r>
              <a:rPr sz="1050" b="0" dirty="0" err="1">
                <a:solidFill>
                  <a:srgbClr val="1E293B"/>
                </a:solidFill>
                <a:latin typeface="Segoe UI"/>
              </a:rPr>
              <a:t>nhập</a:t>
            </a:r>
            <a:r>
              <a:rPr sz="1050" b="0" dirty="0">
                <a:solidFill>
                  <a:srgbClr val="1E293B"/>
                </a:solidFill>
                <a:latin typeface="Segoe UI"/>
              </a:rPr>
              <a:t> </a:t>
            </a:r>
            <a:r>
              <a:rPr sz="1050" b="0" dirty="0" err="1">
                <a:solidFill>
                  <a:srgbClr val="1E293B"/>
                </a:solidFill>
                <a:latin typeface="Segoe UI"/>
              </a:rPr>
              <a:t>rõ</a:t>
            </a:r>
            <a:r>
              <a:rPr sz="1050" b="0" dirty="0">
                <a:solidFill>
                  <a:srgbClr val="1E293B"/>
                </a:solidFill>
                <a:latin typeface="Segoe UI"/>
              </a:rPr>
              <a:t> </a:t>
            </a:r>
            <a:r>
              <a:rPr sz="1050" b="0" dirty="0" err="1">
                <a:solidFill>
                  <a:srgbClr val="1E293B"/>
                </a:solidFill>
                <a:latin typeface="Segoe UI"/>
              </a:rPr>
              <a:t>lý</a:t>
            </a:r>
            <a:r>
              <a:rPr sz="1050" b="0" dirty="0">
                <a:solidFill>
                  <a:srgbClr val="1E293B"/>
                </a:solidFill>
                <a:latin typeface="Segoe UI"/>
              </a:rPr>
              <a:t> do </a:t>
            </a:r>
            <a:r>
              <a:rPr sz="1050" b="0" dirty="0" err="1">
                <a:solidFill>
                  <a:srgbClr val="1E293B"/>
                </a:solidFill>
                <a:latin typeface="Segoe UI"/>
              </a:rPr>
              <a:t>hoãn</a:t>
            </a:r>
            <a:r>
              <a:rPr sz="1050" b="0" dirty="0">
                <a:solidFill>
                  <a:srgbClr val="1E293B"/>
                </a:solidFill>
                <a:latin typeface="Segoe UI"/>
              </a:rPr>
              <a:t>.</a:t>
            </a:r>
          </a:p>
          <a:p>
            <a:pPr>
              <a:spcAft>
                <a:spcPts val="800"/>
              </a:spcAft>
              <a:defRPr sz="1050" b="1">
                <a:solidFill>
                  <a:srgbClr val="1E293B"/>
                </a:solidFill>
                <a:latin typeface="Segoe UI"/>
              </a:defRPr>
            </a:pPr>
            <a:r>
              <a:rPr dirty="0"/>
              <a:t>• [</a:t>
            </a:r>
            <a:r>
              <a:rPr dirty="0" err="1"/>
              <a:t>Tình</a:t>
            </a:r>
            <a:r>
              <a:rPr dirty="0"/>
              <a:t> </a:t>
            </a:r>
            <a:r>
              <a:rPr dirty="0" err="1"/>
              <a:t>huống</a:t>
            </a:r>
            <a:r>
              <a:rPr dirty="0"/>
              <a:t> 3] </a:t>
            </a:r>
            <a:r>
              <a:rPr dirty="0" err="1"/>
              <a:t>Lớp</a:t>
            </a:r>
            <a:r>
              <a:rPr dirty="0"/>
              <a:t> </a:t>
            </a:r>
            <a:r>
              <a:rPr dirty="0" err="1"/>
              <a:t>đã</a:t>
            </a:r>
            <a:r>
              <a:rPr dirty="0"/>
              <a:t> </a:t>
            </a:r>
            <a:r>
              <a:rPr dirty="0" err="1"/>
              <a:t>Khóa</a:t>
            </a:r>
            <a:r>
              <a:rPr dirty="0"/>
              <a:t> </a:t>
            </a:r>
            <a:r>
              <a:rPr dirty="0" err="1"/>
              <a:t>nhưng</a:t>
            </a:r>
            <a:r>
              <a:rPr dirty="0"/>
              <a:t> </a:t>
            </a:r>
            <a:r>
              <a:rPr dirty="0" err="1"/>
              <a:t>Cần</a:t>
            </a:r>
            <a:r>
              <a:rPr dirty="0"/>
              <a:t> </a:t>
            </a:r>
            <a:r>
              <a:rPr dirty="0" err="1"/>
              <a:t>sửa</a:t>
            </a:r>
            <a:r>
              <a:rPr dirty="0"/>
              <a:t> </a:t>
            </a:r>
            <a:r>
              <a:rPr dirty="0" err="1"/>
              <a:t>Số</a:t>
            </a:r>
            <a:r>
              <a:rPr dirty="0"/>
              <a:t> </a:t>
            </a:r>
            <a:r>
              <a:rPr dirty="0" err="1"/>
              <a:t>liệu</a:t>
            </a:r>
            <a:r>
              <a:rPr dirty="0"/>
              <a:t>: </a:t>
            </a:r>
            <a:r>
              <a:rPr sz="1050" b="0" dirty="0" err="1">
                <a:solidFill>
                  <a:srgbClr val="1E293B"/>
                </a:solidFill>
                <a:latin typeface="Segoe UI"/>
              </a:rPr>
              <a:t>Cán</a:t>
            </a:r>
            <a:r>
              <a:rPr sz="1050" b="0" dirty="0">
                <a:solidFill>
                  <a:srgbClr val="1E293B"/>
                </a:solidFill>
                <a:latin typeface="Segoe UI"/>
              </a:rPr>
              <a:t> </a:t>
            </a:r>
            <a:r>
              <a:rPr sz="1050" b="0" dirty="0" err="1">
                <a:solidFill>
                  <a:srgbClr val="1E293B"/>
                </a:solidFill>
                <a:latin typeface="Segoe UI"/>
              </a:rPr>
              <a:t>bộ</a:t>
            </a:r>
            <a:r>
              <a:rPr sz="1050" b="0" dirty="0">
                <a:solidFill>
                  <a:srgbClr val="1E293B"/>
                </a:solidFill>
                <a:latin typeface="Segoe UI"/>
              </a:rPr>
              <a:t> </a:t>
            </a:r>
            <a:r>
              <a:rPr sz="1050" b="0" dirty="0" err="1">
                <a:solidFill>
                  <a:srgbClr val="1E293B"/>
                </a:solidFill>
                <a:latin typeface="Segoe UI"/>
              </a:rPr>
              <a:t>trực</a:t>
            </a:r>
            <a:r>
              <a:rPr sz="1050" b="0" dirty="0">
                <a:solidFill>
                  <a:srgbClr val="1E293B"/>
                </a:solidFill>
                <a:latin typeface="Segoe UI"/>
              </a:rPr>
              <a:t> </a:t>
            </a:r>
            <a:r>
              <a:rPr sz="1050" b="0" dirty="0" err="1">
                <a:solidFill>
                  <a:srgbClr val="1E293B"/>
                </a:solidFill>
                <a:latin typeface="Segoe UI"/>
              </a:rPr>
              <a:t>lớp</a:t>
            </a:r>
            <a:r>
              <a:rPr sz="1050" b="0" dirty="0">
                <a:solidFill>
                  <a:srgbClr val="1E293B"/>
                </a:solidFill>
                <a:latin typeface="Segoe UI"/>
              </a:rPr>
              <a:t> </a:t>
            </a:r>
            <a:r>
              <a:rPr sz="1050" b="0" dirty="0" err="1">
                <a:solidFill>
                  <a:srgbClr val="1E293B"/>
                </a:solidFill>
                <a:latin typeface="Segoe UI"/>
              </a:rPr>
              <a:t>liên</a:t>
            </a:r>
            <a:r>
              <a:rPr sz="1050" b="0" dirty="0">
                <a:solidFill>
                  <a:srgbClr val="1E293B"/>
                </a:solidFill>
                <a:latin typeface="Segoe UI"/>
              </a:rPr>
              <a:t> </a:t>
            </a:r>
            <a:r>
              <a:rPr sz="1050" b="0" dirty="0" err="1">
                <a:solidFill>
                  <a:srgbClr val="1E293B"/>
                </a:solidFill>
                <a:latin typeface="Segoe UI"/>
              </a:rPr>
              <a:t>hệ</a:t>
            </a:r>
            <a:r>
              <a:rPr sz="1050" b="0" dirty="0">
                <a:solidFill>
                  <a:srgbClr val="1E293B"/>
                </a:solidFill>
                <a:latin typeface="Segoe UI"/>
              </a:rPr>
              <a:t> </a:t>
            </a:r>
            <a:r>
              <a:rPr sz="1050" b="0" dirty="0" err="1">
                <a:solidFill>
                  <a:srgbClr val="1E293B"/>
                </a:solidFill>
                <a:latin typeface="Segoe UI"/>
              </a:rPr>
              <a:t>Phụ</a:t>
            </a:r>
            <a:r>
              <a:rPr sz="1050" b="0" dirty="0">
                <a:solidFill>
                  <a:srgbClr val="1E293B"/>
                </a:solidFill>
                <a:latin typeface="Segoe UI"/>
              </a:rPr>
              <a:t> </a:t>
            </a:r>
            <a:r>
              <a:rPr sz="1050" b="0" dirty="0" err="1">
                <a:solidFill>
                  <a:srgbClr val="1E293B"/>
                </a:solidFill>
                <a:latin typeface="Segoe UI"/>
              </a:rPr>
              <a:t>trách</a:t>
            </a:r>
            <a:r>
              <a:rPr sz="1050" b="0" dirty="0">
                <a:solidFill>
                  <a:srgbClr val="1E293B"/>
                </a:solidFill>
                <a:latin typeface="Segoe UI"/>
              </a:rPr>
              <a:t> </a:t>
            </a:r>
            <a:r>
              <a:rPr sz="1050" b="0" dirty="0" err="1">
                <a:solidFill>
                  <a:srgbClr val="1E293B"/>
                </a:solidFill>
                <a:latin typeface="Segoe UI"/>
              </a:rPr>
              <a:t>Tầng</a:t>
            </a:r>
            <a:r>
              <a:rPr sz="1050" b="0" dirty="0">
                <a:solidFill>
                  <a:srgbClr val="1E293B"/>
                </a:solidFill>
                <a:latin typeface="Segoe UI"/>
              </a:rPr>
              <a:t> </a:t>
            </a:r>
            <a:r>
              <a:rPr sz="1050" b="0" dirty="0" err="1">
                <a:solidFill>
                  <a:srgbClr val="1E293B"/>
                </a:solidFill>
                <a:latin typeface="Segoe UI"/>
              </a:rPr>
              <a:t>hoặc</a:t>
            </a:r>
            <a:r>
              <a:rPr sz="1050" b="0" dirty="0">
                <a:solidFill>
                  <a:srgbClr val="1E293B"/>
                </a:solidFill>
                <a:latin typeface="Segoe UI"/>
              </a:rPr>
              <a:t> </a:t>
            </a:r>
            <a:r>
              <a:rPr sz="1050" b="0" dirty="0" err="1">
                <a:solidFill>
                  <a:srgbClr val="1E293B"/>
                </a:solidFill>
                <a:latin typeface="Segoe UI"/>
              </a:rPr>
              <a:t>Phụ</a:t>
            </a:r>
            <a:r>
              <a:rPr sz="1050" b="0" dirty="0">
                <a:solidFill>
                  <a:srgbClr val="1E293B"/>
                </a:solidFill>
                <a:latin typeface="Segoe UI"/>
              </a:rPr>
              <a:t> </a:t>
            </a:r>
            <a:r>
              <a:rPr sz="1050" b="0" dirty="0" err="1">
                <a:solidFill>
                  <a:srgbClr val="1E293B"/>
                </a:solidFill>
                <a:latin typeface="Segoe UI"/>
              </a:rPr>
              <a:t>trách</a:t>
            </a:r>
            <a:r>
              <a:rPr sz="1050" b="0" dirty="0">
                <a:solidFill>
                  <a:srgbClr val="1E293B"/>
                </a:solidFill>
                <a:latin typeface="Segoe UI"/>
              </a:rPr>
              <a:t> </a:t>
            </a:r>
            <a:r>
              <a:rPr sz="1050" b="0" dirty="0" err="1">
                <a:solidFill>
                  <a:srgbClr val="1E293B"/>
                </a:solidFill>
                <a:latin typeface="Segoe UI"/>
              </a:rPr>
              <a:t>Tòa</a:t>
            </a:r>
            <a:r>
              <a:rPr sz="1050" b="0" dirty="0">
                <a:solidFill>
                  <a:srgbClr val="1E293B"/>
                </a:solidFill>
                <a:latin typeface="Segoe UI"/>
              </a:rPr>
              <a:t> </a:t>
            </a:r>
            <a:r>
              <a:rPr sz="1050" b="0" dirty="0" err="1">
                <a:solidFill>
                  <a:srgbClr val="1E293B"/>
                </a:solidFill>
                <a:latin typeface="Segoe UI"/>
              </a:rPr>
              <a:t>nhà</a:t>
            </a:r>
            <a:r>
              <a:rPr sz="1050" b="0" dirty="0">
                <a:solidFill>
                  <a:srgbClr val="1E293B"/>
                </a:solidFill>
                <a:latin typeface="Segoe UI"/>
              </a:rPr>
              <a:t> </a:t>
            </a:r>
            <a:r>
              <a:rPr sz="1050" b="0" dirty="0" err="1">
                <a:solidFill>
                  <a:srgbClr val="1E293B"/>
                </a:solidFill>
                <a:latin typeface="Segoe UI"/>
              </a:rPr>
              <a:t>đến</a:t>
            </a:r>
            <a:r>
              <a:rPr sz="1050" b="0" dirty="0">
                <a:solidFill>
                  <a:srgbClr val="1E293B"/>
                </a:solidFill>
                <a:latin typeface="Segoe UI"/>
              </a:rPr>
              <a:t> </a:t>
            </a:r>
            <a:r>
              <a:rPr sz="1050" b="0" dirty="0" err="1">
                <a:solidFill>
                  <a:srgbClr val="1E293B"/>
                </a:solidFill>
                <a:latin typeface="Segoe UI"/>
              </a:rPr>
              <a:t>đối</a:t>
            </a:r>
            <a:r>
              <a:rPr sz="1050" b="0" dirty="0">
                <a:solidFill>
                  <a:srgbClr val="1E293B"/>
                </a:solidFill>
                <a:latin typeface="Segoe UI"/>
              </a:rPr>
              <a:t> </a:t>
            </a:r>
            <a:r>
              <a:rPr sz="1050" b="0" dirty="0" err="1">
                <a:solidFill>
                  <a:srgbClr val="1E293B"/>
                </a:solidFill>
                <a:latin typeface="Segoe UI"/>
              </a:rPr>
              <a:t>soát</a:t>
            </a:r>
            <a:r>
              <a:rPr sz="1050" b="0" dirty="0">
                <a:solidFill>
                  <a:srgbClr val="1E293B"/>
                </a:solidFill>
                <a:latin typeface="Segoe UI"/>
              </a:rPr>
              <a:t> </a:t>
            </a:r>
            <a:r>
              <a:rPr sz="1050" b="0" dirty="0" err="1">
                <a:solidFill>
                  <a:srgbClr val="1E293B"/>
                </a:solidFill>
                <a:latin typeface="Segoe UI"/>
              </a:rPr>
              <a:t>biên</a:t>
            </a:r>
            <a:r>
              <a:rPr sz="1050" b="0" dirty="0">
                <a:solidFill>
                  <a:srgbClr val="1E293B"/>
                </a:solidFill>
                <a:latin typeface="Segoe UI"/>
              </a:rPr>
              <a:t> </a:t>
            </a:r>
            <a:r>
              <a:rPr sz="1050" b="0" dirty="0" err="1">
                <a:solidFill>
                  <a:srgbClr val="1E293B"/>
                </a:solidFill>
                <a:latin typeface="Segoe UI"/>
              </a:rPr>
              <a:t>bản</a:t>
            </a:r>
            <a:r>
              <a:rPr sz="1050" b="0" dirty="0">
                <a:solidFill>
                  <a:srgbClr val="1E293B"/>
                </a:solidFill>
                <a:latin typeface="Segoe UI"/>
              </a:rPr>
              <a:t> </a:t>
            </a:r>
            <a:r>
              <a:rPr sz="1050" b="0" dirty="0" err="1">
                <a:solidFill>
                  <a:srgbClr val="1E293B"/>
                </a:solidFill>
                <a:latin typeface="Segoe UI"/>
              </a:rPr>
              <a:t>gốc</a:t>
            </a:r>
            <a:r>
              <a:rPr sz="1050" b="0" dirty="0">
                <a:solidFill>
                  <a:srgbClr val="1E293B"/>
                </a:solidFill>
                <a:latin typeface="Segoe UI"/>
              </a:rPr>
              <a:t> </a:t>
            </a:r>
            <a:r>
              <a:rPr sz="1050" b="0" dirty="0" err="1">
                <a:solidFill>
                  <a:srgbClr val="1E293B"/>
                </a:solidFill>
                <a:latin typeface="Segoe UI"/>
              </a:rPr>
              <a:t>tại</a:t>
            </a:r>
            <a:r>
              <a:rPr sz="1050" b="0" dirty="0">
                <a:solidFill>
                  <a:srgbClr val="1E293B"/>
                </a:solidFill>
                <a:latin typeface="Segoe UI"/>
              </a:rPr>
              <a:t> </a:t>
            </a:r>
            <a:r>
              <a:rPr sz="1050" b="0" dirty="0" err="1">
                <a:solidFill>
                  <a:srgbClr val="1E293B"/>
                </a:solidFill>
                <a:latin typeface="Segoe UI"/>
              </a:rPr>
              <a:t>chỗ</a:t>
            </a:r>
            <a:r>
              <a:rPr sz="1050" b="0" dirty="0">
                <a:solidFill>
                  <a:srgbClr val="1E293B"/>
                </a:solidFill>
                <a:latin typeface="Segoe UI"/>
              </a:rPr>
              <a:t>. </a:t>
            </a:r>
            <a:r>
              <a:rPr sz="1050" b="0" dirty="0" err="1">
                <a:solidFill>
                  <a:srgbClr val="1E293B"/>
                </a:solidFill>
                <a:latin typeface="Segoe UI"/>
              </a:rPr>
              <a:t>Cấp</a:t>
            </a:r>
            <a:r>
              <a:rPr sz="1050" b="0" dirty="0">
                <a:solidFill>
                  <a:srgbClr val="1E293B"/>
                </a:solidFill>
                <a:latin typeface="Segoe UI"/>
              </a:rPr>
              <a:t> </a:t>
            </a:r>
            <a:r>
              <a:rPr sz="1050" b="0" dirty="0" err="1">
                <a:solidFill>
                  <a:srgbClr val="1E293B"/>
                </a:solidFill>
                <a:latin typeface="Segoe UI"/>
              </a:rPr>
              <a:t>trên</a:t>
            </a:r>
            <a:r>
              <a:rPr sz="1050" b="0" dirty="0">
                <a:solidFill>
                  <a:srgbClr val="1E293B"/>
                </a:solidFill>
                <a:latin typeface="Segoe UI"/>
              </a:rPr>
              <a:t> </a:t>
            </a:r>
            <a:r>
              <a:rPr sz="1050" b="0" dirty="0" err="1">
                <a:solidFill>
                  <a:srgbClr val="1E293B"/>
                </a:solidFill>
                <a:latin typeface="Segoe UI"/>
              </a:rPr>
              <a:t>bấm</a:t>
            </a:r>
            <a:r>
              <a:rPr sz="1050" b="0" dirty="0">
                <a:solidFill>
                  <a:srgbClr val="1E293B"/>
                </a:solidFill>
                <a:latin typeface="Segoe UI"/>
              </a:rPr>
              <a:t> </a:t>
            </a:r>
            <a:r>
              <a:rPr sz="1050" b="0" dirty="0" err="1">
                <a:solidFill>
                  <a:srgbClr val="1E293B"/>
                </a:solidFill>
                <a:latin typeface="Segoe UI"/>
              </a:rPr>
              <a:t>nút</a:t>
            </a:r>
            <a:r>
              <a:rPr sz="1050" b="0" dirty="0">
                <a:solidFill>
                  <a:srgbClr val="1E293B"/>
                </a:solidFill>
                <a:latin typeface="Segoe UI"/>
              </a:rPr>
              <a:t> '</a:t>
            </a:r>
            <a:r>
              <a:rPr sz="1050" b="0" dirty="0" err="1">
                <a:solidFill>
                  <a:srgbClr val="1E293B"/>
                </a:solidFill>
                <a:latin typeface="Segoe UI"/>
              </a:rPr>
              <a:t>Mở</a:t>
            </a:r>
            <a:r>
              <a:rPr sz="1050" b="0" dirty="0">
                <a:solidFill>
                  <a:srgbClr val="1E293B"/>
                </a:solidFill>
                <a:latin typeface="Segoe UI"/>
              </a:rPr>
              <a:t> </a:t>
            </a:r>
            <a:r>
              <a:rPr sz="1050" b="0" dirty="0" err="1">
                <a:solidFill>
                  <a:srgbClr val="1E293B"/>
                </a:solidFill>
                <a:latin typeface="Segoe UI"/>
              </a:rPr>
              <a:t>khóa</a:t>
            </a:r>
            <a:r>
              <a:rPr sz="1050" b="0" dirty="0">
                <a:solidFill>
                  <a:srgbClr val="1E293B"/>
                </a:solidFill>
                <a:latin typeface="Segoe UI"/>
              </a:rPr>
              <a:t>' </a:t>
            </a:r>
            <a:r>
              <a:rPr sz="1050" b="0" dirty="0" err="1">
                <a:solidFill>
                  <a:srgbClr val="1E293B"/>
                </a:solidFill>
                <a:latin typeface="Segoe UI"/>
              </a:rPr>
              <a:t>trên</a:t>
            </a:r>
            <a:r>
              <a:rPr sz="1050" b="0" dirty="0">
                <a:solidFill>
                  <a:srgbClr val="1E293B"/>
                </a:solidFill>
                <a:latin typeface="Segoe UI"/>
              </a:rPr>
              <a:t> </a:t>
            </a:r>
            <a:r>
              <a:rPr sz="1050" b="0" dirty="0" err="1">
                <a:solidFill>
                  <a:srgbClr val="1E293B"/>
                </a:solidFill>
                <a:latin typeface="Segoe UI"/>
              </a:rPr>
              <a:t>thẻ</a:t>
            </a:r>
            <a:r>
              <a:rPr sz="1050" b="0" dirty="0">
                <a:solidFill>
                  <a:srgbClr val="1E293B"/>
                </a:solidFill>
                <a:latin typeface="Segoe UI"/>
              </a:rPr>
              <a:t> </a:t>
            </a:r>
            <a:r>
              <a:rPr sz="1050" b="0" dirty="0" err="1">
                <a:solidFill>
                  <a:srgbClr val="1E293B"/>
                </a:solidFill>
                <a:latin typeface="Segoe UI"/>
              </a:rPr>
              <a:t>lớp</a:t>
            </a:r>
            <a:r>
              <a:rPr sz="1050" b="0" dirty="0">
                <a:solidFill>
                  <a:srgbClr val="1E293B"/>
                </a:solidFill>
                <a:latin typeface="Segoe UI"/>
              </a:rPr>
              <a:t> </a:t>
            </a:r>
            <a:r>
              <a:rPr sz="1050" b="0" dirty="0" err="1">
                <a:solidFill>
                  <a:srgbClr val="1E293B"/>
                </a:solidFill>
                <a:latin typeface="Segoe UI"/>
              </a:rPr>
              <a:t>để</a:t>
            </a:r>
            <a:r>
              <a:rPr sz="1050" b="0" dirty="0">
                <a:solidFill>
                  <a:srgbClr val="1E293B"/>
                </a:solidFill>
                <a:latin typeface="Segoe UI"/>
              </a:rPr>
              <a:t> </a:t>
            </a:r>
            <a:r>
              <a:rPr sz="1050" b="0" dirty="0" err="1">
                <a:solidFill>
                  <a:srgbClr val="1E293B"/>
                </a:solidFill>
                <a:latin typeface="Segoe UI"/>
              </a:rPr>
              <a:t>cho</a:t>
            </a:r>
            <a:r>
              <a:rPr sz="1050" b="0" dirty="0">
                <a:solidFill>
                  <a:srgbClr val="1E293B"/>
                </a:solidFill>
                <a:latin typeface="Segoe UI"/>
              </a:rPr>
              <a:t> </a:t>
            </a:r>
            <a:r>
              <a:rPr sz="1050" b="0" dirty="0" err="1">
                <a:solidFill>
                  <a:srgbClr val="1E293B"/>
                </a:solidFill>
                <a:latin typeface="Segoe UI"/>
              </a:rPr>
              <a:t>phép</a:t>
            </a:r>
            <a:r>
              <a:rPr sz="1050" b="0" dirty="0">
                <a:solidFill>
                  <a:srgbClr val="1E293B"/>
                </a:solidFill>
                <a:latin typeface="Segoe UI"/>
              </a:rPr>
              <a:t> </a:t>
            </a:r>
            <a:r>
              <a:rPr sz="1050" b="0" dirty="0" err="1">
                <a:solidFill>
                  <a:srgbClr val="1E293B"/>
                </a:solidFill>
                <a:latin typeface="Segoe UI"/>
              </a:rPr>
              <a:t>chỉnh</a:t>
            </a:r>
            <a:r>
              <a:rPr sz="1050" b="0" dirty="0">
                <a:solidFill>
                  <a:srgbClr val="1E293B"/>
                </a:solidFill>
                <a:latin typeface="Segoe UI"/>
              </a:rPr>
              <a:t> </a:t>
            </a:r>
            <a:r>
              <a:rPr sz="1050" b="0" dirty="0" err="1">
                <a:solidFill>
                  <a:srgbClr val="1E293B"/>
                </a:solidFill>
                <a:latin typeface="Segoe UI"/>
              </a:rPr>
              <a:t>sửa</a:t>
            </a:r>
            <a:r>
              <a:rPr sz="1050" b="0" dirty="0">
                <a:solidFill>
                  <a:srgbClr val="1E293B"/>
                </a:solidFill>
                <a:latin typeface="Segoe UI"/>
              </a:rPr>
              <a:t>.</a:t>
            </a:r>
          </a:p>
          <a:p>
            <a:pPr>
              <a:spcAft>
                <a:spcPts val="800"/>
              </a:spcAft>
              <a:defRPr sz="1050" b="1">
                <a:solidFill>
                  <a:srgbClr val="1E293B"/>
                </a:solidFill>
                <a:latin typeface="Segoe UI"/>
              </a:defRPr>
            </a:pPr>
            <a:r>
              <a:rPr dirty="0"/>
              <a:t>• [</a:t>
            </a:r>
            <a:r>
              <a:rPr dirty="0" err="1"/>
              <a:t>Tình</a:t>
            </a:r>
            <a:r>
              <a:rPr dirty="0"/>
              <a:t> </a:t>
            </a:r>
            <a:r>
              <a:rPr dirty="0" err="1"/>
              <a:t>huống</a:t>
            </a:r>
            <a:r>
              <a:rPr dirty="0"/>
              <a:t> 4] </a:t>
            </a:r>
            <a:r>
              <a:rPr dirty="0" err="1"/>
              <a:t>Quên</a:t>
            </a:r>
            <a:r>
              <a:rPr dirty="0"/>
              <a:t> </a:t>
            </a:r>
            <a:r>
              <a:rPr dirty="0" err="1"/>
              <a:t>mật</a:t>
            </a:r>
            <a:r>
              <a:rPr dirty="0"/>
              <a:t> </a:t>
            </a:r>
            <a:r>
              <a:rPr dirty="0" err="1"/>
              <a:t>khẩu</a:t>
            </a:r>
            <a:r>
              <a:rPr dirty="0"/>
              <a:t> / </a:t>
            </a:r>
            <a:r>
              <a:rPr dirty="0" err="1"/>
              <a:t>Không</a:t>
            </a:r>
            <a:r>
              <a:rPr dirty="0"/>
              <a:t> </a:t>
            </a:r>
            <a:r>
              <a:rPr dirty="0" err="1"/>
              <a:t>vào</a:t>
            </a:r>
            <a:r>
              <a:rPr dirty="0"/>
              <a:t> </a:t>
            </a:r>
            <a:r>
              <a:rPr dirty="0" err="1"/>
              <a:t>được</a:t>
            </a:r>
            <a:r>
              <a:rPr dirty="0"/>
              <a:t> </a:t>
            </a:r>
            <a:r>
              <a:rPr dirty="0" err="1"/>
              <a:t>hệ</a:t>
            </a:r>
            <a:r>
              <a:rPr dirty="0"/>
              <a:t> </a:t>
            </a:r>
            <a:r>
              <a:rPr dirty="0" err="1"/>
              <a:t>thống</a:t>
            </a:r>
            <a:r>
              <a:rPr dirty="0"/>
              <a:t>: </a:t>
            </a:r>
            <a:r>
              <a:rPr sz="1050" b="0" dirty="0">
                <a:solidFill>
                  <a:srgbClr val="1E293B"/>
                </a:solidFill>
                <a:latin typeface="Segoe UI"/>
              </a:rPr>
              <a:t>Liên </a:t>
            </a:r>
            <a:r>
              <a:rPr sz="1050" b="0" dirty="0" err="1">
                <a:solidFill>
                  <a:srgbClr val="1E293B"/>
                </a:solidFill>
                <a:latin typeface="Segoe UI"/>
              </a:rPr>
              <a:t>hệ</a:t>
            </a:r>
            <a:r>
              <a:rPr sz="1050" b="0" dirty="0">
                <a:solidFill>
                  <a:srgbClr val="1E293B"/>
                </a:solidFill>
                <a:latin typeface="Segoe UI"/>
              </a:rPr>
              <a:t> Ban Quản </a:t>
            </a:r>
            <a:r>
              <a:rPr sz="1050" b="0" dirty="0" err="1">
                <a:solidFill>
                  <a:srgbClr val="1E293B"/>
                </a:solidFill>
                <a:latin typeface="Segoe UI"/>
              </a:rPr>
              <a:t>trị</a:t>
            </a:r>
            <a:r>
              <a:rPr sz="1050" b="0" dirty="0">
                <a:solidFill>
                  <a:srgbClr val="1E293B"/>
                </a:solidFill>
                <a:latin typeface="Segoe UI"/>
              </a:rPr>
              <a:t> qua </a:t>
            </a:r>
            <a:r>
              <a:rPr sz="1050" b="0" dirty="0" err="1">
                <a:solidFill>
                  <a:srgbClr val="1E293B"/>
                </a:solidFill>
                <a:latin typeface="Segoe UI"/>
              </a:rPr>
              <a:t>nhóm</a:t>
            </a:r>
            <a:r>
              <a:rPr sz="1050" b="0" dirty="0">
                <a:solidFill>
                  <a:srgbClr val="1E293B"/>
                </a:solidFill>
                <a:latin typeface="Segoe UI"/>
              </a:rPr>
              <a:t> </a:t>
            </a:r>
            <a:r>
              <a:rPr sz="1050" b="0" dirty="0" err="1">
                <a:solidFill>
                  <a:srgbClr val="1E293B"/>
                </a:solidFill>
                <a:latin typeface="Segoe UI"/>
              </a:rPr>
              <a:t>Zalo</a:t>
            </a:r>
            <a:r>
              <a:rPr sz="1050" b="0" dirty="0">
                <a:solidFill>
                  <a:srgbClr val="1E293B"/>
                </a:solidFill>
                <a:latin typeface="Segoe UI"/>
              </a:rPr>
              <a:t> </a:t>
            </a:r>
            <a:r>
              <a:rPr sz="1050" b="0" dirty="0" err="1">
                <a:solidFill>
                  <a:srgbClr val="1E293B"/>
                </a:solidFill>
                <a:latin typeface="Segoe UI"/>
              </a:rPr>
              <a:t>Điều</a:t>
            </a:r>
            <a:r>
              <a:rPr sz="1050" b="0" dirty="0">
                <a:solidFill>
                  <a:srgbClr val="1E293B"/>
                </a:solidFill>
                <a:latin typeface="Segoe UI"/>
              </a:rPr>
              <a:t> </a:t>
            </a:r>
            <a:r>
              <a:rPr sz="1050" b="0" dirty="0" err="1">
                <a:solidFill>
                  <a:srgbClr val="1E293B"/>
                </a:solidFill>
                <a:latin typeface="Segoe UI"/>
              </a:rPr>
              <a:t>hành</a:t>
            </a:r>
            <a:r>
              <a:rPr sz="1050" b="0" dirty="0">
                <a:solidFill>
                  <a:srgbClr val="1E293B"/>
                </a:solidFill>
                <a:latin typeface="Segoe UI"/>
              </a:rPr>
              <a:t> </a:t>
            </a:r>
            <a:r>
              <a:rPr sz="1050" b="0" dirty="0" err="1">
                <a:solidFill>
                  <a:srgbClr val="1E293B"/>
                </a:solidFill>
                <a:latin typeface="Segoe UI"/>
              </a:rPr>
              <a:t>hoặc</a:t>
            </a:r>
            <a:r>
              <a:rPr sz="1050" b="0" dirty="0">
                <a:solidFill>
                  <a:srgbClr val="1E293B"/>
                </a:solidFill>
                <a:latin typeface="Segoe UI"/>
              </a:rPr>
              <a:t> Hotline </a:t>
            </a:r>
            <a:r>
              <a:rPr sz="1050" b="0" dirty="0" err="1">
                <a:solidFill>
                  <a:srgbClr val="1E293B"/>
                </a:solidFill>
                <a:latin typeface="Segoe UI"/>
              </a:rPr>
              <a:t>để</a:t>
            </a:r>
            <a:r>
              <a:rPr sz="1050" b="0" dirty="0">
                <a:solidFill>
                  <a:srgbClr val="1E293B"/>
                </a:solidFill>
                <a:latin typeface="Segoe UI"/>
              </a:rPr>
              <a:t> </a:t>
            </a:r>
            <a:r>
              <a:rPr sz="1050" b="0" dirty="0" err="1">
                <a:solidFill>
                  <a:srgbClr val="1E293B"/>
                </a:solidFill>
                <a:latin typeface="Segoe UI"/>
              </a:rPr>
              <a:t>nhận</a:t>
            </a:r>
            <a:r>
              <a:rPr sz="1050" b="0" dirty="0">
                <a:solidFill>
                  <a:srgbClr val="1E293B"/>
                </a:solidFill>
                <a:latin typeface="Segoe UI"/>
              </a:rPr>
              <a:t> Magic Link </a:t>
            </a:r>
            <a:r>
              <a:rPr sz="1050" b="0" dirty="0" err="1">
                <a:solidFill>
                  <a:srgbClr val="1E293B"/>
                </a:solidFill>
                <a:latin typeface="Segoe UI"/>
              </a:rPr>
              <a:t>đăng</a:t>
            </a:r>
            <a:r>
              <a:rPr sz="1050" b="0" dirty="0">
                <a:solidFill>
                  <a:srgbClr val="1E293B"/>
                </a:solidFill>
                <a:latin typeface="Segoe UI"/>
              </a:rPr>
              <a:t> </a:t>
            </a:r>
            <a:r>
              <a:rPr sz="1050" b="0" dirty="0" err="1">
                <a:solidFill>
                  <a:srgbClr val="1E293B"/>
                </a:solidFill>
                <a:latin typeface="Segoe UI"/>
              </a:rPr>
              <a:t>nhập</a:t>
            </a:r>
            <a:r>
              <a:rPr sz="1050" b="0" dirty="0">
                <a:solidFill>
                  <a:srgbClr val="1E293B"/>
                </a:solidFill>
                <a:latin typeface="Segoe UI"/>
              </a:rPr>
              <a:t> </a:t>
            </a:r>
            <a:r>
              <a:rPr sz="1050" b="0" dirty="0" err="1">
                <a:solidFill>
                  <a:srgbClr val="1E293B"/>
                </a:solidFill>
                <a:latin typeface="Segoe UI"/>
              </a:rPr>
              <a:t>nhanh</a:t>
            </a:r>
            <a:r>
              <a:rPr sz="1050" b="0" dirty="0">
                <a:solidFill>
                  <a:srgbClr val="1E293B"/>
                </a:solidFill>
                <a:latin typeface="Segoe UI"/>
              </a:rPr>
              <a:t> 1-chạm </a:t>
            </a:r>
            <a:r>
              <a:rPr sz="1050" b="0" dirty="0" err="1">
                <a:solidFill>
                  <a:srgbClr val="1E293B"/>
                </a:solidFill>
                <a:latin typeface="Segoe UI"/>
              </a:rPr>
              <a:t>mà</a:t>
            </a:r>
            <a:r>
              <a:rPr sz="1050" b="0" dirty="0">
                <a:solidFill>
                  <a:srgbClr val="1E293B"/>
                </a:solidFill>
                <a:latin typeface="Segoe UI"/>
              </a:rPr>
              <a:t> </a:t>
            </a:r>
            <a:r>
              <a:rPr sz="1050" b="0" dirty="0" err="1">
                <a:solidFill>
                  <a:srgbClr val="1E293B"/>
                </a:solidFill>
                <a:latin typeface="Segoe UI"/>
              </a:rPr>
              <a:t>không</a:t>
            </a:r>
            <a:r>
              <a:rPr sz="1050" b="0" dirty="0">
                <a:solidFill>
                  <a:srgbClr val="1E293B"/>
                </a:solidFill>
                <a:latin typeface="Segoe UI"/>
              </a:rPr>
              <a:t> </a:t>
            </a:r>
            <a:r>
              <a:rPr sz="1050" b="0" dirty="0" err="1">
                <a:solidFill>
                  <a:srgbClr val="1E293B"/>
                </a:solidFill>
                <a:latin typeface="Segoe UI"/>
              </a:rPr>
              <a:t>cần</a:t>
            </a:r>
            <a:r>
              <a:rPr sz="1050" b="0" dirty="0">
                <a:solidFill>
                  <a:srgbClr val="1E293B"/>
                </a:solidFill>
                <a:latin typeface="Segoe UI"/>
              </a:rPr>
              <a:t> </a:t>
            </a:r>
            <a:r>
              <a:rPr sz="1050" b="0" dirty="0" err="1">
                <a:solidFill>
                  <a:srgbClr val="1E293B"/>
                </a:solidFill>
                <a:latin typeface="Segoe UI"/>
              </a:rPr>
              <a:t>gõ</a:t>
            </a:r>
            <a:r>
              <a:rPr sz="1050" b="0" dirty="0">
                <a:solidFill>
                  <a:srgbClr val="1E293B"/>
                </a:solidFill>
                <a:latin typeface="Segoe UI"/>
              </a:rPr>
              <a:t> </a:t>
            </a:r>
            <a:r>
              <a:rPr sz="1050" b="0" dirty="0" err="1">
                <a:solidFill>
                  <a:srgbClr val="1E293B"/>
                </a:solidFill>
                <a:latin typeface="Segoe UI"/>
              </a:rPr>
              <a:t>mật</a:t>
            </a:r>
            <a:r>
              <a:rPr sz="1050" b="0" dirty="0">
                <a:solidFill>
                  <a:srgbClr val="1E293B"/>
                </a:solidFill>
                <a:latin typeface="Segoe UI"/>
              </a:rPr>
              <a:t> </a:t>
            </a:r>
            <a:r>
              <a:rPr sz="1050" b="0" dirty="0" err="1">
                <a:solidFill>
                  <a:srgbClr val="1E293B"/>
                </a:solidFill>
                <a:latin typeface="Segoe UI"/>
              </a:rPr>
              <a:t>khẩu</a:t>
            </a:r>
            <a:r>
              <a:rPr sz="1050" b="0" dirty="0">
                <a:solidFill>
                  <a:srgbClr val="1E293B"/>
                </a:solidFill>
                <a:latin typeface="Segoe UI"/>
              </a:rPr>
              <a:t>.</a:t>
            </a:r>
          </a:p>
        </p:txBody>
      </p:sp>
      <p:sp>
        <p:nvSpPr>
          <p:cNvPr id="11" name="Rounded Rectangle 10"/>
          <p:cNvSpPr/>
          <p:nvPr/>
        </p:nvSpPr>
        <p:spPr>
          <a:xfrm>
            <a:off x="6217920" y="1188720"/>
            <a:ext cx="5394960" cy="5120640"/>
          </a:xfrm>
          <a:prstGeom prst="roundRect">
            <a:avLst/>
          </a:prstGeom>
          <a:solidFill>
            <a:srgbClr val="FEF2F2"/>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353312"/>
            <a:ext cx="4937760" cy="347472"/>
          </a:xfrm>
          <a:prstGeom prst="rect">
            <a:avLst/>
          </a:prstGeom>
          <a:noFill/>
        </p:spPr>
        <p:txBody>
          <a:bodyPr wrap="square" lIns="0" tIns="0" rIns="0" bIns="0">
            <a:spAutoFit/>
          </a:bodyPr>
          <a:lstStyle/>
          <a:p>
            <a:pPr>
              <a:defRPr sz="1200" b="1">
                <a:solidFill>
                  <a:srgbClr val="0F172A"/>
                </a:solidFill>
                <a:latin typeface="Segoe UI"/>
              </a:defRPr>
            </a:pPr>
            <a:r>
              <a:t>Đầu mối Trực Điều hành &amp; Hỗ trợ Kỹ thuật 24/7</a:t>
            </a:r>
          </a:p>
        </p:txBody>
      </p:sp>
      <p:sp>
        <p:nvSpPr>
          <p:cNvPr id="13" name="TextBox 12"/>
          <p:cNvSpPr txBox="1"/>
          <p:nvPr/>
        </p:nvSpPr>
        <p:spPr>
          <a:xfrm>
            <a:off x="6492240" y="1645920"/>
            <a:ext cx="4846320" cy="2139047"/>
          </a:xfrm>
          <a:prstGeom prst="rect">
            <a:avLst/>
          </a:prstGeom>
          <a:noFill/>
        </p:spPr>
        <p:txBody>
          <a:bodyPr wrap="square" lIns="0" tIns="0" rIns="0" bIns="0">
            <a:spAutoFit/>
          </a:bodyPr>
          <a:lstStyle/>
          <a:p>
            <a:pPr>
              <a:spcAft>
                <a:spcPts val="1200"/>
              </a:spcAft>
              <a:defRPr sz="1100" b="1">
                <a:solidFill>
                  <a:srgbClr val="1E293B"/>
                </a:solidFill>
                <a:latin typeface="Segoe UI"/>
              </a:defRPr>
            </a:pPr>
            <a:r>
              <a:rPr dirty="0"/>
              <a:t>• </a:t>
            </a:r>
            <a:r>
              <a:rPr dirty="0" err="1"/>
              <a:t>Cơ</a:t>
            </a:r>
            <a:r>
              <a:rPr dirty="0"/>
              <a:t> </a:t>
            </a:r>
            <a:r>
              <a:rPr dirty="0" err="1"/>
              <a:t>quan</a:t>
            </a:r>
            <a:r>
              <a:rPr dirty="0"/>
              <a:t> Thường </a:t>
            </a:r>
            <a:r>
              <a:rPr dirty="0" err="1"/>
              <a:t>trực</a:t>
            </a:r>
            <a:r>
              <a:rPr dirty="0"/>
              <a:t>: </a:t>
            </a:r>
            <a:r>
              <a:rPr sz="1100" b="0" dirty="0">
                <a:solidFill>
                  <a:srgbClr val="1E293B"/>
                </a:solidFill>
                <a:latin typeface="Segoe UI"/>
              </a:rPr>
              <a:t>Ban </a:t>
            </a:r>
            <a:r>
              <a:rPr sz="1100" b="0" dirty="0" err="1">
                <a:solidFill>
                  <a:srgbClr val="1E293B"/>
                </a:solidFill>
                <a:latin typeface="Segoe UI"/>
              </a:rPr>
              <a:t>Tổ</a:t>
            </a:r>
            <a:r>
              <a:rPr sz="1100" b="0" dirty="0">
                <a:solidFill>
                  <a:srgbClr val="1E293B"/>
                </a:solidFill>
                <a:latin typeface="Segoe UI"/>
              </a:rPr>
              <a:t> </a:t>
            </a:r>
            <a:r>
              <a:rPr sz="1100" b="0" dirty="0" err="1">
                <a:solidFill>
                  <a:srgbClr val="1E293B"/>
                </a:solidFill>
                <a:latin typeface="Segoe UI"/>
              </a:rPr>
              <a:t>chức</a:t>
            </a:r>
            <a:r>
              <a:rPr sz="1100" b="0" dirty="0">
                <a:solidFill>
                  <a:srgbClr val="1E293B"/>
                </a:solidFill>
                <a:latin typeface="Segoe UI"/>
              </a:rPr>
              <a:t> - </a:t>
            </a:r>
            <a:r>
              <a:rPr sz="1100" b="0" dirty="0" err="1">
                <a:solidFill>
                  <a:srgbClr val="1E293B"/>
                </a:solidFill>
                <a:latin typeface="Segoe UI"/>
              </a:rPr>
              <a:t>Kiểm</a:t>
            </a:r>
            <a:r>
              <a:rPr sz="1100" b="0" dirty="0">
                <a:solidFill>
                  <a:srgbClr val="1E293B"/>
                </a:solidFill>
                <a:latin typeface="Segoe UI"/>
              </a:rPr>
              <a:t> </a:t>
            </a:r>
            <a:r>
              <a:rPr sz="1100" b="0" dirty="0" err="1">
                <a:solidFill>
                  <a:srgbClr val="1E293B"/>
                </a:solidFill>
                <a:latin typeface="Segoe UI"/>
              </a:rPr>
              <a:t>tra</a:t>
            </a:r>
            <a:r>
              <a:rPr sz="1100" b="0" dirty="0">
                <a:solidFill>
                  <a:srgbClr val="1E293B"/>
                </a:solidFill>
                <a:latin typeface="Segoe UI"/>
              </a:rPr>
              <a:t> Đoàn Thanh </a:t>
            </a:r>
            <a:r>
              <a:rPr sz="1100" b="0" dirty="0" err="1">
                <a:solidFill>
                  <a:srgbClr val="1E293B"/>
                </a:solidFill>
                <a:latin typeface="Segoe UI"/>
              </a:rPr>
              <a:t>niên</a:t>
            </a:r>
            <a:r>
              <a:rPr sz="1100" b="0" dirty="0">
                <a:solidFill>
                  <a:srgbClr val="1E293B"/>
                </a:solidFill>
                <a:latin typeface="Segoe UI"/>
              </a:rPr>
              <a:t> </a:t>
            </a:r>
            <a:r>
              <a:rPr sz="1100" b="0" dirty="0" err="1">
                <a:solidFill>
                  <a:srgbClr val="1E293B"/>
                </a:solidFill>
                <a:latin typeface="Segoe UI"/>
              </a:rPr>
              <a:t>Đại</a:t>
            </a:r>
            <a:r>
              <a:rPr sz="1100" b="0" dirty="0">
                <a:solidFill>
                  <a:srgbClr val="1E293B"/>
                </a:solidFill>
                <a:latin typeface="Segoe UI"/>
              </a:rPr>
              <a:t> </a:t>
            </a:r>
            <a:r>
              <a:rPr sz="1100" b="0" dirty="0" err="1">
                <a:solidFill>
                  <a:srgbClr val="1E293B"/>
                </a:solidFill>
                <a:latin typeface="Segoe UI"/>
              </a:rPr>
              <a:t>học</a:t>
            </a:r>
            <a:r>
              <a:rPr sz="1100" b="0" dirty="0">
                <a:solidFill>
                  <a:srgbClr val="1E293B"/>
                </a:solidFill>
                <a:latin typeface="Segoe UI"/>
              </a:rPr>
              <a:t> Bách khoa Hà </a:t>
            </a:r>
            <a:r>
              <a:rPr sz="1100" b="0" dirty="0" err="1">
                <a:solidFill>
                  <a:srgbClr val="1E293B"/>
                </a:solidFill>
                <a:latin typeface="Segoe UI"/>
              </a:rPr>
              <a:t>Nội</a:t>
            </a:r>
            <a:r>
              <a:rPr sz="1100" b="0" dirty="0">
                <a:solidFill>
                  <a:srgbClr val="1E293B"/>
                </a:solidFill>
                <a:latin typeface="Segoe UI"/>
              </a:rPr>
              <a:t>.</a:t>
            </a:r>
          </a:p>
          <a:p>
            <a:pPr>
              <a:spcAft>
                <a:spcPts val="1200"/>
              </a:spcAft>
              <a:defRPr sz="1100" b="1">
                <a:solidFill>
                  <a:srgbClr val="1E293B"/>
                </a:solidFill>
                <a:latin typeface="Segoe UI"/>
              </a:defRPr>
            </a:pPr>
            <a:r>
              <a:rPr dirty="0"/>
              <a:t>• Hotline </a:t>
            </a:r>
            <a:r>
              <a:rPr dirty="0" err="1"/>
              <a:t>Kỹ</a:t>
            </a:r>
            <a:r>
              <a:rPr dirty="0"/>
              <a:t> </a:t>
            </a:r>
            <a:r>
              <a:rPr dirty="0" err="1"/>
              <a:t>thuật</a:t>
            </a:r>
            <a:r>
              <a:rPr dirty="0"/>
              <a:t> </a:t>
            </a:r>
            <a:r>
              <a:rPr dirty="0" err="1"/>
              <a:t>Hệ</a:t>
            </a:r>
            <a:r>
              <a:rPr dirty="0"/>
              <a:t> </a:t>
            </a:r>
            <a:r>
              <a:rPr dirty="0" err="1"/>
              <a:t>thống</a:t>
            </a:r>
            <a:r>
              <a:rPr dirty="0"/>
              <a:t>: </a:t>
            </a:r>
            <a:r>
              <a:rPr sz="1100" b="0" dirty="0">
                <a:solidFill>
                  <a:srgbClr val="1E293B"/>
                </a:solidFill>
                <a:latin typeface="Segoe UI"/>
              </a:rPr>
              <a:t>Đ/c Kiều Minh Anh — SĐT: 0366.329.799 (</a:t>
            </a:r>
            <a:r>
              <a:rPr sz="1100" b="0" dirty="0" err="1">
                <a:solidFill>
                  <a:srgbClr val="1E293B"/>
                </a:solidFill>
                <a:latin typeface="Segoe UI"/>
              </a:rPr>
              <a:t>Hỗ</a:t>
            </a:r>
            <a:r>
              <a:rPr sz="1100" b="0" dirty="0">
                <a:solidFill>
                  <a:srgbClr val="1E293B"/>
                </a:solidFill>
                <a:latin typeface="Segoe UI"/>
              </a:rPr>
              <a:t> </a:t>
            </a:r>
            <a:r>
              <a:rPr sz="1100" b="0" dirty="0" err="1">
                <a:solidFill>
                  <a:srgbClr val="1E293B"/>
                </a:solidFill>
                <a:latin typeface="Segoe UI"/>
              </a:rPr>
              <a:t>trợ</a:t>
            </a:r>
            <a:r>
              <a:rPr sz="1100" b="0" dirty="0">
                <a:solidFill>
                  <a:srgbClr val="1E293B"/>
                </a:solidFill>
                <a:latin typeface="Segoe UI"/>
              </a:rPr>
              <a:t> 24/7 </a:t>
            </a:r>
            <a:r>
              <a:rPr sz="1100" b="0" dirty="0" err="1">
                <a:solidFill>
                  <a:srgbClr val="1E293B"/>
                </a:solidFill>
                <a:latin typeface="Segoe UI"/>
              </a:rPr>
              <a:t>trong</a:t>
            </a:r>
            <a:r>
              <a:rPr sz="1100" b="0" dirty="0">
                <a:solidFill>
                  <a:srgbClr val="1E293B"/>
                </a:solidFill>
                <a:latin typeface="Segoe UI"/>
              </a:rPr>
              <a:t> </a:t>
            </a:r>
            <a:r>
              <a:rPr sz="1100" b="0" dirty="0" err="1">
                <a:solidFill>
                  <a:srgbClr val="1E293B"/>
                </a:solidFill>
                <a:latin typeface="Segoe UI"/>
              </a:rPr>
              <a:t>suốt</a:t>
            </a:r>
            <a:r>
              <a:rPr sz="1100" b="0" dirty="0">
                <a:solidFill>
                  <a:srgbClr val="1E293B"/>
                </a:solidFill>
                <a:latin typeface="Segoe UI"/>
              </a:rPr>
              <a:t> </a:t>
            </a:r>
            <a:r>
              <a:rPr sz="1100" b="0" dirty="0" err="1">
                <a:solidFill>
                  <a:srgbClr val="1E293B"/>
                </a:solidFill>
                <a:latin typeface="Segoe UI"/>
              </a:rPr>
              <a:t>các</a:t>
            </a:r>
            <a:r>
              <a:rPr sz="1100" b="0" dirty="0">
                <a:solidFill>
                  <a:srgbClr val="1E293B"/>
                </a:solidFill>
                <a:latin typeface="Segoe UI"/>
              </a:rPr>
              <a:t> </a:t>
            </a:r>
            <a:r>
              <a:rPr sz="1100" b="0" dirty="0" err="1">
                <a:solidFill>
                  <a:srgbClr val="1E293B"/>
                </a:solidFill>
                <a:latin typeface="Segoe UI"/>
              </a:rPr>
              <a:t>kíp</a:t>
            </a:r>
            <a:r>
              <a:rPr sz="1100" b="0" dirty="0">
                <a:solidFill>
                  <a:srgbClr val="1E293B"/>
                </a:solidFill>
                <a:latin typeface="Segoe UI"/>
              </a:rPr>
              <a:t> </a:t>
            </a:r>
            <a:r>
              <a:rPr sz="1100" b="0" dirty="0" err="1">
                <a:solidFill>
                  <a:srgbClr val="1E293B"/>
                </a:solidFill>
                <a:latin typeface="Segoe UI"/>
              </a:rPr>
              <a:t>đại</a:t>
            </a:r>
            <a:r>
              <a:rPr sz="1100" b="0" dirty="0">
                <a:solidFill>
                  <a:srgbClr val="1E293B"/>
                </a:solidFill>
                <a:latin typeface="Segoe UI"/>
              </a:rPr>
              <a:t> </a:t>
            </a:r>
            <a:r>
              <a:rPr sz="1100" b="0" dirty="0" err="1">
                <a:solidFill>
                  <a:srgbClr val="1E293B"/>
                </a:solidFill>
                <a:latin typeface="Segoe UI"/>
              </a:rPr>
              <a:t>hội</a:t>
            </a:r>
            <a:r>
              <a:rPr sz="1100" b="0" dirty="0">
                <a:solidFill>
                  <a:srgbClr val="1E293B"/>
                </a:solidFill>
                <a:latin typeface="Segoe UI"/>
              </a:rPr>
              <a:t>).</a:t>
            </a:r>
          </a:p>
          <a:p>
            <a:pPr>
              <a:spcAft>
                <a:spcPts val="1200"/>
              </a:spcAft>
              <a:defRPr sz="1100" b="1">
                <a:solidFill>
                  <a:srgbClr val="1E293B"/>
                </a:solidFill>
                <a:latin typeface="Segoe UI"/>
              </a:defRPr>
            </a:pPr>
            <a:r>
              <a:rPr dirty="0"/>
              <a:t>• </a:t>
            </a:r>
            <a:r>
              <a:rPr dirty="0" err="1"/>
              <a:t>Kênh</a:t>
            </a:r>
            <a:r>
              <a:rPr dirty="0"/>
              <a:t> </a:t>
            </a:r>
            <a:r>
              <a:rPr dirty="0" err="1"/>
              <a:t>Điều</a:t>
            </a:r>
            <a:r>
              <a:rPr dirty="0"/>
              <a:t> </a:t>
            </a:r>
            <a:r>
              <a:rPr dirty="0" err="1"/>
              <a:t>hành</a:t>
            </a:r>
            <a:r>
              <a:rPr dirty="0"/>
              <a:t> </a:t>
            </a:r>
            <a:r>
              <a:rPr dirty="0" err="1"/>
              <a:t>Trực</a:t>
            </a:r>
            <a:r>
              <a:rPr dirty="0"/>
              <a:t> </a:t>
            </a:r>
            <a:r>
              <a:rPr dirty="0" err="1"/>
              <a:t>tuyến</a:t>
            </a:r>
            <a:r>
              <a:rPr dirty="0"/>
              <a:t>: </a:t>
            </a:r>
            <a:r>
              <a:rPr sz="1100" b="0" dirty="0" err="1">
                <a:solidFill>
                  <a:srgbClr val="1E293B"/>
                </a:solidFill>
                <a:latin typeface="Segoe UI"/>
              </a:rPr>
              <a:t>Nhóm</a:t>
            </a:r>
            <a:r>
              <a:rPr sz="1100" b="0" dirty="0">
                <a:solidFill>
                  <a:srgbClr val="1E293B"/>
                </a:solidFill>
                <a:latin typeface="Segoe UI"/>
              </a:rPr>
              <a:t> </a:t>
            </a:r>
            <a:r>
              <a:rPr sz="1100" b="0" dirty="0" err="1">
                <a:solidFill>
                  <a:srgbClr val="1E293B"/>
                </a:solidFill>
                <a:latin typeface="Segoe UI"/>
              </a:rPr>
              <a:t>Zalo</a:t>
            </a:r>
            <a:r>
              <a:rPr sz="1100" b="0" dirty="0">
                <a:solidFill>
                  <a:srgbClr val="1E293B"/>
                </a:solidFill>
                <a:latin typeface="Segoe UI"/>
              </a:rPr>
              <a:t>: '</a:t>
            </a:r>
            <a:r>
              <a:rPr sz="1100" b="0" dirty="0" err="1">
                <a:solidFill>
                  <a:srgbClr val="1E293B"/>
                </a:solidFill>
                <a:latin typeface="Segoe UI"/>
              </a:rPr>
              <a:t>Điều</a:t>
            </a:r>
            <a:r>
              <a:rPr sz="1100" b="0" dirty="0">
                <a:solidFill>
                  <a:srgbClr val="1E293B"/>
                </a:solidFill>
                <a:latin typeface="Segoe UI"/>
              </a:rPr>
              <a:t> </a:t>
            </a:r>
            <a:r>
              <a:rPr sz="1100" b="0" dirty="0" err="1">
                <a:solidFill>
                  <a:srgbClr val="1E293B"/>
                </a:solidFill>
                <a:latin typeface="Segoe UI"/>
              </a:rPr>
              <a:t>hành</a:t>
            </a:r>
            <a:r>
              <a:rPr sz="1100" b="0" dirty="0">
                <a:solidFill>
                  <a:srgbClr val="1E293B"/>
                </a:solidFill>
                <a:latin typeface="Segoe UI"/>
              </a:rPr>
              <a:t> </a:t>
            </a:r>
            <a:r>
              <a:rPr sz="1100" b="0" dirty="0" err="1">
                <a:solidFill>
                  <a:srgbClr val="1E293B"/>
                </a:solidFill>
                <a:latin typeface="Segoe UI"/>
              </a:rPr>
              <a:t>Đại</a:t>
            </a:r>
            <a:r>
              <a:rPr sz="1100" b="0" dirty="0">
                <a:solidFill>
                  <a:srgbClr val="1E293B"/>
                </a:solidFill>
                <a:latin typeface="Segoe UI"/>
              </a:rPr>
              <a:t> </a:t>
            </a:r>
            <a:r>
              <a:rPr sz="1100" b="0" dirty="0" err="1">
                <a:solidFill>
                  <a:srgbClr val="1E293B"/>
                </a:solidFill>
                <a:latin typeface="Segoe UI"/>
              </a:rPr>
              <a:t>hội</a:t>
            </a:r>
            <a:r>
              <a:rPr sz="1100" b="0" dirty="0">
                <a:solidFill>
                  <a:srgbClr val="1E293B"/>
                </a:solidFill>
                <a:latin typeface="Segoe UI"/>
              </a:rPr>
              <a:t> Chi </a:t>
            </a:r>
            <a:r>
              <a:rPr sz="1100" b="0" dirty="0" err="1">
                <a:solidFill>
                  <a:srgbClr val="1E293B"/>
                </a:solidFill>
                <a:latin typeface="Segoe UI"/>
              </a:rPr>
              <a:t>đoàn</a:t>
            </a:r>
            <a:r>
              <a:rPr sz="1100" b="0" dirty="0">
                <a:solidFill>
                  <a:srgbClr val="1E293B"/>
                </a:solidFill>
                <a:latin typeface="Segoe UI"/>
              </a:rPr>
              <a:t> ĐHBK Hà </a:t>
            </a:r>
            <a:r>
              <a:rPr sz="1100" b="0" dirty="0" err="1">
                <a:solidFill>
                  <a:srgbClr val="1E293B"/>
                </a:solidFill>
                <a:latin typeface="Segoe UI"/>
              </a:rPr>
              <a:t>Nội</a:t>
            </a:r>
            <a:r>
              <a:rPr sz="1100" b="0" dirty="0">
                <a:solidFill>
                  <a:srgbClr val="1E293B"/>
                </a:solidFill>
                <a:latin typeface="Segoe UI"/>
              </a:rPr>
              <a:t> 2026'.</a:t>
            </a:r>
          </a:p>
          <a:p>
            <a:pPr>
              <a:spcAft>
                <a:spcPts val="1200"/>
              </a:spcAft>
              <a:defRPr sz="1100" b="1">
                <a:solidFill>
                  <a:srgbClr val="1E293B"/>
                </a:solidFill>
                <a:latin typeface="Segoe UI"/>
              </a:defRPr>
            </a:pPr>
            <a:r>
              <a:rPr dirty="0"/>
              <a:t>• </a:t>
            </a:r>
            <a:r>
              <a:rPr dirty="0" err="1"/>
              <a:t>Cổng</a:t>
            </a:r>
            <a:r>
              <a:rPr dirty="0"/>
              <a:t> </a:t>
            </a:r>
            <a:r>
              <a:rPr dirty="0" err="1"/>
              <a:t>thông</a:t>
            </a:r>
            <a:r>
              <a:rPr dirty="0"/>
              <a:t> tin </a:t>
            </a:r>
            <a:r>
              <a:rPr dirty="0" err="1"/>
              <a:t>Trực</a:t>
            </a:r>
            <a:r>
              <a:rPr dirty="0"/>
              <a:t> </a:t>
            </a:r>
            <a:r>
              <a:rPr dirty="0" err="1"/>
              <a:t>tuyến</a:t>
            </a:r>
            <a:r>
              <a:rPr dirty="0"/>
              <a:t>: </a:t>
            </a:r>
            <a:r>
              <a:rPr sz="1100" b="0" dirty="0">
                <a:solidFill>
                  <a:srgbClr val="1E293B"/>
                </a:solidFill>
                <a:latin typeface="Segoe UI"/>
              </a:rPr>
              <a:t>https://event-tracker-pied.vercel.app/</a:t>
            </a:r>
          </a:p>
          <a:p>
            <a:pPr>
              <a:spcAft>
                <a:spcPts val="1200"/>
              </a:spcAft>
              <a:defRPr sz="1100" b="1">
                <a:solidFill>
                  <a:srgbClr val="1E293B"/>
                </a:solidFill>
                <a:latin typeface="Segoe UI"/>
              </a:defRPr>
            </a:pPr>
            <a:r>
              <a:rPr dirty="0"/>
              <a:t>• </a:t>
            </a:r>
            <a:r>
              <a:rPr dirty="0" err="1"/>
              <a:t>Lời</a:t>
            </a:r>
            <a:r>
              <a:rPr dirty="0"/>
              <a:t> </a:t>
            </a:r>
            <a:r>
              <a:rPr dirty="0" err="1"/>
              <a:t>chúc</a:t>
            </a:r>
            <a:r>
              <a:rPr dirty="0"/>
              <a:t> </a:t>
            </a:r>
            <a:r>
              <a:rPr dirty="0" err="1"/>
              <a:t>Đại</a:t>
            </a:r>
            <a:r>
              <a:rPr dirty="0"/>
              <a:t> </a:t>
            </a:r>
            <a:r>
              <a:rPr dirty="0" err="1"/>
              <a:t>hội</a:t>
            </a:r>
            <a:r>
              <a:rPr dirty="0"/>
              <a:t>: </a:t>
            </a:r>
            <a:r>
              <a:rPr sz="1100" b="0" dirty="0">
                <a:solidFill>
                  <a:srgbClr val="1E293B"/>
                </a:solidFill>
                <a:latin typeface="Segoe UI"/>
              </a:rPr>
              <a:t>CHÚC CÁC CHI ĐOÀN TỔ CHỨC ĐẠI HỘI THÀNH CÔNG RỰC RỠ, CHUẨN MỰC VÀ ĐÚNG ĐIỀU LỆ ĐOÀN!</a:t>
            </a:r>
          </a:p>
        </p:txBody>
      </p:sp>
      <p:pic>
        <p:nvPicPr>
          <p:cNvPr id="14" name="Picture 13" descr="transparent_logo.png"/>
          <p:cNvPicPr>
            <a:picLocks noChangeAspect="1"/>
          </p:cNvPicPr>
          <p:nvPr/>
        </p:nvPicPr>
        <p:blipFill>
          <a:blip r:embed="rId2"/>
          <a:stretch>
            <a:fillRect/>
          </a:stretch>
        </p:blipFill>
        <p:spPr>
          <a:xfrm>
            <a:off x="9875520" y="4663440"/>
            <a:ext cx="1371600" cy="1371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6409</Words>
  <Application>Microsoft Office PowerPoint</Application>
  <PresentationFormat>Widescreen</PresentationFormat>
  <Paragraphs>271</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Bách Việt</cp:lastModifiedBy>
  <cp:revision>3</cp:revision>
  <dcterms:created xsi:type="dcterms:W3CDTF">2013-01-27T09:14:16Z</dcterms:created>
  <dcterms:modified xsi:type="dcterms:W3CDTF">2026-10-15T13:45:59Z</dcterms:modified>
  <cp:category/>
</cp:coreProperties>
</file>